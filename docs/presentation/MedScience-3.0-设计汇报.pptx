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篇" id="{acb74e37-9c4e-7c4f-c908-bac3683bfd3d}">
          <p14:sldIdLst>
            <p14:sldId id="256"/>
          </p14:sldIdLst>
        </p14:section>
        <p14:section name="为什么" id="{b1d40a9f-efc3-837c-6c94-e791f2897bfb}">
          <p14:sldIdLst>
            <p14:sldId id="257"/>
            <p14:sldId id="258"/>
          </p14:sldIdLst>
        </p14:section>
        <p14:section name="怎么设计" id="{51d15244-e086-9867-c2ec-c2686594f1a6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怎么用" id="{028fb603-29a9-7cd6-c483-2ce86833ef5c}">
          <p14:sldIdLst>
            <p14:sldId id="265"/>
          </p14:sldIdLst>
        </p14:section>
        <p14:section name="下一步" id="{00ddf30f-863a-08a1-7a12-cb7de6a2ec62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开场一句话：MedScience 是一个面向生物医学研究的科研智能体系统，不是通用聊天助手。3.0 的重点不是让 AI 说得更多，而是让它的结论站得住：有证据、能撤回、可信度说得清，并且数据留在本机。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这一页给出全貌：问题是什么、我们怎么做、做到哪一步。后面按“为什么、怎么设计、怎么用、下一步”的顺序展开，共 11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左列是四个痛点，中间是同类方案通常怎么做，右列是我们的回应。前三个对应 3.0 新增的证据治理设计，第四个对应本地运行时。同类方案只引用公开资料，不评价其未公开能力。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这一页同时回答“有哪几类设计”和“它们在系统里的位置”。A 类证据治理是 3.0 新增的一层（绿色框），属于智能体的推理架构；B 类是协作层，即科研小队的组织方式；C 类是运行与部署，包括使用入口、执行层和本机数据层，在 2.x 已具备。右侧防护钩子贯穿每一次工具调用。需要强调：这些都是智能体系统层面的设计，没有训练或修改大模型本身。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上排是一次科研提问的完整路径，每一步下面的小字是这一步产生的数据。绿色四步由 3.0 新增的证据治理层完成。下方是回路：科研结论的依据会被新研究推翻，比如药品因新的安全性试验撤市。证据在账本里被标记后，依赖它的结论在同一操作里自动转为“有争议”，原因写入哈希链，可以审计；恢复证据不会自动恢复结论，需要重新论证。后面两页用伏塞洛托和 Makena 两个真实案例说明。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 3.0 的核心。证据和结论有六种状态，只能沿箭头迁移：新证据先是候选，通过准入门禁才算已验证，否则隔离。准入门禁检查的是来源能否追溯、是否过期、数值是否在物理范围内、是否含未授权的患者数据、是否已被撤稿，不评价研究质量本身。关键是依赖级联，用伏塞洛托举例：2019 年它凭 HOPE 试验中血红蛋白升高获得加速批准，账本里有两条已验证结论，A“可用于治疗镰状细胞病”依据批准和 HOPE 试验，B“能提高血红蛋白”只依据 HOPE。2024 年上市后数据显示血管闭塞危象和死亡增多，药品全球撤市，审查人把“批准”证据标为已撤销，A 自动转为有争议；B 不依赖批准，保持不变，因为血红蛋白确实升高了。这正是替代指标改善不等于临床获益的典型例子。这个例子已写成自动化测试，文献编号经 PubMed 核实。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第二个案例换一个角度：不是药品撤市，而是证据之间互相矛盾。17-羟孕酮己酸酯（Makena）在 2003 年的 Meis 试验中显示能降低复发性早产风险，2011 年据此获得加速批准。确证性试验 PROLONG 在 2019 到 2020 年发表，没有重复出这个效果，FDA 在 2023 年撤销批准。在账本里，PROLONG 作为反证录入后，结论 A 转为“有争议”，但 Meis 试验并没有被删除，两项试验的分歧被如实保留，系统不替人裁决。2023 年批准撤销，新结论 A′“确证试验未见效果”通过验证后取代 A，A 的完整历史仍可查。这个例子同样写成了自动化测试。需要说明：反证录入和结论取代目前通过接口完成，界面上的入口还没有做。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左边是信息增益取证。先用类比：医生分辨流感和感冒，量体温没用，因为两种病都发烧；流感抗原检测结果差别大，所以先做。信息增益就是给每项查询“能把两种可能分开多少”打分。例子是“GLP-1 受体激动剂可用于减重”，起点五五开。看表格：查靶点序列，假设成立时 95% 能查到，不成立时也有 80%，差别很小，相当于量体温；查强活性药物，成立时 60%、不成立时只有 10%，差别最大，所以先查。实际过程：查到司美格鲁肽对 GLP-1 受体亲和力 0.38 纳摩尔，支持概率从 0.50 升到 0.86；再查到三期试验 STEP 1，升到 0.95，分歧度从 1.0 降到 0.28。技术上，分歧度是当前判断的熵除以最大熵，信息增益是查询前的熵减去查询后平均剩余的熵，单位是比特；概率表目前是人工设定的先验，正式实验前要用标注数据估计，所以第一步的增益与具体药物无关。右边是共形三分判定：用一批已知结果的历史假设校准，结论以“可能成立的结果集合”给出，集合里只有一个答案才下结论；两个都可能就是证据不足。校准后错误率有统计保证，没校准时系统会明确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左边是多智能体协作：队长拆解任务，成员并行，交接时每条发现都要附证据编号，再过质量门，最后成文。内置 26 位专家、15 个团队模板。右边是本地运行时：很多团队已经买了 ChatGPT（Codex）或 Claude 的订阅，MedScience 可以直接调用本机已登录的命令行工具，沿用现有额度，不需要 API 密钥。注意除 Codex 和 Claude Code 外其他工具是通用接入，并请确认订阅条款允许这样使用。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四步即可：安装、配置运行时、提问、查看证据。左图是运行时自动检测到本机的 Claude Code；中间是用 @ 点名专家，以及智能体调用工具的记录；右图是证据账本，每条证据的状态、来源和完整历史都能查到。截图都来自真实运行的 3.0 应用。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是进展和请求。设计已全部落地并发布，可以下载试用；尚待验证的是有效性。最需要的支持是领域专家标注一批真实假设，用于校准和评测，然后做同等预算的对照实验，结果稳定后发布正式版并整理论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83080"/>
            <a:ext cx="1005840" cy="82296"/>
          </a:xfrm>
          <a:prstGeom prst="rect">
            <a:avLst/>
          </a:prstGeom>
          <a:solidFill>
            <a:srgbClr val="0E8A7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8"/>
          </a:solidFill>
          <a:ln/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548640" y="329184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MedScience 3.0 · 设计汇报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1031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MedScience 3.0</a:t>
            </a:r>
            <a:endParaRPr lang="en-US" sz="48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32918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面向生物医学研究的科研智能体系统 · 设计汇报</a:t>
            </a:r>
            <a:endParaRPr lang="en-US" sz="22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5B6B7C"/>
                </a:solidFill>
              </a:rPr>
              <a:t>让每一个科研结论都有据可查、可以撤回、说得清可信度</a:t>
            </a:r>
            <a:endParaRPr lang="en-US" sz="2200" dirty="0"/>
          </a:p>
        </p:txBody>
      </p:sp>
      <p:sp>
        <p:nvSpPr>
          <p:cNvPr id="4" name="label-1"/>
          <p:cNvSpPr txBox="1"/>
          <p:nvPr/>
        </p:nvSpPr>
        <p:spPr>
          <a:xfrm>
            <a:off x="54864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2026 年 10 月  ·  版本 v3.0.0（预发布）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一页概要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一句话：面向生物医学研究——让科研结论有证据、能撤回、说得清可信度，科研数据不出本机。</a:t>
            </a:r>
            <a:endParaRPr lang="en-US" sz="1500" dirty="0"/>
          </a:p>
        </p:txBody>
      </p:sp>
      <p:sp>
        <p:nvSpPr>
          <p:cNvPr id="4" name="card-2"/>
          <p:cNvSpPr/>
          <p:nvPr/>
        </p:nvSpPr>
        <p:spPr>
          <a:xfrm>
            <a:off x="548640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3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4"/>
          <p:cNvSpPr txBox="1"/>
          <p:nvPr/>
        </p:nvSpPr>
        <p:spPr>
          <a:xfrm>
            <a:off x="1325880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要解决的问题</a:t>
            </a:r>
            <a:endParaRPr lang="en-US" sz="1800" dirty="0"/>
          </a:p>
        </p:txBody>
      </p:sp>
      <p:sp>
        <p:nvSpPr>
          <p:cNvPr id="7" name="label-5"/>
          <p:cNvSpPr txBox="1"/>
          <p:nvPr/>
        </p:nvSpPr>
        <p:spPr>
          <a:xfrm>
            <a:off x="822960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能很快给出科研结论，但依据哪些文献和数据、依据被新研究推翻后怎么办、可信度多高，往往说不清。</a:t>
            </a:r>
            <a:endParaRPr lang="en-US" sz="1500" dirty="0"/>
          </a:p>
        </p:txBody>
      </p:sp>
      <p:sp>
        <p:nvSpPr>
          <p:cNvPr id="8" name="card-6"/>
          <p:cNvSpPr/>
          <p:nvPr/>
        </p:nvSpPr>
        <p:spPr>
          <a:xfrm>
            <a:off x="4338218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7"/>
          <p:cNvSpPr/>
          <p:nvPr/>
        </p:nvSpPr>
        <p:spPr>
          <a:xfrm>
            <a:off x="4612538" y="18745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label-8"/>
          <p:cNvSpPr txBox="1"/>
          <p:nvPr/>
        </p:nvSpPr>
        <p:spPr>
          <a:xfrm>
            <a:off x="5115458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我们的做法</a:t>
            </a:r>
            <a:endParaRPr lang="en-US" sz="1800" dirty="0"/>
          </a:p>
        </p:txBody>
      </p:sp>
      <p:sp>
        <p:nvSpPr>
          <p:cNvPr id="11" name="label-9"/>
          <p:cNvSpPr txBox="1"/>
          <p:nvPr/>
        </p:nvSpPr>
        <p:spPr>
          <a:xfrm>
            <a:off x="4612538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三类设计：证据治理（结论必须挂靠已验证的文献与数据库证据）、多智能体协作（像课题组一样分工、审查把关）、本地运行（科研与临床数据留在本机）。</a:t>
            </a:r>
            <a:endParaRPr lang="en-US" sz="1500" dirty="0"/>
          </a:p>
        </p:txBody>
      </p:sp>
      <p:sp>
        <p:nvSpPr>
          <p:cNvPr id="12" name="card-10"/>
          <p:cNvSpPr/>
          <p:nvPr/>
        </p:nvSpPr>
        <p:spPr>
          <a:xfrm>
            <a:off x="8127797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adge-11"/>
          <p:cNvSpPr/>
          <p:nvPr/>
        </p:nvSpPr>
        <p:spPr>
          <a:xfrm>
            <a:off x="8402117" y="187452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label-12"/>
          <p:cNvSpPr txBox="1"/>
          <p:nvPr/>
        </p:nvSpPr>
        <p:spPr>
          <a:xfrm>
            <a:off x="8905037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当前进展</a:t>
            </a:r>
            <a:endParaRPr lang="en-US" sz="1800" dirty="0"/>
          </a:p>
        </p:txBody>
      </p:sp>
      <p:sp>
        <p:nvSpPr>
          <p:cNvPr id="15" name="label-13"/>
          <p:cNvSpPr txBox="1"/>
          <p:nvPr/>
        </p:nvSpPr>
        <p:spPr>
          <a:xfrm>
            <a:off x="8402117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v3.0.0 已发布：macOS、Windows、Linux 安装包和本地 Web 版，自动化测试在三个平台通过。真实任务上的对照实验尚待开展。</a:t>
            </a:r>
            <a:endParaRPr lang="en-US" sz="1500" dirty="0"/>
          </a:p>
        </p:txBody>
      </p:sp>
      <p:sp>
        <p:nvSpPr>
          <p:cNvPr id="16" name="label-14"/>
          <p:cNvSpPr txBox="1"/>
          <p:nvPr/>
        </p:nvSpPr>
        <p:spPr>
          <a:xfrm>
            <a:off x="548640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3 类</a:t>
            </a:r>
            <a:endParaRPr lang="en-US" sz="3400" dirty="0"/>
          </a:p>
        </p:txBody>
      </p:sp>
      <p:sp>
        <p:nvSpPr>
          <p:cNvPr id="17" name="label-15"/>
          <p:cNvSpPr txBox="1"/>
          <p:nvPr/>
        </p:nvSpPr>
        <p:spPr>
          <a:xfrm>
            <a:off x="548640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系统设计</a:t>
            </a:r>
            <a:endParaRPr lang="en-US" sz="1300" dirty="0"/>
          </a:p>
        </p:txBody>
      </p:sp>
      <p:sp>
        <p:nvSpPr>
          <p:cNvPr id="18" name="label-16"/>
          <p:cNvSpPr txBox="1"/>
          <p:nvPr/>
        </p:nvSpPr>
        <p:spPr>
          <a:xfrm>
            <a:off x="3322244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26 位</a:t>
            </a:r>
            <a:endParaRPr lang="en-US" sz="3400" dirty="0"/>
          </a:p>
        </p:txBody>
      </p:sp>
      <p:sp>
        <p:nvSpPr>
          <p:cNvPr id="19" name="label-17"/>
          <p:cNvSpPr txBox="1"/>
          <p:nvPr/>
        </p:nvSpPr>
        <p:spPr>
          <a:xfrm>
            <a:off x="3322244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科研领域专家角色</a:t>
            </a:r>
            <a:endParaRPr lang="en-US" sz="1300" dirty="0"/>
          </a:p>
        </p:txBody>
      </p:sp>
      <p:sp>
        <p:nvSpPr>
          <p:cNvPr id="20" name="label-18"/>
          <p:cNvSpPr txBox="1"/>
          <p:nvPr/>
        </p:nvSpPr>
        <p:spPr>
          <a:xfrm>
            <a:off x="6095848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26 种</a:t>
            </a:r>
            <a:endParaRPr lang="en-US" sz="3400" dirty="0"/>
          </a:p>
        </p:txBody>
      </p:sp>
      <p:sp>
        <p:nvSpPr>
          <p:cNvPr id="21" name="label-19"/>
          <p:cNvSpPr txBox="1"/>
          <p:nvPr/>
        </p:nvSpPr>
        <p:spPr>
          <a:xfrm>
            <a:off x="6095848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本地 AI 命令行工具可接入</a:t>
            </a:r>
            <a:endParaRPr lang="en-US" sz="1300" dirty="0"/>
          </a:p>
        </p:txBody>
      </p:sp>
      <p:sp>
        <p:nvSpPr>
          <p:cNvPr id="22" name="label-20"/>
          <p:cNvSpPr txBox="1"/>
          <p:nvPr/>
        </p:nvSpPr>
        <p:spPr>
          <a:xfrm>
            <a:off x="8869451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4 种</a:t>
            </a:r>
            <a:endParaRPr lang="en-US" sz="3400" dirty="0"/>
          </a:p>
        </p:txBody>
      </p:sp>
      <p:sp>
        <p:nvSpPr>
          <p:cNvPr id="23" name="label-21"/>
          <p:cNvSpPr txBox="1"/>
          <p:nvPr/>
        </p:nvSpPr>
        <p:spPr>
          <a:xfrm>
            <a:off x="8869451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使用方式（三平台 + Web）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问题与定位：科研场景的四个痛点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同类科研智能体各有所长；MedScience 的差异在于“结论治理”与“本地可用”。</a:t>
            </a:r>
            <a:endParaRPr lang="en-US" sz="1500" dirty="0"/>
          </a:p>
        </p:txBody>
      </p:sp>
      <p:graphicFrame>
        <p:nvGraphicFramePr>
          <p:cNvPr id="4" name="table-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383280"/>
                <a:gridCol w="387065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痛点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同类方案的常见做法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MedScience 的回应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结论难追溯，错误会固化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依据的试验或数据被新研究推翻，结论仍被反复引用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检索后生成带引用的报告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（如 OpenAI Deep Research）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证据账本：证据持久保存；依据失效，相关结论自动降级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专家意见分歧时，下一步查什么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多轮辩论易互相附和，且耗算力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多智能体生成、辩论、排序假设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（如 Google AI co-scientist）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信息增益取证：把分歧变成“下一步最该查什么”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假设成立与否，可信度说不清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“80% 可信”从何而来，无法核验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自动打分或排名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（分数本身缺少统计口径）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共形三分判定：支持 / 反驳 / 不确定，各有统计含义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数据与成本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临床数据不应出本机；已有订阅仍要另付 API 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以云端服务为主，按 API 调用计费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本地运行：数据留本机，复用已订阅的 AI 命令行工具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label-23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注：同类方案仅依据其公开发布的资料概括，不推断未公开的内部能力。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总体架构：三类设计落在五层结构中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均为科研智能体系统层面的架构设计，不修改基础大模型；底层模型可以随时替换。</a:t>
            </a:r>
            <a:endParaRPr lang="en-US" sz="1500" dirty="0"/>
          </a:p>
        </p:txBody>
      </p:sp>
      <p:sp>
        <p:nvSpPr>
          <p:cNvPr id="4" name="tag-24"/>
          <p:cNvSpPr/>
          <p:nvPr/>
        </p:nvSpPr>
        <p:spPr>
          <a:xfrm>
            <a:off x="548640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</a:t>
            </a:r>
            <a:endParaRPr lang="en-US" sz="1500" dirty="0"/>
          </a:p>
        </p:txBody>
      </p:sp>
      <p:sp>
        <p:nvSpPr>
          <p:cNvPr id="5" name="label-25"/>
          <p:cNvSpPr txBox="1"/>
          <p:nvPr/>
        </p:nvSpPr>
        <p:spPr>
          <a:xfrm>
            <a:off x="1051560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证据治理设计</a:t>
            </a:r>
            <a:endParaRPr lang="en-US" sz="1400" dirty="0"/>
          </a:p>
        </p:txBody>
      </p:sp>
      <p:sp>
        <p:nvSpPr>
          <p:cNvPr id="6" name="label-26"/>
          <p:cNvSpPr txBox="1"/>
          <p:nvPr/>
        </p:nvSpPr>
        <p:spPr>
          <a:xfrm>
            <a:off x="1051560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管“结论凭什么成立”（3.0 新增）</a:t>
            </a:r>
            <a:endParaRPr lang="en-US" sz="1150" dirty="0"/>
          </a:p>
        </p:txBody>
      </p:sp>
      <p:sp>
        <p:nvSpPr>
          <p:cNvPr id="7" name="tag-27"/>
          <p:cNvSpPr/>
          <p:nvPr/>
        </p:nvSpPr>
        <p:spPr>
          <a:xfrm>
            <a:off x="4246778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</a:t>
            </a:r>
            <a:endParaRPr lang="en-US" sz="1500" dirty="0"/>
          </a:p>
        </p:txBody>
      </p:sp>
      <p:sp>
        <p:nvSpPr>
          <p:cNvPr id="8" name="label-28"/>
          <p:cNvSpPr txBox="1"/>
          <p:nvPr/>
        </p:nvSpPr>
        <p:spPr>
          <a:xfrm>
            <a:off x="4749698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多智能体协作设计</a:t>
            </a:r>
            <a:endParaRPr lang="en-US" sz="1400" dirty="0"/>
          </a:p>
        </p:txBody>
      </p:sp>
      <p:sp>
        <p:nvSpPr>
          <p:cNvPr id="9" name="label-29"/>
          <p:cNvSpPr txBox="1"/>
          <p:nvPr/>
        </p:nvSpPr>
        <p:spPr>
          <a:xfrm>
            <a:off x="4749698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管“谁来做、谁把关”</a:t>
            </a:r>
            <a:endParaRPr lang="en-US" sz="1150" dirty="0"/>
          </a:p>
        </p:txBody>
      </p:sp>
      <p:sp>
        <p:nvSpPr>
          <p:cNvPr id="10" name="tag-30"/>
          <p:cNvSpPr/>
          <p:nvPr/>
        </p:nvSpPr>
        <p:spPr>
          <a:xfrm>
            <a:off x="7944917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</a:t>
            </a:r>
            <a:endParaRPr lang="en-US" sz="1500" dirty="0"/>
          </a:p>
        </p:txBody>
      </p:sp>
      <p:sp>
        <p:nvSpPr>
          <p:cNvPr id="11" name="label-31"/>
          <p:cNvSpPr txBox="1"/>
          <p:nvPr/>
        </p:nvSpPr>
        <p:spPr>
          <a:xfrm>
            <a:off x="8447837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运行时与部署设计</a:t>
            </a:r>
            <a:endParaRPr lang="en-US" sz="1400" dirty="0"/>
          </a:p>
        </p:txBody>
      </p:sp>
      <p:sp>
        <p:nvSpPr>
          <p:cNvPr id="12" name="label-32"/>
          <p:cNvSpPr txBox="1"/>
          <p:nvPr/>
        </p:nvSpPr>
        <p:spPr>
          <a:xfrm>
            <a:off x="8447837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管“在哪里跑、用谁的额度”</a:t>
            </a:r>
            <a:endParaRPr lang="en-US" sz="1150" dirty="0"/>
          </a:p>
        </p:txBody>
      </p:sp>
      <p:sp>
        <p:nvSpPr>
          <p:cNvPr id="13" name="box-33"/>
          <p:cNvSpPr/>
          <p:nvPr/>
        </p:nvSpPr>
        <p:spPr>
          <a:xfrm>
            <a:off x="548640" y="224028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使用入口</a:t>
            </a:r>
            <a:endParaRPr lang="en-US" sz="1400" dirty="0"/>
          </a:p>
        </p:txBody>
      </p:sp>
      <p:sp>
        <p:nvSpPr>
          <p:cNvPr id="14" name="layer-34"/>
          <p:cNvSpPr/>
          <p:nvPr/>
        </p:nvSpPr>
        <p:spPr>
          <a:xfrm>
            <a:off x="2286000" y="224028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15" name="box-35"/>
          <p:cNvSpPr/>
          <p:nvPr/>
        </p:nvSpPr>
        <p:spPr>
          <a:xfrm>
            <a:off x="2423160" y="2350008"/>
            <a:ext cx="361188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桌面端（macOS / Windows / Linux）</a:t>
            </a:r>
            <a:endParaRPr lang="en-US" sz="1250" dirty="0"/>
          </a:p>
        </p:txBody>
      </p:sp>
      <p:sp>
        <p:nvSpPr>
          <p:cNvPr id="16" name="box-36"/>
          <p:cNvSpPr/>
          <p:nvPr/>
        </p:nvSpPr>
        <p:spPr>
          <a:xfrm>
            <a:off x="6172200" y="2350008"/>
            <a:ext cx="361188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本地 Web（仅本机可访问）</a:t>
            </a:r>
            <a:endParaRPr lang="en-US" sz="1250" dirty="0"/>
          </a:p>
        </p:txBody>
      </p:sp>
      <p:sp>
        <p:nvSpPr>
          <p:cNvPr id="17" name="box-37"/>
          <p:cNvSpPr/>
          <p:nvPr/>
        </p:nvSpPr>
        <p:spPr>
          <a:xfrm>
            <a:off x="548640" y="301752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 · 协作层</a:t>
            </a:r>
            <a:endParaRPr lang="en-US" sz="1400" dirty="0"/>
          </a:p>
        </p:txBody>
      </p:sp>
      <p:sp>
        <p:nvSpPr>
          <p:cNvPr id="18" name="layer-38"/>
          <p:cNvSpPr/>
          <p:nvPr/>
        </p:nvSpPr>
        <p:spPr>
          <a:xfrm>
            <a:off x="2286000" y="301752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19" name="box-39"/>
          <p:cNvSpPr/>
          <p:nvPr/>
        </p:nvSpPr>
        <p:spPr>
          <a:xfrm>
            <a:off x="242316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队长规划</a:t>
            </a:r>
            <a:endParaRPr lang="en-US" sz="1250" dirty="0"/>
          </a:p>
        </p:txBody>
      </p:sp>
      <p:sp>
        <p:nvSpPr>
          <p:cNvPr id="20" name="box-40"/>
          <p:cNvSpPr/>
          <p:nvPr/>
        </p:nvSpPr>
        <p:spPr>
          <a:xfrm>
            <a:off x="429768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成员并行执行</a:t>
            </a:r>
            <a:endParaRPr lang="en-US" sz="1250" dirty="0"/>
          </a:p>
        </p:txBody>
      </p:sp>
      <p:sp>
        <p:nvSpPr>
          <p:cNvPr id="21" name="box-41"/>
          <p:cNvSpPr/>
          <p:nvPr/>
        </p:nvSpPr>
        <p:spPr>
          <a:xfrm>
            <a:off x="617220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审查员质量门</a:t>
            </a:r>
            <a:endParaRPr lang="en-US" sz="1250" dirty="0"/>
          </a:p>
        </p:txBody>
      </p:sp>
      <p:sp>
        <p:nvSpPr>
          <p:cNvPr id="22" name="box-42"/>
          <p:cNvSpPr/>
          <p:nvPr/>
        </p:nvSpPr>
        <p:spPr>
          <a:xfrm>
            <a:off x="804672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写作专家综合</a:t>
            </a:r>
            <a:endParaRPr lang="en-US" sz="1250" dirty="0"/>
          </a:p>
        </p:txBody>
      </p:sp>
      <p:sp>
        <p:nvSpPr>
          <p:cNvPr id="23" name="box-43"/>
          <p:cNvSpPr/>
          <p:nvPr/>
        </p:nvSpPr>
        <p:spPr>
          <a:xfrm>
            <a:off x="548640" y="379476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 · 证据治理层</a:t>
            </a:r>
            <a:endParaRPr lang="en-US" sz="1400" dirty="0"/>
          </a:p>
        </p:txBody>
      </p:sp>
      <p:sp>
        <p:nvSpPr>
          <p:cNvPr id="24" name="layer-44"/>
          <p:cNvSpPr/>
          <p:nvPr/>
        </p:nvSpPr>
        <p:spPr>
          <a:xfrm>
            <a:off x="2286000" y="379476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E3F3F1"/>
          </a:solidFill>
          <a:ln w="19050">
            <a:solidFill>
              <a:srgbClr val="0E8A7E"/>
            </a:solidFill>
            <a:prstDash val="solid"/>
          </a:ln>
        </p:spPr>
      </p:sp>
      <p:sp>
        <p:nvSpPr>
          <p:cNvPr id="25" name="box-45"/>
          <p:cNvSpPr/>
          <p:nvPr/>
        </p:nvSpPr>
        <p:spPr>
          <a:xfrm>
            <a:off x="2423160" y="390448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信息增益取证</a:t>
            </a:r>
            <a:endParaRPr lang="en-US" sz="1250" dirty="0"/>
          </a:p>
        </p:txBody>
      </p:sp>
      <p:sp>
        <p:nvSpPr>
          <p:cNvPr id="26" name="box-46"/>
          <p:cNvSpPr/>
          <p:nvPr/>
        </p:nvSpPr>
        <p:spPr>
          <a:xfrm>
            <a:off x="4297680" y="390448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共形三分判定</a:t>
            </a:r>
            <a:endParaRPr lang="en-US" sz="1250" dirty="0"/>
          </a:p>
        </p:txBody>
      </p:sp>
      <p:sp>
        <p:nvSpPr>
          <p:cNvPr id="27" name="box-47"/>
          <p:cNvSpPr/>
          <p:nvPr/>
        </p:nvSpPr>
        <p:spPr>
          <a:xfrm>
            <a:off x="6172200" y="390448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准入门禁</a:t>
            </a:r>
            <a:endParaRPr lang="en-US" sz="1250" dirty="0"/>
          </a:p>
        </p:txBody>
      </p:sp>
      <p:sp>
        <p:nvSpPr>
          <p:cNvPr id="28" name="box-48"/>
          <p:cNvSpPr/>
          <p:nvPr/>
        </p:nvSpPr>
        <p:spPr>
          <a:xfrm>
            <a:off x="8046720" y="390448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证据账本</a:t>
            </a:r>
            <a:endParaRPr lang="en-US" sz="1250" dirty="0"/>
          </a:p>
        </p:txBody>
      </p:sp>
      <p:sp>
        <p:nvSpPr>
          <p:cNvPr id="29" name="box-49"/>
          <p:cNvSpPr/>
          <p:nvPr/>
        </p:nvSpPr>
        <p:spPr>
          <a:xfrm>
            <a:off x="548640" y="457200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执行层</a:t>
            </a:r>
            <a:endParaRPr lang="en-US" sz="1400" dirty="0"/>
          </a:p>
        </p:txBody>
      </p:sp>
      <p:sp>
        <p:nvSpPr>
          <p:cNvPr id="30" name="layer-50"/>
          <p:cNvSpPr/>
          <p:nvPr/>
        </p:nvSpPr>
        <p:spPr>
          <a:xfrm>
            <a:off x="2286000" y="457200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31" name="box-51"/>
          <p:cNvSpPr/>
          <p:nvPr/>
        </p:nvSpPr>
        <p:spPr>
          <a:xfrm>
            <a:off x="242316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模型 API</a:t>
            </a:r>
            <a:endParaRPr lang="en-US" sz="1250" dirty="0"/>
          </a:p>
        </p:txBody>
      </p:sp>
      <p:sp>
        <p:nvSpPr>
          <p:cNvPr id="32" name="box-52"/>
          <p:cNvSpPr/>
          <p:nvPr/>
        </p:nvSpPr>
        <p:spPr>
          <a:xfrm>
            <a:off x="429768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本地 CLI 运行时</a:t>
            </a:r>
            <a:endParaRPr lang="en-US" sz="1250" dirty="0"/>
          </a:p>
        </p:txBody>
      </p:sp>
      <p:sp>
        <p:nvSpPr>
          <p:cNvPr id="33" name="box-53"/>
          <p:cNvSpPr/>
          <p:nvPr/>
        </p:nvSpPr>
        <p:spPr>
          <a:xfrm>
            <a:off x="617220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科研数据库连接器</a:t>
            </a:r>
            <a:endParaRPr lang="en-US" sz="1250" dirty="0"/>
          </a:p>
        </p:txBody>
      </p:sp>
      <p:sp>
        <p:nvSpPr>
          <p:cNvPr id="34" name="box-54"/>
          <p:cNvSpPr/>
          <p:nvPr/>
        </p:nvSpPr>
        <p:spPr>
          <a:xfrm>
            <a:off x="804672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内核级沙盒</a:t>
            </a:r>
            <a:endParaRPr lang="en-US" sz="1250" dirty="0"/>
          </a:p>
        </p:txBody>
      </p:sp>
      <p:sp>
        <p:nvSpPr>
          <p:cNvPr id="35" name="box-55"/>
          <p:cNvSpPr/>
          <p:nvPr/>
        </p:nvSpPr>
        <p:spPr>
          <a:xfrm>
            <a:off x="548640" y="534924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数据层</a:t>
            </a:r>
            <a:endParaRPr lang="en-US" sz="1400" dirty="0"/>
          </a:p>
        </p:txBody>
      </p:sp>
      <p:sp>
        <p:nvSpPr>
          <p:cNvPr id="36" name="layer-56"/>
          <p:cNvSpPr/>
          <p:nvPr/>
        </p:nvSpPr>
        <p:spPr>
          <a:xfrm>
            <a:off x="2286000" y="534924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37" name="box-57"/>
          <p:cNvSpPr/>
          <p:nvPr/>
        </p:nvSpPr>
        <p:spPr>
          <a:xfrm>
            <a:off x="2423160" y="5458968"/>
            <a:ext cx="736092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本机 ~/.medscience：会话 · 证据账本 · 加密密钥库 · 配置</a:t>
            </a:r>
            <a:endParaRPr lang="en-US" sz="1250" dirty="0"/>
          </a:p>
        </p:txBody>
      </p:sp>
      <p:sp>
        <p:nvSpPr>
          <p:cNvPr id="38" name="hooks-58"/>
          <p:cNvSpPr/>
          <p:nvPr/>
        </p:nvSpPr>
        <p:spPr>
          <a:xfrm>
            <a:off x="10104120" y="2240280"/>
            <a:ext cx="1538935" cy="3767328"/>
          </a:xfrm>
          <a:prstGeom prst="roundRect">
            <a:avLst>
              <a:gd name="adj" fmla="val 47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9" name="label-59"/>
          <p:cNvSpPr txBox="1"/>
          <p:nvPr/>
        </p:nvSpPr>
        <p:spPr>
          <a:xfrm>
            <a:off x="10195560" y="2377440"/>
            <a:ext cx="1356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防护钩子</a:t>
            </a:r>
            <a:endParaRPr lang="en-US" sz="1500" dirty="0"/>
          </a:p>
        </p:txBody>
      </p:sp>
      <p:sp>
        <p:nvSpPr>
          <p:cNvPr id="40" name="label-60"/>
          <p:cNvSpPr txBox="1"/>
          <p:nvPr/>
        </p:nvSpPr>
        <p:spPr>
          <a:xfrm>
            <a:off x="10195560" y="2715768"/>
            <a:ext cx="1356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9C7D6"/>
                </a:solidFill>
              </a:rPr>
              <a:t>贯穿每次工具调用</a:t>
            </a:r>
            <a:endParaRPr lang="en-US" sz="1050" dirty="0"/>
          </a:p>
        </p:txBody>
      </p:sp>
      <p:sp>
        <p:nvSpPr>
          <p:cNvPr id="41" name="box-61"/>
          <p:cNvSpPr/>
          <p:nvPr/>
        </p:nvSpPr>
        <p:spPr>
          <a:xfrm>
            <a:off x="10268712" y="3108960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密钥脱敏</a:t>
            </a:r>
            <a:endParaRPr lang="en-US" sz="1200" dirty="0"/>
          </a:p>
        </p:txBody>
      </p:sp>
      <p:sp>
        <p:nvSpPr>
          <p:cNvPr id="42" name="box-62"/>
          <p:cNvSpPr/>
          <p:nvPr/>
        </p:nvSpPr>
        <p:spPr>
          <a:xfrm>
            <a:off x="10268712" y="3767328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临床数据门</a:t>
            </a:r>
            <a:endParaRPr lang="en-US" sz="1200" dirty="0"/>
          </a:p>
        </p:txBody>
      </p:sp>
      <p:sp>
        <p:nvSpPr>
          <p:cNvPr id="43" name="box-63"/>
          <p:cNvSpPr/>
          <p:nvPr/>
        </p:nvSpPr>
        <p:spPr>
          <a:xfrm>
            <a:off x="10268712" y="4425696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证据数值核验</a:t>
            </a:r>
            <a:endParaRPr lang="en-US" sz="1200" dirty="0"/>
          </a:p>
        </p:txBody>
      </p:sp>
      <p:sp>
        <p:nvSpPr>
          <p:cNvPr id="44" name="box-64"/>
          <p:cNvSpPr/>
          <p:nvPr/>
        </p:nvSpPr>
        <p:spPr>
          <a:xfrm>
            <a:off x="10268712" y="5084064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引用完整性检查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一次科研提问的数据流转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每一步都留下记录；依据被新研究推翻时，结论会被“追回”。</a:t>
            </a:r>
            <a:endParaRPr lang="en-US" sz="1500" dirty="0"/>
          </a:p>
        </p:txBody>
      </p:sp>
      <p:sp>
        <p:nvSpPr>
          <p:cNvPr id="4" name="badge-65"/>
          <p:cNvSpPr/>
          <p:nvPr/>
        </p:nvSpPr>
        <p:spPr>
          <a:xfrm>
            <a:off x="988295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box-66"/>
          <p:cNvSpPr/>
          <p:nvPr/>
        </p:nvSpPr>
        <p:spPr>
          <a:xfrm>
            <a:off x="548640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提问</a:t>
            </a:r>
            <a:endParaRPr lang="en-US" sz="1350" dirty="0"/>
          </a:p>
        </p:txBody>
      </p:sp>
      <p:sp>
        <p:nvSpPr>
          <p:cNvPr id="6" name="label-67"/>
          <p:cNvSpPr txBox="1"/>
          <p:nvPr/>
        </p:nvSpPr>
        <p:spPr>
          <a:xfrm>
            <a:off x="502920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研究问题</a:t>
            </a:r>
            <a:endParaRPr lang="en-US" sz="1150" dirty="0"/>
          </a:p>
        </p:txBody>
      </p:sp>
      <p:sp>
        <p:nvSpPr>
          <p:cNvPr id="7" name="arrow-68"/>
          <p:cNvSpPr/>
          <p:nvPr/>
        </p:nvSpPr>
        <p:spPr>
          <a:xfrm>
            <a:off x="1793710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8" name="badge-69"/>
          <p:cNvSpPr/>
          <p:nvPr/>
        </p:nvSpPr>
        <p:spPr>
          <a:xfrm>
            <a:off x="2397957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box-70"/>
          <p:cNvSpPr/>
          <p:nvPr/>
        </p:nvSpPr>
        <p:spPr>
          <a:xfrm>
            <a:off x="1958302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规划分工</a:t>
            </a:r>
            <a:endParaRPr lang="en-US" sz="1350" dirty="0"/>
          </a:p>
        </p:txBody>
      </p:sp>
      <p:sp>
        <p:nvSpPr>
          <p:cNvPr id="10" name="label-71"/>
          <p:cNvSpPr txBox="1"/>
          <p:nvPr/>
        </p:nvSpPr>
        <p:spPr>
          <a:xfrm>
            <a:off x="1912582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任务清单</a:t>
            </a:r>
            <a:endParaRPr lang="en-US" sz="1150" dirty="0"/>
          </a:p>
        </p:txBody>
      </p:sp>
      <p:sp>
        <p:nvSpPr>
          <p:cNvPr id="11" name="arrow-72"/>
          <p:cNvSpPr/>
          <p:nvPr/>
        </p:nvSpPr>
        <p:spPr>
          <a:xfrm>
            <a:off x="3203372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2" name="badge-73"/>
          <p:cNvSpPr/>
          <p:nvPr/>
        </p:nvSpPr>
        <p:spPr>
          <a:xfrm>
            <a:off x="3807619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box-74"/>
          <p:cNvSpPr/>
          <p:nvPr/>
        </p:nvSpPr>
        <p:spPr>
          <a:xfrm>
            <a:off x="3367964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按收益取证</a:t>
            </a:r>
            <a:endParaRPr lang="en-US" sz="1350" dirty="0"/>
          </a:p>
        </p:txBody>
      </p:sp>
      <p:sp>
        <p:nvSpPr>
          <p:cNvPr id="14" name="label-75"/>
          <p:cNvSpPr txBox="1"/>
          <p:nvPr/>
        </p:nvSpPr>
        <p:spPr>
          <a:xfrm>
            <a:off x="3322244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工具结果</a:t>
            </a:r>
            <a:endParaRPr lang="en-US" sz="1150" dirty="0"/>
          </a:p>
        </p:txBody>
      </p:sp>
      <p:sp>
        <p:nvSpPr>
          <p:cNvPr id="15" name="arrow-76"/>
          <p:cNvSpPr/>
          <p:nvPr/>
        </p:nvSpPr>
        <p:spPr>
          <a:xfrm>
            <a:off x="4613034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badge-77"/>
          <p:cNvSpPr/>
          <p:nvPr/>
        </p:nvSpPr>
        <p:spPr>
          <a:xfrm>
            <a:off x="5217281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box-78"/>
          <p:cNvSpPr/>
          <p:nvPr/>
        </p:nvSpPr>
        <p:spPr>
          <a:xfrm>
            <a:off x="4777626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数值核验</a:t>
            </a:r>
            <a:endParaRPr lang="en-US" sz="1350" dirty="0"/>
          </a:p>
        </p:txBody>
      </p:sp>
      <p:sp>
        <p:nvSpPr>
          <p:cNvPr id="18" name="label-79"/>
          <p:cNvSpPr txBox="1"/>
          <p:nvPr/>
        </p:nvSpPr>
        <p:spPr>
          <a:xfrm>
            <a:off x="4731906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会话证据 EV-n</a:t>
            </a:r>
            <a:endParaRPr lang="en-US" sz="1150" dirty="0"/>
          </a:p>
        </p:txBody>
      </p:sp>
      <p:sp>
        <p:nvSpPr>
          <p:cNvPr id="19" name="arrow-80"/>
          <p:cNvSpPr/>
          <p:nvPr/>
        </p:nvSpPr>
        <p:spPr>
          <a:xfrm>
            <a:off x="6022696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0" name="badge-81"/>
          <p:cNvSpPr/>
          <p:nvPr/>
        </p:nvSpPr>
        <p:spPr>
          <a:xfrm>
            <a:off x="6626943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1" name="box-82"/>
          <p:cNvSpPr/>
          <p:nvPr/>
        </p:nvSpPr>
        <p:spPr>
          <a:xfrm>
            <a:off x="6187288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准入门禁</a:t>
            </a:r>
            <a:endParaRPr lang="en-US" sz="1350" dirty="0"/>
          </a:p>
        </p:txBody>
      </p:sp>
      <p:sp>
        <p:nvSpPr>
          <p:cNvPr id="22" name="label-83"/>
          <p:cNvSpPr txBox="1"/>
          <p:nvPr/>
        </p:nvSpPr>
        <p:spPr>
          <a:xfrm>
            <a:off x="6141568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候选证据</a:t>
            </a:r>
            <a:endParaRPr lang="en-US" sz="1150" dirty="0"/>
          </a:p>
        </p:txBody>
      </p:sp>
      <p:sp>
        <p:nvSpPr>
          <p:cNvPr id="23" name="arrow-84"/>
          <p:cNvSpPr/>
          <p:nvPr/>
        </p:nvSpPr>
        <p:spPr>
          <a:xfrm>
            <a:off x="7432357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4" name="badge-85"/>
          <p:cNvSpPr/>
          <p:nvPr/>
        </p:nvSpPr>
        <p:spPr>
          <a:xfrm>
            <a:off x="8036604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5" name="box-86"/>
          <p:cNvSpPr/>
          <p:nvPr/>
        </p:nvSpPr>
        <p:spPr>
          <a:xfrm>
            <a:off x="7596950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证据账本</a:t>
            </a:r>
            <a:endParaRPr lang="en-US" sz="1350" dirty="0"/>
          </a:p>
        </p:txBody>
      </p:sp>
      <p:sp>
        <p:nvSpPr>
          <p:cNvPr id="26" name="label-87"/>
          <p:cNvSpPr txBox="1"/>
          <p:nvPr/>
        </p:nvSpPr>
        <p:spPr>
          <a:xfrm>
            <a:off x="7551230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已验证 / 已隔离</a:t>
            </a:r>
            <a:endParaRPr lang="en-US" sz="1150" dirty="0"/>
          </a:p>
        </p:txBody>
      </p:sp>
      <p:sp>
        <p:nvSpPr>
          <p:cNvPr id="27" name="arrow-88"/>
          <p:cNvSpPr/>
          <p:nvPr/>
        </p:nvSpPr>
        <p:spPr>
          <a:xfrm>
            <a:off x="8842019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8" name="badge-89"/>
          <p:cNvSpPr/>
          <p:nvPr/>
        </p:nvSpPr>
        <p:spPr>
          <a:xfrm>
            <a:off x="9446266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29" name="box-90"/>
          <p:cNvSpPr/>
          <p:nvPr/>
        </p:nvSpPr>
        <p:spPr>
          <a:xfrm>
            <a:off x="9006611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共形判定</a:t>
            </a:r>
            <a:endParaRPr lang="en-US" sz="1350" dirty="0"/>
          </a:p>
        </p:txBody>
      </p:sp>
      <p:sp>
        <p:nvSpPr>
          <p:cNvPr id="30" name="label-91"/>
          <p:cNvSpPr txBox="1"/>
          <p:nvPr/>
        </p:nvSpPr>
        <p:spPr>
          <a:xfrm>
            <a:off x="8960891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预测集</a:t>
            </a:r>
            <a:endParaRPr lang="en-US" sz="1150" dirty="0"/>
          </a:p>
        </p:txBody>
      </p:sp>
      <p:sp>
        <p:nvSpPr>
          <p:cNvPr id="31" name="arrow-92"/>
          <p:cNvSpPr/>
          <p:nvPr/>
        </p:nvSpPr>
        <p:spPr>
          <a:xfrm>
            <a:off x="10251681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2" name="badge-93"/>
          <p:cNvSpPr/>
          <p:nvPr/>
        </p:nvSpPr>
        <p:spPr>
          <a:xfrm>
            <a:off x="10855928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33" name="box-94"/>
          <p:cNvSpPr/>
          <p:nvPr/>
        </p:nvSpPr>
        <p:spPr>
          <a:xfrm>
            <a:off x="10416273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输出结论</a:t>
            </a:r>
            <a:endParaRPr lang="en-US" sz="1350" dirty="0"/>
          </a:p>
        </p:txBody>
      </p:sp>
      <p:sp>
        <p:nvSpPr>
          <p:cNvPr id="34" name="label-95"/>
          <p:cNvSpPr txBox="1"/>
          <p:nvPr/>
        </p:nvSpPr>
        <p:spPr>
          <a:xfrm>
            <a:off x="10370553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结论 + 证据编号</a:t>
            </a:r>
            <a:endParaRPr lang="en-US" sz="1150" dirty="0"/>
          </a:p>
        </p:txBody>
      </p:sp>
      <p:sp>
        <p:nvSpPr>
          <p:cNvPr id="35" name="legend-96"/>
          <p:cNvSpPr/>
          <p:nvPr/>
        </p:nvSpPr>
        <p:spPr>
          <a:xfrm>
            <a:off x="548640" y="3566160"/>
            <a:ext cx="274320" cy="182880"/>
          </a:xfrm>
          <a:prstGeom prst="roundRect">
            <a:avLst>
              <a:gd name="adj" fmla="val 15000"/>
            </a:avLst>
          </a:prstGeom>
          <a:solidFill>
            <a:srgbClr val="E3F3F1"/>
          </a:solidFill>
          <a:ln w="12700">
            <a:solidFill>
              <a:srgbClr val="0E8A7E"/>
            </a:solidFill>
            <a:prstDash val="solid"/>
          </a:ln>
        </p:spPr>
      </p:sp>
      <p:sp>
        <p:nvSpPr>
          <p:cNvPr id="36" name="label-97"/>
          <p:cNvSpPr txBox="1"/>
          <p:nvPr/>
        </p:nvSpPr>
        <p:spPr>
          <a:xfrm>
            <a:off x="91440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绿色：由证据治理层（A 类，3.0 新增）完成的步骤</a:t>
            </a:r>
            <a:endParaRPr lang="en-US" sz="1150" dirty="0"/>
          </a:p>
        </p:txBody>
      </p:sp>
      <p:sp>
        <p:nvSpPr>
          <p:cNvPr id="37" name="card-98"/>
          <p:cNvSpPr/>
          <p:nvPr/>
        </p:nvSpPr>
        <p:spPr>
          <a:xfrm>
            <a:off x="548640" y="4160520"/>
            <a:ext cx="11094415" cy="1965960"/>
          </a:xfrm>
          <a:prstGeom prst="roundRect">
            <a:avLst>
              <a:gd name="adj" fmla="val 4651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38" name="label-99"/>
          <p:cNvSpPr txBox="1"/>
          <p:nvPr/>
        </p:nvSpPr>
        <p:spPr>
          <a:xfrm>
            <a:off x="82296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依据被推翻时的回路</a:t>
            </a:r>
            <a:endParaRPr lang="en-US" sz="1500" dirty="0"/>
          </a:p>
        </p:txBody>
      </p:sp>
      <p:sp>
        <p:nvSpPr>
          <p:cNvPr id="39" name="box-100"/>
          <p:cNvSpPr/>
          <p:nvPr/>
        </p:nvSpPr>
        <p:spPr>
          <a:xfrm>
            <a:off x="822960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新研究推翻依据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（如药品撤市、新试验结果）</a:t>
            </a:r>
            <a:endParaRPr lang="en-US" sz="1300" dirty="0"/>
          </a:p>
        </p:txBody>
      </p:sp>
      <p:sp>
        <p:nvSpPr>
          <p:cNvPr id="40" name="arrow-101"/>
          <p:cNvSpPr/>
          <p:nvPr/>
        </p:nvSpPr>
        <p:spPr>
          <a:xfrm>
            <a:off x="3178226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1" name="box-102"/>
          <p:cNvSpPr/>
          <p:nvPr/>
        </p:nvSpPr>
        <p:spPr>
          <a:xfrm>
            <a:off x="3562274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在账本中标记该证据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（审查人标注 / 自动扫描）</a:t>
            </a:r>
            <a:endParaRPr lang="en-US" sz="1300" dirty="0"/>
          </a:p>
        </p:txBody>
      </p:sp>
      <p:sp>
        <p:nvSpPr>
          <p:cNvPr id="42" name="arrow-103"/>
          <p:cNvSpPr/>
          <p:nvPr/>
        </p:nvSpPr>
        <p:spPr>
          <a:xfrm>
            <a:off x="5917540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3" name="box-104"/>
          <p:cNvSpPr/>
          <p:nvPr/>
        </p:nvSpPr>
        <p:spPr>
          <a:xfrm>
            <a:off x="6301588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依赖它的结论：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自动转为“有争议”</a:t>
            </a:r>
            <a:endParaRPr lang="en-US" sz="1300" dirty="0"/>
          </a:p>
        </p:txBody>
      </p:sp>
      <p:sp>
        <p:nvSpPr>
          <p:cNvPr id="44" name="arrow-105"/>
          <p:cNvSpPr/>
          <p:nvPr/>
        </p:nvSpPr>
        <p:spPr>
          <a:xfrm>
            <a:off x="8656853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5" name="box-106"/>
          <p:cNvSpPr/>
          <p:nvPr/>
        </p:nvSpPr>
        <p:spPr>
          <a:xfrm>
            <a:off x="9040901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提示复核：重新论证，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或以新结论取代</a:t>
            </a:r>
            <a:endParaRPr lang="en-US" sz="1300" dirty="0"/>
          </a:p>
        </p:txBody>
      </p:sp>
      <p:sp>
        <p:nvSpPr>
          <p:cNvPr id="46" name="label-107"/>
          <p:cNvSpPr txBox="1"/>
          <p:nvPr/>
        </p:nvSpPr>
        <p:spPr>
          <a:xfrm>
            <a:off x="822960" y="576072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例：2024 年伏塞洛托（Oxbryta）因上市后数据显示死亡增多而撤市 → “批准”证据被撤销 → “可用于治疗镰状细胞病”的结论自动降级。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核心设计：证据账本——结论必须有据可查、可以撤回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 类设计点 ①：每条证据经准入门禁才算数；依据被推翻，结论自动降级。</a:t>
            </a:r>
            <a:endParaRPr lang="en-US" sz="1500" dirty="0"/>
          </a:p>
        </p:txBody>
      </p:sp>
      <p:sp>
        <p:nvSpPr>
          <p:cNvPr id="4" name="box-108"/>
          <p:cNvSpPr/>
          <p:nvPr/>
        </p:nvSpPr>
        <p:spPr>
          <a:xfrm>
            <a:off x="54864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5B6B7C"/>
          </a:solidFill>
          <a:ln w="6350">
            <a:solidFill>
              <a:srgbClr val="5B6B7C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候选</a:t>
            </a:r>
            <a:endParaRPr lang="en-US" sz="1500" dirty="0"/>
          </a:p>
        </p:txBody>
      </p:sp>
      <p:sp>
        <p:nvSpPr>
          <p:cNvPr id="5" name="box-109"/>
          <p:cNvSpPr/>
          <p:nvPr/>
        </p:nvSpPr>
        <p:spPr>
          <a:xfrm>
            <a:off x="278892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0E8A7E"/>
          </a:solidFill>
          <a:ln w="635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已验证</a:t>
            </a:r>
            <a:endParaRPr lang="en-US" sz="1500" dirty="0"/>
          </a:p>
        </p:txBody>
      </p:sp>
      <p:sp>
        <p:nvSpPr>
          <p:cNvPr id="6" name="box-110"/>
          <p:cNvSpPr/>
          <p:nvPr/>
        </p:nvSpPr>
        <p:spPr>
          <a:xfrm>
            <a:off x="4892040" y="16002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C9792A"/>
          </a:solidFill>
          <a:ln w="635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有争议</a:t>
            </a:r>
            <a:endParaRPr lang="en-US" sz="1500" dirty="0"/>
          </a:p>
        </p:txBody>
      </p:sp>
      <p:sp>
        <p:nvSpPr>
          <p:cNvPr id="7" name="label-111"/>
          <p:cNvSpPr txBox="1"/>
          <p:nvPr/>
        </p:nvSpPr>
        <p:spPr>
          <a:xfrm>
            <a:off x="6400800" y="160020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被反驳</a:t>
            </a:r>
            <a:endParaRPr lang="en-US" sz="1100" dirty="0"/>
          </a:p>
        </p:txBody>
      </p:sp>
      <p:sp>
        <p:nvSpPr>
          <p:cNvPr id="8" name="box-112"/>
          <p:cNvSpPr/>
          <p:nvPr/>
        </p:nvSpPr>
        <p:spPr>
          <a:xfrm>
            <a:off x="4892040" y="23317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1F5F99"/>
          </a:solidFill>
          <a:ln w="6350">
            <a:solidFill>
              <a:srgbClr val="1F5F99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已取代</a:t>
            </a:r>
            <a:endParaRPr lang="en-US" sz="1500" dirty="0"/>
          </a:p>
        </p:txBody>
      </p:sp>
      <p:sp>
        <p:nvSpPr>
          <p:cNvPr id="9" name="label-113"/>
          <p:cNvSpPr txBox="1"/>
          <p:nvPr/>
        </p:nvSpPr>
        <p:spPr>
          <a:xfrm>
            <a:off x="6400800" y="233172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被取代</a:t>
            </a:r>
            <a:endParaRPr lang="en-US" sz="1100" dirty="0"/>
          </a:p>
        </p:txBody>
      </p:sp>
      <p:sp>
        <p:nvSpPr>
          <p:cNvPr id="10" name="box-114"/>
          <p:cNvSpPr/>
          <p:nvPr/>
        </p:nvSpPr>
        <p:spPr>
          <a:xfrm>
            <a:off x="4892040" y="306324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B4233A"/>
          </a:solidFill>
          <a:ln w="6350">
            <a:solidFill>
              <a:srgbClr val="B4233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已撤销</a:t>
            </a:r>
            <a:endParaRPr lang="en-US" sz="1500" dirty="0"/>
          </a:p>
        </p:txBody>
      </p:sp>
      <p:sp>
        <p:nvSpPr>
          <p:cNvPr id="11" name="label-115"/>
          <p:cNvSpPr txBox="1"/>
          <p:nvPr/>
        </p:nvSpPr>
        <p:spPr>
          <a:xfrm>
            <a:off x="6400800" y="306324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撤市 / 撤稿</a:t>
            </a:r>
            <a:endParaRPr lang="en-US" sz="1100" dirty="0"/>
          </a:p>
        </p:txBody>
      </p:sp>
      <p:sp>
        <p:nvSpPr>
          <p:cNvPr id="12" name="box-116"/>
          <p:cNvSpPr/>
          <p:nvPr/>
        </p:nvSpPr>
        <p:spPr>
          <a:xfrm>
            <a:off x="548640" y="393192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A0522D"/>
          </a:solidFill>
          <a:ln w="6350">
            <a:solidFill>
              <a:srgbClr val="A0522D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已隔离</a:t>
            </a:r>
            <a:endParaRPr lang="en-US" sz="1500" dirty="0"/>
          </a:p>
        </p:txBody>
      </p:sp>
      <p:sp>
        <p:nvSpPr>
          <p:cNvPr id="13" name="arrow-117"/>
          <p:cNvSpPr/>
          <p:nvPr/>
        </p:nvSpPr>
        <p:spPr>
          <a:xfrm>
            <a:off x="1965960" y="2615184"/>
            <a:ext cx="82296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label-118"/>
          <p:cNvSpPr txBox="1"/>
          <p:nvPr/>
        </p:nvSpPr>
        <p:spPr>
          <a:xfrm>
            <a:off x="1965960" y="1965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通过门禁</a:t>
            </a:r>
            <a:endParaRPr lang="en-US" sz="1100" dirty="0"/>
          </a:p>
        </p:txBody>
      </p:sp>
      <p:sp>
        <p:nvSpPr>
          <p:cNvPr id="15" name="arrow-119"/>
          <p:cNvSpPr/>
          <p:nvPr/>
        </p:nvSpPr>
        <p:spPr>
          <a:xfrm flipV="1">
            <a:off x="4206240" y="1883664"/>
            <a:ext cx="685800" cy="7315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arrow-120"/>
          <p:cNvSpPr/>
          <p:nvPr/>
        </p:nvSpPr>
        <p:spPr>
          <a:xfrm>
            <a:off x="4206240" y="2615184"/>
            <a:ext cx="68580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arrow-121"/>
          <p:cNvSpPr/>
          <p:nvPr/>
        </p:nvSpPr>
        <p:spPr>
          <a:xfrm>
            <a:off x="4206240" y="2615184"/>
            <a:ext cx="685800" cy="7315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arrow-122"/>
          <p:cNvSpPr/>
          <p:nvPr/>
        </p:nvSpPr>
        <p:spPr>
          <a:xfrm>
            <a:off x="1257300" y="2898648"/>
            <a:ext cx="0" cy="1033272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label-123"/>
          <p:cNvSpPr txBox="1"/>
          <p:nvPr/>
        </p:nvSpPr>
        <p:spPr>
          <a:xfrm>
            <a:off x="1348740" y="32004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未通过门禁</a:t>
            </a:r>
            <a:endParaRPr lang="en-US" sz="1100" dirty="0"/>
          </a:p>
        </p:txBody>
      </p:sp>
      <p:sp>
        <p:nvSpPr>
          <p:cNvPr id="20" name="arrow-124"/>
          <p:cNvSpPr/>
          <p:nvPr/>
        </p:nvSpPr>
        <p:spPr>
          <a:xfrm flipV="1">
            <a:off x="1965960" y="3630168"/>
            <a:ext cx="2926080" cy="585216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21" name="label-125"/>
          <p:cNvSpPr txBox="1"/>
          <p:nvPr/>
        </p:nvSpPr>
        <p:spPr>
          <a:xfrm>
            <a:off x="2606040" y="4069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确认无效</a:t>
            </a:r>
            <a:endParaRPr lang="en-US" sz="1050" dirty="0"/>
          </a:p>
        </p:txBody>
      </p:sp>
      <p:sp>
        <p:nvSpPr>
          <p:cNvPr id="22" name="card-126"/>
          <p:cNvSpPr/>
          <p:nvPr/>
        </p:nvSpPr>
        <p:spPr>
          <a:xfrm>
            <a:off x="548640" y="4590288"/>
            <a:ext cx="6400800" cy="1737360"/>
          </a:xfrm>
          <a:prstGeom prst="roundRect">
            <a:avLst>
              <a:gd name="adj" fmla="val 5263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23" name="label-127"/>
          <p:cNvSpPr txBox="1"/>
          <p:nvPr/>
        </p:nvSpPr>
        <p:spPr>
          <a:xfrm>
            <a:off x="777240" y="468172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案例一：伏塞洛托（Oxbryta），镰状细胞病</a:t>
            </a:r>
            <a:endParaRPr lang="en-US" sz="1400" dirty="0"/>
          </a:p>
        </p:txBody>
      </p:sp>
      <p:sp>
        <p:nvSpPr>
          <p:cNvPr id="24" name="label-128"/>
          <p:cNvSpPr txBox="1"/>
          <p:nvPr/>
        </p:nvSpPr>
        <p:spPr>
          <a:xfrm>
            <a:off x="4754880" y="468172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已写成自动化测试</a:t>
            </a:r>
            <a:endParaRPr lang="en-US" sz="1050" dirty="0"/>
          </a:p>
        </p:txBody>
      </p:sp>
      <p:graphicFrame>
        <p:nvGraphicFramePr>
          <p:cNvPr id="7" name="table-1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5029200"/>
          <a:ext cx="59436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148840"/>
                <a:gridCol w="1554480"/>
                <a:gridCol w="15544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 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可用于治疗该病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 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能提高血红蛋白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2019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HOPE 试验 + 加速批准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已验证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已验证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上市后死亡增多，撤市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有争议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不受影响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label-130"/>
          <p:cNvSpPr txBox="1"/>
          <p:nvPr/>
        </p:nvSpPr>
        <p:spPr>
          <a:xfrm>
            <a:off x="777240" y="605332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只降级依赖“批准”的结论：血红蛋白确实升高，但患者结局变差。</a:t>
            </a:r>
            <a:endParaRPr lang="en-US" sz="1050" dirty="0"/>
          </a:p>
        </p:txBody>
      </p:sp>
      <p:sp>
        <p:nvSpPr>
          <p:cNvPr id="27" name="badge-131"/>
          <p:cNvSpPr/>
          <p:nvPr/>
        </p:nvSpPr>
        <p:spPr>
          <a:xfrm>
            <a:off x="7498080" y="16459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8" name="label-132"/>
          <p:cNvSpPr txBox="1"/>
          <p:nvPr/>
        </p:nvSpPr>
        <p:spPr>
          <a:xfrm>
            <a:off x="8046720" y="1627632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准入门禁</a:t>
            </a:r>
            <a:endParaRPr lang="en-US" sz="1700" dirty="0"/>
          </a:p>
        </p:txBody>
      </p:sp>
      <p:sp>
        <p:nvSpPr>
          <p:cNvPr id="29" name="label-133"/>
          <p:cNvSpPr txBox="1"/>
          <p:nvPr/>
        </p:nvSpPr>
        <p:spPr>
          <a:xfrm>
            <a:off x="8046720" y="2084832"/>
            <a:ext cx="3596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来源可追溯、未过期、数值在合理范围、不含未授权患者数据、未被撤稿；任一不过即隔离，原因写入账本。不替代对研究质量的专业判断。</a:t>
            </a:r>
            <a:endParaRPr lang="en-US" sz="1400" dirty="0"/>
          </a:p>
        </p:txBody>
      </p:sp>
      <p:sp>
        <p:nvSpPr>
          <p:cNvPr id="30" name="badge-134"/>
          <p:cNvSpPr/>
          <p:nvPr/>
        </p:nvSpPr>
        <p:spPr>
          <a:xfrm>
            <a:off x="7498080" y="310896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1" name="label-135"/>
          <p:cNvSpPr txBox="1"/>
          <p:nvPr/>
        </p:nvSpPr>
        <p:spPr>
          <a:xfrm>
            <a:off x="8046720" y="3090672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依赖级联</a:t>
            </a:r>
            <a:endParaRPr lang="en-US" sz="1700" dirty="0"/>
          </a:p>
        </p:txBody>
      </p:sp>
      <p:sp>
        <p:nvSpPr>
          <p:cNvPr id="32" name="label-136"/>
          <p:cNvSpPr txBox="1"/>
          <p:nvPr/>
        </p:nvSpPr>
        <p:spPr>
          <a:xfrm>
            <a:off x="8046720" y="3547872"/>
            <a:ext cx="3596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证据失效时，依赖它的结论自动降级；恢复证据不会自动恢复结论。</a:t>
            </a:r>
            <a:endParaRPr lang="en-US" sz="1400" dirty="0"/>
          </a:p>
        </p:txBody>
      </p:sp>
      <p:sp>
        <p:nvSpPr>
          <p:cNvPr id="33" name="badge-137"/>
          <p:cNvSpPr/>
          <p:nvPr/>
        </p:nvSpPr>
        <p:spPr>
          <a:xfrm>
            <a:off x="7498080" y="457200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4" name="label-138"/>
          <p:cNvSpPr txBox="1"/>
          <p:nvPr/>
        </p:nvSpPr>
        <p:spPr>
          <a:xfrm>
            <a:off x="8046720" y="4553712"/>
            <a:ext cx="3596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防篡改</a:t>
            </a:r>
            <a:endParaRPr lang="en-US" sz="1700" dirty="0"/>
          </a:p>
        </p:txBody>
      </p:sp>
      <p:sp>
        <p:nvSpPr>
          <p:cNvPr id="35" name="label-139"/>
          <p:cNvSpPr txBox="1"/>
          <p:nvPr/>
        </p:nvSpPr>
        <p:spPr>
          <a:xfrm>
            <a:off x="8046720" y="5010912"/>
            <a:ext cx="3596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每次变更追加写入哈希链；文件被改动会被发现，账本随即锁为只读。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案例二：Makena——确证性试验推翻早期结论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证据相互矛盾时，账本保留分歧、不替人裁决；新结论有据可查地取代旧结论。</a:t>
            </a:r>
            <a:endParaRPr lang="en-US" sz="1500" dirty="0"/>
          </a:p>
        </p:txBody>
      </p:sp>
      <p:sp>
        <p:nvSpPr>
          <p:cNvPr id="4" name="timeline-140"/>
          <p:cNvSpPr/>
          <p:nvPr/>
        </p:nvSpPr>
        <p:spPr>
          <a:xfrm>
            <a:off x="1371600" y="2148840"/>
            <a:ext cx="9448495" cy="0"/>
          </a:xfrm>
          <a:prstGeom prst="line">
            <a:avLst/>
          </a:prstGeom>
          <a:noFill/>
          <a:ln w="25400">
            <a:solidFill>
              <a:srgbClr val="C3CCD6"/>
            </a:solidFill>
            <a:prstDash val="solid"/>
          </a:ln>
        </p:spPr>
      </p:sp>
      <p:sp>
        <p:nvSpPr>
          <p:cNvPr id="5" name="dot-141"/>
          <p:cNvSpPr/>
          <p:nvPr/>
        </p:nvSpPr>
        <p:spPr>
          <a:xfrm>
            <a:off x="1243584" y="202082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label-142"/>
          <p:cNvSpPr txBox="1"/>
          <p:nvPr/>
        </p:nvSpPr>
        <p:spPr>
          <a:xfrm>
            <a:off x="182880" y="15819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2003</a:t>
            </a:r>
            <a:endParaRPr lang="en-US" sz="1500" dirty="0"/>
          </a:p>
        </p:txBody>
      </p:sp>
      <p:sp>
        <p:nvSpPr>
          <p:cNvPr id="7" name="label-143"/>
          <p:cNvSpPr txBox="1"/>
          <p:nvPr/>
        </p:nvSpPr>
        <p:spPr>
          <a:xfrm>
            <a:off x="91440" y="2377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Meis 试验</a:t>
            </a:r>
            <a:endParaRPr lang="en-US" sz="1350" dirty="0"/>
          </a:p>
        </p:txBody>
      </p:sp>
      <p:sp>
        <p:nvSpPr>
          <p:cNvPr id="8" name="label-144"/>
          <p:cNvSpPr txBox="1"/>
          <p:nvPr/>
        </p:nvSpPr>
        <p:spPr>
          <a:xfrm>
            <a:off x="91440" y="2670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早产风险下降</a:t>
            </a:r>
            <a:endParaRPr lang="en-US" sz="1150" dirty="0"/>
          </a:p>
        </p:txBody>
      </p:sp>
      <p:sp>
        <p:nvSpPr>
          <p:cNvPr id="9" name="dot-145"/>
          <p:cNvSpPr/>
          <p:nvPr/>
        </p:nvSpPr>
        <p:spPr>
          <a:xfrm>
            <a:off x="4393082" y="202082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label-146"/>
          <p:cNvSpPr txBox="1"/>
          <p:nvPr/>
        </p:nvSpPr>
        <p:spPr>
          <a:xfrm>
            <a:off x="3332378" y="15819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2011</a:t>
            </a:r>
            <a:endParaRPr lang="en-US" sz="1500" dirty="0"/>
          </a:p>
        </p:txBody>
      </p:sp>
      <p:sp>
        <p:nvSpPr>
          <p:cNvPr id="11" name="label-147"/>
          <p:cNvSpPr txBox="1"/>
          <p:nvPr/>
        </p:nvSpPr>
        <p:spPr>
          <a:xfrm>
            <a:off x="3240938" y="2377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获加速批准</a:t>
            </a:r>
            <a:endParaRPr lang="en-US" sz="1350" dirty="0"/>
          </a:p>
        </p:txBody>
      </p:sp>
      <p:sp>
        <p:nvSpPr>
          <p:cNvPr id="12" name="label-148"/>
          <p:cNvSpPr txBox="1"/>
          <p:nvPr/>
        </p:nvSpPr>
        <p:spPr>
          <a:xfrm>
            <a:off x="3240938" y="2670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依据上述试验</a:t>
            </a:r>
            <a:endParaRPr lang="en-US" sz="1150" dirty="0"/>
          </a:p>
        </p:txBody>
      </p:sp>
      <p:sp>
        <p:nvSpPr>
          <p:cNvPr id="13" name="dot-149"/>
          <p:cNvSpPr/>
          <p:nvPr/>
        </p:nvSpPr>
        <p:spPr>
          <a:xfrm>
            <a:off x="7542581" y="2020824"/>
            <a:ext cx="256032" cy="256032"/>
          </a:xfrm>
          <a:prstGeom prst="ellipse">
            <a:avLst/>
          </a:prstGeom>
          <a:solidFill>
            <a:schemeClr val="accent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abel-150"/>
          <p:cNvSpPr txBox="1"/>
          <p:nvPr/>
        </p:nvSpPr>
        <p:spPr>
          <a:xfrm>
            <a:off x="6481877" y="15819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2019–20</a:t>
            </a:r>
            <a:endParaRPr lang="en-US" sz="1500" dirty="0"/>
          </a:p>
        </p:txBody>
      </p:sp>
      <p:sp>
        <p:nvSpPr>
          <p:cNvPr id="15" name="label-151"/>
          <p:cNvSpPr txBox="1"/>
          <p:nvPr/>
        </p:nvSpPr>
        <p:spPr>
          <a:xfrm>
            <a:off x="6390437" y="2377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确证试验 PROLONG</a:t>
            </a:r>
            <a:endParaRPr lang="en-US" sz="1350" dirty="0"/>
          </a:p>
        </p:txBody>
      </p:sp>
      <p:sp>
        <p:nvSpPr>
          <p:cNvPr id="16" name="label-152"/>
          <p:cNvSpPr txBox="1"/>
          <p:nvPr/>
        </p:nvSpPr>
        <p:spPr>
          <a:xfrm>
            <a:off x="6390437" y="2670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未见降低早产</a:t>
            </a:r>
            <a:endParaRPr lang="en-US" sz="1150" dirty="0"/>
          </a:p>
        </p:txBody>
      </p:sp>
      <p:sp>
        <p:nvSpPr>
          <p:cNvPr id="17" name="dot-153"/>
          <p:cNvSpPr/>
          <p:nvPr/>
        </p:nvSpPr>
        <p:spPr>
          <a:xfrm>
            <a:off x="10692079" y="2020824"/>
            <a:ext cx="256032" cy="256032"/>
          </a:xfrm>
          <a:prstGeom prst="ellipse">
            <a:avLst/>
          </a:prstGeom>
          <a:solidFill>
            <a:srgbClr val="B423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label-154"/>
          <p:cNvSpPr txBox="1"/>
          <p:nvPr/>
        </p:nvSpPr>
        <p:spPr>
          <a:xfrm>
            <a:off x="9631375" y="15819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2023</a:t>
            </a:r>
            <a:endParaRPr lang="en-US" sz="1500" dirty="0"/>
          </a:p>
        </p:txBody>
      </p:sp>
      <p:sp>
        <p:nvSpPr>
          <p:cNvPr id="19" name="label-155"/>
          <p:cNvSpPr txBox="1"/>
          <p:nvPr/>
        </p:nvSpPr>
        <p:spPr>
          <a:xfrm>
            <a:off x="9539935" y="2377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FDA 撤销批准</a:t>
            </a:r>
            <a:endParaRPr lang="en-US" sz="1350" dirty="0"/>
          </a:p>
        </p:txBody>
      </p:sp>
      <p:sp>
        <p:nvSpPr>
          <p:cNvPr id="20" name="label-156"/>
          <p:cNvSpPr txBox="1"/>
          <p:nvPr/>
        </p:nvSpPr>
        <p:spPr>
          <a:xfrm>
            <a:off x="9539935" y="2670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药品退出市场</a:t>
            </a:r>
            <a:endParaRPr lang="en-US" sz="1150" dirty="0"/>
          </a:p>
        </p:txBody>
      </p:sp>
      <p:sp>
        <p:nvSpPr>
          <p:cNvPr id="21" name="card-157"/>
          <p:cNvSpPr/>
          <p:nvPr/>
        </p:nvSpPr>
        <p:spPr>
          <a:xfrm>
            <a:off x="548640" y="3200400"/>
            <a:ext cx="6949440" cy="2743200"/>
          </a:xfrm>
          <a:prstGeom prst="roundRect">
            <a:avLst>
              <a:gd name="adj" fmla="val 3333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22" name="label-158"/>
          <p:cNvSpPr txBox="1"/>
          <p:nvPr/>
        </p:nvSpPr>
        <p:spPr>
          <a:xfrm>
            <a:off x="777240" y="3310128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账本里发生了什么（结论 A：“17-OHPC 可降低早产风险”）</a:t>
            </a:r>
            <a:endParaRPr lang="en-US" sz="1400" dirty="0"/>
          </a:p>
        </p:txBody>
      </p:sp>
      <p:graphicFrame>
        <p:nvGraphicFramePr>
          <p:cNvPr id="8" name="table-1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730752"/>
          <a:ext cx="649224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3063240"/>
                <a:gridCol w="27432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账本动作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 A 的状态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2011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Meis 试验、批准两条证据通过门禁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已验证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PROLONG 作为反证录入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有争议：两项试验结论相反，分歧被保留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批准证据撤销；新结论 A′“确证试验未见效果”通过验证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5F9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已取代：由 A′ 取代，历史可查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label-160"/>
          <p:cNvSpPr txBox="1"/>
          <p:nvPr/>
        </p:nvSpPr>
        <p:spPr>
          <a:xfrm>
            <a:off x="7818120" y="3246120"/>
            <a:ext cx="3824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这个案例说明</a:t>
            </a:r>
            <a:endParaRPr lang="en-US" sz="1600" dirty="0"/>
          </a:p>
        </p:txBody>
      </p:sp>
      <p:sp>
        <p:nvSpPr>
          <p:cNvPr id="25" name="badge-161"/>
          <p:cNvSpPr/>
          <p:nvPr/>
        </p:nvSpPr>
        <p:spPr>
          <a:xfrm>
            <a:off x="7818120" y="3767328"/>
            <a:ext cx="310896" cy="31089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label-162"/>
          <p:cNvSpPr txBox="1"/>
          <p:nvPr/>
        </p:nvSpPr>
        <p:spPr>
          <a:xfrm>
            <a:off x="8257032" y="3749040"/>
            <a:ext cx="3386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新证据不覆盖旧证据</a:t>
            </a:r>
            <a:endParaRPr lang="en-US" sz="1300" dirty="0"/>
          </a:p>
        </p:txBody>
      </p:sp>
      <p:sp>
        <p:nvSpPr>
          <p:cNvPr id="27" name="label-163"/>
          <p:cNvSpPr txBox="1"/>
          <p:nvPr/>
        </p:nvSpPr>
        <p:spPr>
          <a:xfrm>
            <a:off x="8257032" y="4032504"/>
            <a:ext cx="33860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Meis 试验仍在账本中，两项试验的分歧被如实记录。</a:t>
            </a:r>
            <a:endParaRPr lang="en-US" sz="1150" dirty="0"/>
          </a:p>
        </p:txBody>
      </p:sp>
      <p:sp>
        <p:nvSpPr>
          <p:cNvPr id="28" name="badge-164"/>
          <p:cNvSpPr/>
          <p:nvPr/>
        </p:nvSpPr>
        <p:spPr>
          <a:xfrm>
            <a:off x="7818120" y="4498848"/>
            <a:ext cx="310896" cy="31089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label-165"/>
          <p:cNvSpPr txBox="1"/>
          <p:nvPr/>
        </p:nvSpPr>
        <p:spPr>
          <a:xfrm>
            <a:off x="8257032" y="4480560"/>
            <a:ext cx="3386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不替人裁决</a:t>
            </a:r>
            <a:endParaRPr lang="en-US" sz="1300" dirty="0"/>
          </a:p>
        </p:txBody>
      </p:sp>
      <p:sp>
        <p:nvSpPr>
          <p:cNvPr id="30" name="label-166"/>
          <p:cNvSpPr txBox="1"/>
          <p:nvPr/>
        </p:nvSpPr>
        <p:spPr>
          <a:xfrm>
            <a:off x="8257032" y="4764024"/>
            <a:ext cx="33860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证据冲突时标为“有争议”，等待专家复核。</a:t>
            </a:r>
            <a:endParaRPr lang="en-US" sz="1150" dirty="0"/>
          </a:p>
        </p:txBody>
      </p:sp>
      <p:sp>
        <p:nvSpPr>
          <p:cNvPr id="31" name="badge-167"/>
          <p:cNvSpPr/>
          <p:nvPr/>
        </p:nvSpPr>
        <p:spPr>
          <a:xfrm>
            <a:off x="7818120" y="5230368"/>
            <a:ext cx="310896" cy="31089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label-168"/>
          <p:cNvSpPr txBox="1"/>
          <p:nvPr/>
        </p:nvSpPr>
        <p:spPr>
          <a:xfrm>
            <a:off x="8257032" y="5212080"/>
            <a:ext cx="3386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结论有继承关系</a:t>
            </a:r>
            <a:endParaRPr lang="en-US" sz="1300" dirty="0"/>
          </a:p>
        </p:txBody>
      </p:sp>
      <p:sp>
        <p:nvSpPr>
          <p:cNvPr id="33" name="label-169"/>
          <p:cNvSpPr txBox="1"/>
          <p:nvPr/>
        </p:nvSpPr>
        <p:spPr>
          <a:xfrm>
            <a:off x="8257032" y="5495544"/>
            <a:ext cx="33860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A′ 取代 A；A 从验证到被取代的每一步都可追溯。</a:t>
            </a:r>
            <a:endParaRPr lang="en-US" sz="1150" dirty="0"/>
          </a:p>
        </p:txBody>
      </p:sp>
      <p:sp>
        <p:nvSpPr>
          <p:cNvPr id="34" name="label-170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文献：Meis 等，NEJM 2003（PMID 12802023）；PROLONG，Am J Perinatol 2020（PMID 31652479）。已写成自动化测试；“反证录入”和“结论取代”目前通过接口完成，界面入口待补。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设计点②③：分歧时先查什么，结论何时能下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 类设计点 ② 与 ③：用信息论量化分歧、挑选查询；用统计校准决定能否下结论。</a:t>
            </a:r>
            <a:endParaRPr lang="en-US" sz="1500" dirty="0"/>
          </a:p>
        </p:txBody>
      </p:sp>
      <p:sp>
        <p:nvSpPr>
          <p:cNvPr id="4" name="card-171"/>
          <p:cNvSpPr/>
          <p:nvPr/>
        </p:nvSpPr>
        <p:spPr>
          <a:xfrm>
            <a:off x="548640" y="1554480"/>
            <a:ext cx="6903720" cy="4526280"/>
          </a:xfrm>
          <a:prstGeom prst="roundRect">
            <a:avLst>
              <a:gd name="adj" fmla="val 202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172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6" name="label-173"/>
          <p:cNvSpPr txBox="1"/>
          <p:nvPr/>
        </p:nvSpPr>
        <p:spPr>
          <a:xfrm>
            <a:off x="1325880" y="170992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信息增益取证</a:t>
            </a:r>
            <a:endParaRPr lang="en-US" sz="1800" dirty="0"/>
          </a:p>
        </p:txBody>
      </p:sp>
      <p:sp>
        <p:nvSpPr>
          <p:cNvPr id="7" name="box-174"/>
          <p:cNvSpPr/>
          <p:nvPr/>
        </p:nvSpPr>
        <p:spPr>
          <a:xfrm>
            <a:off x="822960" y="2212848"/>
            <a:ext cx="635508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1270" tIns="1270" rIns="1270" bIns="127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类比：医生分辨流感和感冒——量体温没用，两种病都发烧；流感抗原检测结果差别大，所以先做它。信息增益就是给“这项查询能把两种可能分开多少”打分。</a:t>
            </a:r>
            <a:endParaRPr lang="en-US" sz="1150" dirty="0"/>
          </a:p>
        </p:txBody>
      </p:sp>
      <p:sp>
        <p:nvSpPr>
          <p:cNvPr id="8" name="label-175"/>
          <p:cNvSpPr txBox="1"/>
          <p:nvPr/>
        </p:nvSpPr>
        <p:spPr>
          <a:xfrm>
            <a:off x="822960" y="3017520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例：假设“GLP-1 受体激动剂（如司美格鲁肽）可用于减重”，起点五五开</a:t>
            </a:r>
            <a:endParaRPr lang="en-US" sz="1200" dirty="0"/>
          </a:p>
        </p:txBody>
      </p:sp>
      <p:graphicFrame>
        <p:nvGraphicFramePr>
          <p:cNvPr id="9" name="table-1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337560"/>
          <a:ext cx="39776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00584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系统可做的查询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假设成立时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查到的概率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不成立时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查到的概率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查强活性药物（ChEMBL）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查临床试验登记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查靶点序列（UniProt）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label-177"/>
          <p:cNvSpPr txBox="1"/>
          <p:nvPr/>
        </p:nvSpPr>
        <p:spPr>
          <a:xfrm>
            <a:off x="4937760" y="3337560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能分开多少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（信息增益）</a:t>
            </a:r>
            <a:endParaRPr lang="en-US" sz="1100" dirty="0"/>
          </a:p>
        </p:txBody>
      </p:sp>
      <p:sp>
        <p:nvSpPr>
          <p:cNvPr id="11" name="bar-178"/>
          <p:cNvSpPr/>
          <p:nvPr/>
        </p:nvSpPr>
        <p:spPr>
          <a:xfrm>
            <a:off x="4937760" y="3831336"/>
            <a:ext cx="1737360" cy="201168"/>
          </a:xfrm>
          <a:prstGeom prst="rect">
            <a:avLst/>
          </a:prstGeom>
          <a:solidFill>
            <a:srgbClr val="0E8A7E"/>
          </a:solidFill>
          <a:ln w="12700">
            <a:solidFill>
              <a:srgbClr val="0E8A7E"/>
            </a:solidFill>
            <a:prstDash val="solid"/>
          </a:ln>
        </p:spPr>
      </p:sp>
      <p:sp>
        <p:nvSpPr>
          <p:cNvPr id="12" name="label-179"/>
          <p:cNvSpPr txBox="1"/>
          <p:nvPr/>
        </p:nvSpPr>
        <p:spPr>
          <a:xfrm>
            <a:off x="6729984" y="37947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0.26</a:t>
            </a:r>
            <a:endParaRPr lang="en-US" sz="1050" dirty="0"/>
          </a:p>
        </p:txBody>
      </p:sp>
      <p:sp>
        <p:nvSpPr>
          <p:cNvPr id="13" name="label-180"/>
          <p:cNvSpPr txBox="1"/>
          <p:nvPr/>
        </p:nvSpPr>
        <p:spPr>
          <a:xfrm>
            <a:off x="5010912" y="379476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差别最大，先查</a:t>
            </a:r>
            <a:endParaRPr lang="en-US" sz="1000" dirty="0"/>
          </a:p>
        </p:txBody>
      </p:sp>
      <p:sp>
        <p:nvSpPr>
          <p:cNvPr id="14" name="bar-181"/>
          <p:cNvSpPr/>
          <p:nvPr/>
        </p:nvSpPr>
        <p:spPr>
          <a:xfrm>
            <a:off x="4937760" y="4178808"/>
            <a:ext cx="704335" cy="201168"/>
          </a:xfrm>
          <a:prstGeom prst="rect">
            <a:avLst/>
          </a:prstGeom>
          <a:solidFill>
            <a:srgbClr val="8FC9C2"/>
          </a:solidFill>
          <a:ln w="12700">
            <a:solidFill>
              <a:srgbClr val="8FC9C2"/>
            </a:solidFill>
            <a:prstDash val="solid"/>
          </a:ln>
        </p:spPr>
      </p:sp>
      <p:sp>
        <p:nvSpPr>
          <p:cNvPr id="15" name="label-182"/>
          <p:cNvSpPr txBox="1"/>
          <p:nvPr/>
        </p:nvSpPr>
        <p:spPr>
          <a:xfrm>
            <a:off x="5696959" y="41422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0.11</a:t>
            </a:r>
            <a:endParaRPr lang="en-US" sz="1050" dirty="0"/>
          </a:p>
        </p:txBody>
      </p:sp>
      <p:sp>
        <p:nvSpPr>
          <p:cNvPr id="16" name="bar-183"/>
          <p:cNvSpPr/>
          <p:nvPr/>
        </p:nvSpPr>
        <p:spPr>
          <a:xfrm>
            <a:off x="4937760" y="4526280"/>
            <a:ext cx="261610" cy="201168"/>
          </a:xfrm>
          <a:prstGeom prst="rect">
            <a:avLst/>
          </a:prstGeom>
          <a:solidFill>
            <a:srgbClr val="8FC9C2"/>
          </a:solidFill>
          <a:ln w="12700">
            <a:solidFill>
              <a:srgbClr val="8FC9C2"/>
            </a:solidFill>
            <a:prstDash val="solid"/>
          </a:ln>
        </p:spPr>
      </p:sp>
      <p:sp>
        <p:nvSpPr>
          <p:cNvPr id="17" name="label-184"/>
          <p:cNvSpPr txBox="1"/>
          <p:nvPr/>
        </p:nvSpPr>
        <p:spPr>
          <a:xfrm>
            <a:off x="5254234" y="44897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0.04</a:t>
            </a:r>
            <a:endParaRPr lang="en-US" sz="1050" dirty="0"/>
          </a:p>
        </p:txBody>
      </p:sp>
      <p:sp>
        <p:nvSpPr>
          <p:cNvPr id="18" name="label-185"/>
          <p:cNvSpPr txBox="1"/>
          <p:nvPr/>
        </p:nvSpPr>
        <p:spPr>
          <a:xfrm>
            <a:off x="5656570" y="4489704"/>
            <a:ext cx="15214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像“量体温”</a:t>
            </a:r>
            <a:endParaRPr lang="en-US" sz="1000" dirty="0"/>
          </a:p>
        </p:txBody>
      </p:sp>
      <p:sp>
        <p:nvSpPr>
          <p:cNvPr id="19" name="label-186"/>
          <p:cNvSpPr txBox="1"/>
          <p:nvPr/>
        </p:nvSpPr>
        <p:spPr>
          <a:xfrm>
            <a:off x="822960" y="4956048"/>
            <a:ext cx="6355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实际过程（分歧度：0 = 已有定论，1 = 五五开）</a:t>
            </a:r>
            <a:endParaRPr lang="en-US" sz="1150" dirty="0"/>
          </a:p>
        </p:txBody>
      </p:sp>
      <p:sp>
        <p:nvSpPr>
          <p:cNvPr id="20" name="badge-187"/>
          <p:cNvSpPr/>
          <p:nvPr/>
        </p:nvSpPr>
        <p:spPr>
          <a:xfrm>
            <a:off x="822960" y="5276088"/>
            <a:ext cx="274320" cy="27432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label-188"/>
          <p:cNvSpPr txBox="1"/>
          <p:nvPr/>
        </p:nvSpPr>
        <p:spPr>
          <a:xfrm>
            <a:off x="1207008" y="5248656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查到强活性：司美格鲁肽对 GLP-1 受体亲和力 0.38 nM</a:t>
            </a:r>
            <a:endParaRPr lang="en-US" sz="1050" dirty="0"/>
          </a:p>
        </p:txBody>
      </p:sp>
      <p:sp>
        <p:nvSpPr>
          <p:cNvPr id="22" name="label-189"/>
          <p:cNvSpPr txBox="1"/>
          <p:nvPr/>
        </p:nvSpPr>
        <p:spPr>
          <a:xfrm>
            <a:off x="4846320" y="524865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支持概率 0.50 → 0.86</a:t>
            </a:r>
            <a:endParaRPr lang="en-US" sz="1050" dirty="0"/>
          </a:p>
        </p:txBody>
      </p:sp>
      <p:sp>
        <p:nvSpPr>
          <p:cNvPr id="23" name="badge-190"/>
          <p:cNvSpPr/>
          <p:nvPr/>
        </p:nvSpPr>
        <p:spPr>
          <a:xfrm>
            <a:off x="822960" y="5660136"/>
            <a:ext cx="274320" cy="27432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4" name="label-191"/>
          <p:cNvSpPr txBox="1"/>
          <p:nvPr/>
        </p:nvSpPr>
        <p:spPr>
          <a:xfrm>
            <a:off x="1207008" y="5632704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再查到三期试验 STEP 1（NCT03548935）</a:t>
            </a:r>
            <a:endParaRPr lang="en-US" sz="1050" dirty="0"/>
          </a:p>
        </p:txBody>
      </p:sp>
      <p:sp>
        <p:nvSpPr>
          <p:cNvPr id="25" name="label-192"/>
          <p:cNvSpPr txBox="1"/>
          <p:nvPr/>
        </p:nvSpPr>
        <p:spPr>
          <a:xfrm>
            <a:off x="4846320" y="5632704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0.86 → 0.95，分歧度 1.0 → 0.28</a:t>
            </a:r>
            <a:endParaRPr lang="en-US" sz="1050" dirty="0"/>
          </a:p>
        </p:txBody>
      </p:sp>
      <p:sp>
        <p:nvSpPr>
          <p:cNvPr id="26" name="card-193"/>
          <p:cNvSpPr/>
          <p:nvPr/>
        </p:nvSpPr>
        <p:spPr>
          <a:xfrm>
            <a:off x="7726680" y="1554480"/>
            <a:ext cx="3916375" cy="4526280"/>
          </a:xfrm>
          <a:prstGeom prst="roundRect">
            <a:avLst>
              <a:gd name="adj" fmla="val 23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badge-194"/>
          <p:cNvSpPr/>
          <p:nvPr/>
        </p:nvSpPr>
        <p:spPr>
          <a:xfrm>
            <a:off x="8001000" y="173736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8" name="label-195"/>
          <p:cNvSpPr txBox="1"/>
          <p:nvPr/>
        </p:nvSpPr>
        <p:spPr>
          <a:xfrm>
            <a:off x="8503920" y="1709928"/>
            <a:ext cx="2910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共形三分判定</a:t>
            </a:r>
            <a:endParaRPr lang="en-US" sz="1800" dirty="0"/>
          </a:p>
        </p:txBody>
      </p:sp>
      <p:sp>
        <p:nvSpPr>
          <p:cNvPr id="29" name="label-196"/>
          <p:cNvSpPr txBox="1"/>
          <p:nvPr/>
        </p:nvSpPr>
        <p:spPr>
          <a:xfrm>
            <a:off x="8001000" y="2286000"/>
            <a:ext cx="3367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背景</a:t>
            </a:r>
            <a:endParaRPr lang="en-US" sz="1250" dirty="0"/>
          </a:p>
        </p:txBody>
      </p:sp>
      <p:sp>
        <p:nvSpPr>
          <p:cNvPr id="30" name="label-197"/>
          <p:cNvSpPr txBox="1"/>
          <p:nvPr/>
        </p:nvSpPr>
        <p:spPr>
          <a:xfrm>
            <a:off x="8001000" y="2560320"/>
            <a:ext cx="33677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共形预测（Vovk 等）是一种统计方法：用一批已标注结果的历史假设做校准，保证“出错率不超过 α”。它不给分数，而是给出可能成立的结果集合：</a:t>
            </a:r>
            <a:endParaRPr lang="en-US" sz="1150" dirty="0"/>
          </a:p>
        </p:txBody>
      </p:sp>
      <p:graphicFrame>
        <p:nvGraphicFramePr>
          <p:cNvPr id="17" name="table-19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3474720"/>
          <a:ext cx="3367735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658368"/>
                <a:gridCol w="1410919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结果集合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 支持 }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只有“支持”说得通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 反驳 }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反驳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只有“反驳”说得通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 支持，反驳 }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不确定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证据分不出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 }（空）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97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不确定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罕见，需人工复核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label-199"/>
          <p:cNvSpPr txBox="1"/>
          <p:nvPr/>
        </p:nvSpPr>
        <p:spPr>
          <a:xfrm>
            <a:off x="8001000" y="5257800"/>
            <a:ext cx="3367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校准后每类出错率不超过 α（如 10%）；未校准时界面明确显示“未校准”。评分只看证据，与靶点名称无关。</a:t>
            </a:r>
            <a:endParaRPr lang="en-US" sz="1100" dirty="0"/>
          </a:p>
        </p:txBody>
      </p:sp>
      <p:sp>
        <p:nvSpPr>
          <p:cNvPr id="33" name="label-200"/>
          <p:cNvSpPr txBox="1"/>
          <p:nvPr/>
        </p:nvSpPr>
        <p:spPr>
          <a:xfrm>
            <a:off x="548640" y="61539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说明：结果概率表目前为人工设定的先验，正式实验前需用标注数据估计（已提供估计函数）；专家意见作为起点的接口已实现，目前每个假设分支从 50 / 50 起步。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支撑设计：多智能体协作与本地运行时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 类管“谁来做、谁把关”，C 类管“在哪里跑、用谁的额度”；两者在 2.x 已具备，3.0 继续完善。</a:t>
            </a:r>
            <a:endParaRPr lang="en-US" sz="1500" dirty="0"/>
          </a:p>
        </p:txBody>
      </p:sp>
      <p:sp>
        <p:nvSpPr>
          <p:cNvPr id="4" name="card-201"/>
          <p:cNvSpPr/>
          <p:nvPr/>
        </p:nvSpPr>
        <p:spPr>
          <a:xfrm>
            <a:off x="548640" y="1600200"/>
            <a:ext cx="5410048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ag-202"/>
          <p:cNvSpPr/>
          <p:nvPr/>
        </p:nvSpPr>
        <p:spPr>
          <a:xfrm>
            <a:off x="822960" y="1810512"/>
            <a:ext cx="41148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6" name="label-203"/>
          <p:cNvSpPr txBox="1"/>
          <p:nvPr/>
        </p:nvSpPr>
        <p:spPr>
          <a:xfrm>
            <a:off x="1371600" y="1810512"/>
            <a:ext cx="431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多智能体协作：像课题组一样分工</a:t>
            </a:r>
            <a:endParaRPr lang="en-US" sz="1700" dirty="0"/>
          </a:p>
        </p:txBody>
      </p:sp>
      <p:sp>
        <p:nvSpPr>
          <p:cNvPr id="7" name="box-204"/>
          <p:cNvSpPr/>
          <p:nvPr/>
        </p:nvSpPr>
        <p:spPr>
          <a:xfrm>
            <a:off x="822960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研究课题</a:t>
            </a:r>
            <a:endParaRPr lang="en-US" sz="1250" dirty="0"/>
          </a:p>
        </p:txBody>
      </p:sp>
      <p:sp>
        <p:nvSpPr>
          <p:cNvPr id="8" name="arrow-205"/>
          <p:cNvSpPr/>
          <p:nvPr/>
        </p:nvSpPr>
        <p:spPr>
          <a:xfrm>
            <a:off x="1652595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9" name="box-206"/>
          <p:cNvSpPr/>
          <p:nvPr/>
        </p:nvSpPr>
        <p:spPr>
          <a:xfrm>
            <a:off x="1835475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队长规划</a:t>
            </a:r>
            <a:endParaRPr lang="en-US" sz="1250" dirty="0"/>
          </a:p>
        </p:txBody>
      </p:sp>
      <p:sp>
        <p:nvSpPr>
          <p:cNvPr id="10" name="arrow-207"/>
          <p:cNvSpPr/>
          <p:nvPr/>
        </p:nvSpPr>
        <p:spPr>
          <a:xfrm>
            <a:off x="2665110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1" name="box-208"/>
          <p:cNvSpPr/>
          <p:nvPr/>
        </p:nvSpPr>
        <p:spPr>
          <a:xfrm>
            <a:off x="2847990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成员并行</a:t>
            </a:r>
            <a:endParaRPr lang="en-US" sz="1250" dirty="0"/>
          </a:p>
        </p:txBody>
      </p:sp>
      <p:sp>
        <p:nvSpPr>
          <p:cNvPr id="12" name="arrow-209"/>
          <p:cNvSpPr/>
          <p:nvPr/>
        </p:nvSpPr>
        <p:spPr>
          <a:xfrm>
            <a:off x="3677625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3" name="box-210"/>
          <p:cNvSpPr/>
          <p:nvPr/>
        </p:nvSpPr>
        <p:spPr>
          <a:xfrm>
            <a:off x="3860505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质量门</a:t>
            </a:r>
            <a:endParaRPr lang="en-US" sz="1250" dirty="0"/>
          </a:p>
        </p:txBody>
      </p:sp>
      <p:sp>
        <p:nvSpPr>
          <p:cNvPr id="14" name="arrow-211"/>
          <p:cNvSpPr/>
          <p:nvPr/>
        </p:nvSpPr>
        <p:spPr>
          <a:xfrm>
            <a:off x="4690140" y="2798064"/>
            <a:ext cx="164592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5" name="box-212"/>
          <p:cNvSpPr/>
          <p:nvPr/>
        </p:nvSpPr>
        <p:spPr>
          <a:xfrm>
            <a:off x="4873020" y="2514600"/>
            <a:ext cx="811347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综合报告</a:t>
            </a:r>
            <a:endParaRPr lang="en-US" sz="1250" dirty="0"/>
          </a:p>
        </p:txBody>
      </p:sp>
      <p:sp>
        <p:nvSpPr>
          <p:cNvPr id="16" name="bullets-213"/>
          <p:cNvSpPr txBox="1"/>
          <p:nvPr/>
        </p:nvSpPr>
        <p:spPr>
          <a:xfrm>
            <a:off x="822960" y="3337560"/>
            <a:ext cx="48614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队长（PI）把课题拆成有依赖的任务，可要求先审批计划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成员交接时，每条发现都必须附证据编号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质量门：规则检查 + 科研审查员；工具失败不算“阴性结果”</a:t>
            </a:r>
            <a:endParaRPr lang="en-US" sz="1300" dirty="0"/>
          </a:p>
        </p:txBody>
      </p:sp>
      <p:sp>
        <p:nvSpPr>
          <p:cNvPr id="17" name="label-214"/>
          <p:cNvSpPr txBox="1"/>
          <p:nvPr/>
        </p:nvSpPr>
        <p:spPr>
          <a:xfrm>
            <a:off x="822960" y="5349240"/>
            <a:ext cx="16204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26 位</a:t>
            </a:r>
            <a:endParaRPr lang="en-US" sz="2000" dirty="0"/>
          </a:p>
        </p:txBody>
      </p:sp>
      <p:sp>
        <p:nvSpPr>
          <p:cNvPr id="18" name="label-215"/>
          <p:cNvSpPr txBox="1"/>
          <p:nvPr/>
        </p:nvSpPr>
        <p:spPr>
          <a:xfrm>
            <a:off x="822960" y="5742432"/>
            <a:ext cx="16204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领域专家</a:t>
            </a:r>
            <a:endParaRPr lang="en-US" sz="1150" dirty="0"/>
          </a:p>
        </p:txBody>
      </p:sp>
      <p:sp>
        <p:nvSpPr>
          <p:cNvPr id="19" name="label-216"/>
          <p:cNvSpPr txBox="1"/>
          <p:nvPr/>
        </p:nvSpPr>
        <p:spPr>
          <a:xfrm>
            <a:off x="2443429" y="5349240"/>
            <a:ext cx="16204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15 个</a:t>
            </a:r>
            <a:endParaRPr lang="en-US" sz="2000" dirty="0"/>
          </a:p>
        </p:txBody>
      </p:sp>
      <p:sp>
        <p:nvSpPr>
          <p:cNvPr id="20" name="label-217"/>
          <p:cNvSpPr txBox="1"/>
          <p:nvPr/>
        </p:nvSpPr>
        <p:spPr>
          <a:xfrm>
            <a:off x="2443429" y="5742432"/>
            <a:ext cx="16204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团队模板</a:t>
            </a:r>
            <a:endParaRPr lang="en-US" sz="1150" dirty="0"/>
          </a:p>
        </p:txBody>
      </p:sp>
      <p:sp>
        <p:nvSpPr>
          <p:cNvPr id="21" name="label-218"/>
          <p:cNvSpPr txBox="1"/>
          <p:nvPr/>
        </p:nvSpPr>
        <p:spPr>
          <a:xfrm>
            <a:off x="4063898" y="5349240"/>
            <a:ext cx="16204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@</a:t>
            </a:r>
            <a:endParaRPr lang="en-US" sz="2000" dirty="0"/>
          </a:p>
        </p:txBody>
      </p:sp>
      <p:sp>
        <p:nvSpPr>
          <p:cNvPr id="22" name="label-219"/>
          <p:cNvSpPr txBox="1"/>
          <p:nvPr/>
        </p:nvSpPr>
        <p:spPr>
          <a:xfrm>
            <a:off x="4063898" y="5742432"/>
            <a:ext cx="16204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直接点名专家</a:t>
            </a:r>
            <a:endParaRPr lang="en-US" sz="1150" dirty="0"/>
          </a:p>
        </p:txBody>
      </p:sp>
      <p:sp>
        <p:nvSpPr>
          <p:cNvPr id="23" name="card-220"/>
          <p:cNvSpPr/>
          <p:nvPr/>
        </p:nvSpPr>
        <p:spPr>
          <a:xfrm>
            <a:off x="6233008" y="1600200"/>
            <a:ext cx="5410048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ag-221"/>
          <p:cNvSpPr/>
          <p:nvPr/>
        </p:nvSpPr>
        <p:spPr>
          <a:xfrm>
            <a:off x="6507328" y="1810512"/>
            <a:ext cx="41148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25" name="label-222"/>
          <p:cNvSpPr txBox="1"/>
          <p:nvPr/>
        </p:nvSpPr>
        <p:spPr>
          <a:xfrm>
            <a:off x="7055968" y="1810512"/>
            <a:ext cx="431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本地运行时：直接用已有 AI 订阅</a:t>
            </a:r>
            <a:endParaRPr lang="en-US" sz="1700" dirty="0"/>
          </a:p>
        </p:txBody>
      </p:sp>
      <p:sp>
        <p:nvSpPr>
          <p:cNvPr id="26" name="box-223"/>
          <p:cNvSpPr/>
          <p:nvPr/>
        </p:nvSpPr>
        <p:spPr>
          <a:xfrm>
            <a:off x="6507328" y="2697480"/>
            <a:ext cx="1325880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6350">
            <a:solidFill>
              <a:schemeClr val="tx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研究请求</a:t>
            </a:r>
            <a:endParaRPr lang="en-US" sz="1300" dirty="0"/>
          </a:p>
        </p:txBody>
      </p:sp>
      <p:sp>
        <p:nvSpPr>
          <p:cNvPr id="27" name="arrow-224"/>
          <p:cNvSpPr/>
          <p:nvPr/>
        </p:nvSpPr>
        <p:spPr>
          <a:xfrm>
            <a:off x="7833208" y="2980944"/>
            <a:ext cx="2743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8" name="box-225"/>
          <p:cNvSpPr/>
          <p:nvPr/>
        </p:nvSpPr>
        <p:spPr>
          <a:xfrm>
            <a:off x="8107528" y="2697480"/>
            <a:ext cx="114300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6350">
            <a:solidFill>
              <a:schemeClr val="accent6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执行路由</a:t>
            </a:r>
            <a:endParaRPr lang="en-US" sz="1300" dirty="0"/>
          </a:p>
        </p:txBody>
      </p:sp>
      <p:sp>
        <p:nvSpPr>
          <p:cNvPr id="29" name="arrow-226"/>
          <p:cNvSpPr/>
          <p:nvPr/>
        </p:nvSpPr>
        <p:spPr>
          <a:xfrm flipV="1">
            <a:off x="9250528" y="2587752"/>
            <a:ext cx="320040" cy="292608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0" name="arrow-227"/>
          <p:cNvSpPr/>
          <p:nvPr/>
        </p:nvSpPr>
        <p:spPr>
          <a:xfrm>
            <a:off x="9250528" y="3081528"/>
            <a:ext cx="320040" cy="30175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1" name="box-228"/>
          <p:cNvSpPr/>
          <p:nvPr/>
        </p:nvSpPr>
        <p:spPr>
          <a:xfrm>
            <a:off x="9570568" y="2377440"/>
            <a:ext cx="1798168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模型 API · 按调用计费</a:t>
            </a:r>
            <a:endParaRPr lang="en-US" sz="1200" dirty="0"/>
          </a:p>
        </p:txBody>
      </p:sp>
      <p:sp>
        <p:nvSpPr>
          <p:cNvPr id="32" name="box-229"/>
          <p:cNvSpPr/>
          <p:nvPr/>
        </p:nvSpPr>
        <p:spPr>
          <a:xfrm>
            <a:off x="9570568" y="3154680"/>
            <a:ext cx="1798168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本地 CLI · 用已有订阅</a:t>
            </a:r>
            <a:endParaRPr lang="en-US" sz="1200" dirty="0"/>
          </a:p>
        </p:txBody>
      </p:sp>
      <p:sp>
        <p:nvSpPr>
          <p:cNvPr id="33" name="bullets-230"/>
          <p:cNvSpPr txBox="1"/>
          <p:nvPr/>
        </p:nvSpPr>
        <p:spPr>
          <a:xfrm>
            <a:off x="6507328" y="3886200"/>
            <a:ext cx="48614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自动检测本机已登录的 26 种 AI 命令行工具（如 Codex、Claude Code）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每个会话独立配置目录，不混入日常使用记录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执行命令前先征得同意（Codex 全流程支持）；数据留在本机</a:t>
            </a:r>
            <a:endParaRPr lang="en-US" sz="1300" dirty="0"/>
          </a:p>
        </p:txBody>
      </p:sp>
      <p:sp>
        <p:nvSpPr>
          <p:cNvPr id="34" name="label-231"/>
          <p:cNvSpPr txBox="1"/>
          <p:nvPr/>
        </p:nvSpPr>
        <p:spPr>
          <a:xfrm>
            <a:off x="6507328" y="553212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说明：Codex 走完整协议并支持审批；Claude Code 已验证会话隔离；其余工具为通用接入。使用前请确认订阅条款允许此类用法。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使用说明：四步完成一次可追溯的研究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截图来自真实运行的 v3.0 应用。</a:t>
            </a:r>
            <a:endParaRPr lang="en-US" sz="1500" dirty="0"/>
          </a:p>
        </p:txBody>
      </p:sp>
      <p:sp>
        <p:nvSpPr>
          <p:cNvPr id="4" name="label-232"/>
          <p:cNvSpPr txBox="1"/>
          <p:nvPr/>
        </p:nvSpPr>
        <p:spPr>
          <a:xfrm>
            <a:off x="548640" y="1481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① 安装：从 GitHub Releases 下载对应平台安装包；或在源码目录运行 npm run web，用浏览器打开。</a:t>
            </a:r>
            <a:endParaRPr lang="en-US" sz="1300" dirty="0"/>
          </a:p>
        </p:txBody>
      </p:sp>
      <p:sp>
        <p:nvSpPr>
          <p:cNvPr id="5" name="badge-233"/>
          <p:cNvSpPr/>
          <p:nvPr/>
        </p:nvSpPr>
        <p:spPr>
          <a:xfrm>
            <a:off x="548640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label-234"/>
          <p:cNvSpPr txBox="1"/>
          <p:nvPr/>
        </p:nvSpPr>
        <p:spPr>
          <a:xfrm>
            <a:off x="1005840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配置运行时</a:t>
            </a:r>
            <a:endParaRPr lang="en-US" sz="1600" dirty="0"/>
          </a:p>
        </p:txBody>
      </p:sp>
      <p:sp>
        <p:nvSpPr>
          <p:cNvPr id="7" name="label-235"/>
          <p:cNvSpPr txBox="1"/>
          <p:nvPr/>
        </p:nvSpPr>
        <p:spPr>
          <a:xfrm>
            <a:off x="548640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安装后打开“运行时（模型配置）”，绑定本机 AI 命令行工具或填写模型 API。</a:t>
            </a:r>
            <a:endParaRPr lang="en-US" sz="1200" dirty="0"/>
          </a:p>
        </p:txBody>
      </p:sp>
      <p:sp>
        <p:nvSpPr>
          <p:cNvPr id="8" name="badge-236"/>
          <p:cNvSpPr/>
          <p:nvPr/>
        </p:nvSpPr>
        <p:spPr>
          <a:xfrm>
            <a:off x="4353458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9" name="label-237"/>
          <p:cNvSpPr txBox="1"/>
          <p:nvPr/>
        </p:nvSpPr>
        <p:spPr>
          <a:xfrm>
            <a:off x="4810658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提问</a:t>
            </a:r>
            <a:endParaRPr lang="en-US" sz="1600" dirty="0"/>
          </a:p>
        </p:txBody>
      </p:sp>
      <p:sp>
        <p:nvSpPr>
          <p:cNvPr id="10" name="label-238"/>
          <p:cNvSpPr txBox="1"/>
          <p:nvPr/>
        </p:nvSpPr>
        <p:spPr>
          <a:xfrm>
            <a:off x="4353458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直接提问；输入 @ 点名专家，或交给科研小队。</a:t>
            </a:r>
            <a:endParaRPr lang="en-US" sz="1200" dirty="0"/>
          </a:p>
        </p:txBody>
      </p:sp>
      <p:sp>
        <p:nvSpPr>
          <p:cNvPr id="11" name="badge-239"/>
          <p:cNvSpPr/>
          <p:nvPr/>
        </p:nvSpPr>
        <p:spPr>
          <a:xfrm>
            <a:off x="8158277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2" name="label-240"/>
          <p:cNvSpPr txBox="1"/>
          <p:nvPr/>
        </p:nvSpPr>
        <p:spPr>
          <a:xfrm>
            <a:off x="8615477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查看证据</a:t>
            </a:r>
            <a:endParaRPr lang="en-US" sz="1600" dirty="0"/>
          </a:p>
        </p:txBody>
      </p:sp>
      <p:sp>
        <p:nvSpPr>
          <p:cNvPr id="13" name="label-241"/>
          <p:cNvSpPr txBox="1"/>
          <p:nvPr/>
        </p:nvSpPr>
        <p:spPr>
          <a:xfrm>
            <a:off x="8158277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在“证据账本”查看每条证据的状态、来源与历史。</a:t>
            </a:r>
            <a:endParaRPr lang="en-US" sz="1200" dirty="0"/>
          </a:p>
        </p:txBody>
      </p:sp>
      <p:pic>
        <p:nvPicPr>
          <p:cNvPr id="14" name="screenshot-242" descr="自动检测到本机的 Claude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7854" y="2880360"/>
            <a:ext cx="2726350" cy="2834640"/>
          </a:xfrm>
          <a:prstGeom prst="rect">
            <a:avLst/>
          </a:prstGeom>
        </p:spPr>
      </p:pic>
      <p:sp>
        <p:nvSpPr>
          <p:cNvPr id="15" name="frame-243"/>
          <p:cNvSpPr/>
          <p:nvPr/>
        </p:nvSpPr>
        <p:spPr>
          <a:xfrm>
            <a:off x="927854" y="2880360"/>
            <a:ext cx="2726350" cy="28346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6" name="label-244"/>
          <p:cNvSpPr txBox="1"/>
          <p:nvPr/>
        </p:nvSpPr>
        <p:spPr>
          <a:xfrm>
            <a:off x="927854" y="5788152"/>
            <a:ext cx="27263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自动检测到本机的 Claude Code</a:t>
            </a:r>
            <a:endParaRPr lang="en-US" sz="1100" dirty="0"/>
          </a:p>
        </p:txBody>
      </p:sp>
      <p:pic>
        <p:nvPicPr>
          <p:cNvPr id="17" name="screenshot-245" descr="usage-ask-ment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458" y="2880360"/>
            <a:ext cx="3484778" cy="867323"/>
          </a:xfrm>
          <a:prstGeom prst="rect">
            <a:avLst/>
          </a:prstGeom>
        </p:spPr>
      </p:pic>
      <p:sp>
        <p:nvSpPr>
          <p:cNvPr id="18" name="frame-246"/>
          <p:cNvSpPr/>
          <p:nvPr/>
        </p:nvSpPr>
        <p:spPr>
          <a:xfrm>
            <a:off x="4353458" y="2880360"/>
            <a:ext cx="3484778" cy="867323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pic>
        <p:nvPicPr>
          <p:cNvPr id="19" name="screenshot-247" descr="@ 点名专家；工具调用逐步可查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458" y="3931920"/>
            <a:ext cx="3484778" cy="1184825"/>
          </a:xfrm>
          <a:prstGeom prst="rect">
            <a:avLst/>
          </a:prstGeom>
        </p:spPr>
      </p:pic>
      <p:sp>
        <p:nvSpPr>
          <p:cNvPr id="20" name="frame-248"/>
          <p:cNvSpPr/>
          <p:nvPr/>
        </p:nvSpPr>
        <p:spPr>
          <a:xfrm>
            <a:off x="4353458" y="3931920"/>
            <a:ext cx="3484778" cy="118482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1" name="label-249"/>
          <p:cNvSpPr txBox="1"/>
          <p:nvPr/>
        </p:nvSpPr>
        <p:spPr>
          <a:xfrm>
            <a:off x="4353458" y="5189897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@ 点名专家；工具调用逐步可查</a:t>
            </a:r>
            <a:endParaRPr lang="en-US" sz="1100" dirty="0"/>
          </a:p>
        </p:txBody>
      </p:sp>
      <p:pic>
        <p:nvPicPr>
          <p:cNvPr id="22" name="screenshot-250" descr="证据账本：状态、来源、完整历史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277" y="2880360"/>
            <a:ext cx="3484778" cy="2462577"/>
          </a:xfrm>
          <a:prstGeom prst="rect">
            <a:avLst/>
          </a:prstGeom>
        </p:spPr>
      </p:pic>
      <p:sp>
        <p:nvSpPr>
          <p:cNvPr id="23" name="frame-251"/>
          <p:cNvSpPr/>
          <p:nvPr/>
        </p:nvSpPr>
        <p:spPr>
          <a:xfrm>
            <a:off x="8158277" y="2880360"/>
            <a:ext cx="3484778" cy="2462577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4" name="label-252"/>
          <p:cNvSpPr txBox="1"/>
          <p:nvPr/>
        </p:nvSpPr>
        <p:spPr>
          <a:xfrm>
            <a:off x="8158277" y="5416089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证据账本：状态、来源、完整历史</a:t>
            </a:r>
            <a:endParaRPr lang="en-US" sz="1100" dirty="0"/>
          </a:p>
        </p:txBody>
      </p:sp>
      <p:sp>
        <p:nvSpPr>
          <p:cNvPr id="25" name="label-253"/>
          <p:cNvSpPr txBox="1"/>
          <p:nvPr/>
        </p:nvSpPr>
        <p:spPr>
          <a:xfrm>
            <a:off x="548640" y="61722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演示环境使用离线示例模型生成文字；文献为 PubMed 实时检索结果。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当前进展与下一步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设计已全部落地并可下载使用；有效性还需要真实任务上的对照实验来证明。</a:t>
            </a:r>
            <a:endParaRPr lang="en-US" sz="1500" dirty="0"/>
          </a:p>
        </p:txBody>
      </p:sp>
      <p:sp>
        <p:nvSpPr>
          <p:cNvPr id="4" name="card-254"/>
          <p:cNvSpPr/>
          <p:nvPr/>
        </p:nvSpPr>
        <p:spPr>
          <a:xfrm>
            <a:off x="548640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255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256"/>
          <p:cNvSpPr txBox="1"/>
          <p:nvPr/>
        </p:nvSpPr>
        <p:spPr>
          <a:xfrm>
            <a:off x="1325880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已完成</a:t>
            </a:r>
            <a:endParaRPr lang="en-US" sz="1800" dirty="0"/>
          </a:p>
        </p:txBody>
      </p:sp>
      <p:sp>
        <p:nvSpPr>
          <p:cNvPr id="7" name="bullets-257"/>
          <p:cNvSpPr txBox="1"/>
          <p:nvPr/>
        </p:nvSpPr>
        <p:spPr>
          <a:xfrm>
            <a:off x="822960" y="251460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v3.0.0 已发布：macOS、Windows、Linux 安装包和本地 Web 版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三类设计全部落地，并接入桌面端界面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自动化测试在三个平台持续通过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评分只看证据，不再受靶点名称影响</a:t>
            </a:r>
            <a:endParaRPr lang="en-US" sz="1500" dirty="0"/>
          </a:p>
        </p:txBody>
      </p:sp>
      <p:sp>
        <p:nvSpPr>
          <p:cNvPr id="8" name="card-258"/>
          <p:cNvSpPr/>
          <p:nvPr/>
        </p:nvSpPr>
        <p:spPr>
          <a:xfrm>
            <a:off x="4338218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259"/>
          <p:cNvSpPr/>
          <p:nvPr/>
        </p:nvSpPr>
        <p:spPr>
          <a:xfrm>
            <a:off x="4612538" y="1874520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label-260"/>
          <p:cNvSpPr txBox="1"/>
          <p:nvPr/>
        </p:nvSpPr>
        <p:spPr>
          <a:xfrm>
            <a:off x="5115458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尚待验证</a:t>
            </a:r>
            <a:endParaRPr lang="en-US" sz="1800" dirty="0"/>
          </a:p>
        </p:txBody>
      </p:sp>
      <p:sp>
        <p:nvSpPr>
          <p:cNvPr id="11" name="bullets-261"/>
          <p:cNvSpPr txBox="1"/>
          <p:nvPr/>
        </p:nvSpPr>
        <p:spPr>
          <a:xfrm>
            <a:off x="4612538" y="251460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尚未在真实科研任务上做对照实验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判定目前处于“未校准”状态，尚无覆盖率保证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部分本地命令行工具仅为通用接入，待逐一验证</a:t>
            </a:r>
            <a:endParaRPr lang="en-US" sz="1500" dirty="0"/>
          </a:p>
        </p:txBody>
      </p:sp>
      <p:sp>
        <p:nvSpPr>
          <p:cNvPr id="12" name="card-262"/>
          <p:cNvSpPr/>
          <p:nvPr/>
        </p:nvSpPr>
        <p:spPr>
          <a:xfrm>
            <a:off x="8127797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adge-263"/>
          <p:cNvSpPr/>
          <p:nvPr/>
        </p:nvSpPr>
        <p:spPr>
          <a:xfrm>
            <a:off x="8402117" y="187452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label-264"/>
          <p:cNvSpPr txBox="1"/>
          <p:nvPr/>
        </p:nvSpPr>
        <p:spPr>
          <a:xfrm>
            <a:off x="8905037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下一步 · 需要的支持</a:t>
            </a:r>
            <a:endParaRPr lang="en-US" sz="1800" dirty="0"/>
          </a:p>
        </p:txBody>
      </p:sp>
      <p:sp>
        <p:nvSpPr>
          <p:cNvPr id="15" name="bullets-265"/>
          <p:cNvSpPr txBox="1"/>
          <p:nvPr/>
        </p:nvSpPr>
        <p:spPr>
          <a:xfrm>
            <a:off x="8402117" y="251460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组织领域专家标注一批真实假设（支持 / 反驳），用于校准与评测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开展同等预算的对照实验：与扁平记忆、多智能体辩论比较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结果稳定后发布正式版，并整理成论文</a:t>
            </a:r>
            <a:endParaRPr lang="en-US" sz="1500" dirty="0"/>
          </a:p>
        </p:txBody>
      </p:sp>
      <p:sp>
        <p:nvSpPr>
          <p:cNvPr id="16" name="ask-266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label-267"/>
          <p:cNvSpPr txBox="1"/>
          <p:nvPr/>
        </p:nvSpPr>
        <p:spPr>
          <a:xfrm>
            <a:off x="822960" y="57607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请审阅：是否支持开展专家标注与同等预算对照实验（下一步第 1、2 项）。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Science Report">
  <a:themeElements>
    <a:clrScheme name="MedScience Report">
      <a:dk1>
        <a:srgbClr val="1B2533"/>
      </a:dk1>
      <a:lt1>
        <a:srgbClr val="FFFFFF"/>
      </a:lt1>
      <a:dk2>
        <a:srgbClr val="0F2A44"/>
      </a:dk2>
      <a:lt2>
        <a:srgbClr val="F2F5F8"/>
      </a:lt2>
      <a:accent1>
        <a:srgbClr val="0E8A7E"/>
      </a:accent1>
      <a:accent2>
        <a:srgbClr val="1F5F99"/>
      </a:accent2>
      <a:accent3>
        <a:srgbClr val="C9792A"/>
      </a:accent3>
      <a:accent4>
        <a:srgbClr val="6B4FA0"/>
      </a:accent4>
      <a:accent5>
        <a:srgbClr val="B4233A"/>
      </a:accent5>
      <a:accent6>
        <a:srgbClr val="5B6B7C"/>
      </a:accent6>
      <a:hlink>
        <a:srgbClr val="1F5F99"/>
      </a:hlink>
      <a:folHlink>
        <a:srgbClr val="6B4FA0"/>
      </a:folHlink>
    </a:clrScheme>
    <a:fontScheme name="MedScience Report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MedScience 3.0 设计汇报</dc:title>
  <dc:subject>可信科研智能体工作站：设计动机、架构与使用说明</dc:subject>
  <dc:creator>MedScience</dc:creator>
  <cp:lastModifiedBy>MedScience</cp:lastModifiedBy>
  <cp:revision>1</cp:revision>
  <dcterms:created xsi:type="dcterms:W3CDTF">2026-10-05T15:18:50Z</dcterms:created>
  <dcterms:modified xsi:type="dcterms:W3CDTF">2026-10-05T15:18:50Z</dcterms:modified>
</cp:coreProperties>
</file>