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篇" id="{ee0c7886-e5fb-17bd-067c-e9b76fbb8070}">
          <p14:sldIdLst>
            <p14:sldId id="256"/>
          </p14:sldIdLst>
        </p14:section>
        <p14:section name="为什么" id="{d1dbf61d-734f-5cb6-c0e5-a9239dc6af1e}">
          <p14:sldIdLst>
            <p14:sldId id="257"/>
            <p14:sldId id="258"/>
          </p14:sldIdLst>
        </p14:section>
        <p14:section name="怎么设计" id="{a031d981-04ad-afd4-f40f-c860484ad26b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怎么用" id="{2a8d6963-29e3-8203-fa4a-b4d96fb66268}">
          <p14:sldIdLst>
            <p14:sldId id="265"/>
          </p14:sldIdLst>
        </p14:section>
        <p14:section name="下一步" id="{8345fd1b-160f-cb1b-5936-289c7fece2d0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开场一句话：MedScience 是一个面向生物医学研究的科研智能体系统，不是通用聊天助手。3.0 的重点不是让 AI 说得更多，而是让它的结论站得住：有证据、能撤回、可信度说得清，并且数据留在本机。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这一页给出全貌：问题是什么、我们怎么做、做到哪一步。后面按“为什么、怎么设计、怎么用、下一步”的顺序展开，共 11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列是四个痛点，中间是同类方案通常怎么做，右列是我们的回应。前三个对应证据治理设计，核心是第一个：大模型自己无法知道训练之后发生的撤稿、撤市；第二个是低成本的来源标注，其影响待实验验证；第四个对应本地运行时。同类方案只引用公开资料，不评价其未公开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这一页同时回答“有哪几类设计”和“它们在系统里的位置”。A 类证据治理是绿色这一层：实时状态核验（核心，已有原型）、来源可见（已实测现象，待验证影响）、可核查引用（已落地）；B 类是协作层，即科研小队的组织方式；C 类是运行与部署，包括使用入口、执行层和本机数据层，在 2.x 已具备。右侧防护钩子贯穿每一次工具调用。需要强调：这些都是智能体系统层面的设计，没有训练或修改大模型本身。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排是一次科研提问的完整路径，每一步下面的小字是这一步产生的数据。绿色三步是证据治理层：标注每篇论文的上游试验，实时核验每个来源的当前状态，再检查每条结论引用的证据编号都确实来自工具返回的结果。下方是状态核验的回路：发现论文撤稿、试验因无效终止或药品撤市，依赖它的结论当场降级并提示复核。全部用公开数据库现查现算，不需要自建证据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 A 类的核心设计：实时状态核验。为什么必须由系统来做？因为大模型的知识停在训练截止日，它不知道之后发生的撤稿、试验终止和药品撤市。证据会被新研究推翻：论文撤稿、试验因无效终止、药品撤市。系统在回答时核验每个来源的当前状态，一旦失效，只降级真正依赖它的结论。左边伏塞洛托：2019 年凭 HOPE 试验中血红蛋白升高获批，2024 年因上市后死亡增多撤市。结论 A“可用于治疗该病”依赖批准，当场降级；结论 B“能提高血红蛋白”只依赖 HOPE 试验，保持不变——这正是替代指标改善不等于临床获益的典型例子。右边 Makena：2003 年 Meis 试验显示早产风险下降，2020 年确证试验 PROLONG 没有重复出效果，两项试验来自不同受试者，是两项方向相反的独立试验，系统把双方都列出来、标为有争议，不替人裁决；2023 年 FDA 撤销批准后结论降级。这两个案例都在 3.0 原型中写成了自动化测试，文献编号已经 PubMed 核实。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第二点是来源可见。检索结果里经常有多篇论文来自同一个试验，比如左边这个真实例子，问阿贝西利能否用于乳腺癌，前 20 篇里有 6 篇来自同一个三期试验 monarchE。我们的做法很简单：把每篇论文的上游试验编号查出来，随证据一起交给模型和用户，标明“这几篇来自同一试验”。为什么需要系统来做？因为系统目前只给模型标题，仅凭标题，大约只有 15% 的同源论文能被看出来。这一步只做标注、不打分，证据强弱仍由专家判断；它本身是一个低成本的小功能，不作为创新点。它是否真的会改变模型的结论，需要下一页的实验来回答。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这一页分清“已知”和“未知”。左边是已实测的现象：94 个真实问题、1649 篇论文，有试验证据的问题中 40% 存在同源论文，试验类论文中 29% 是重复计数，最多一个问题里有 8 篇来自同一个试验。这是下界。还有一个值得注意的点：已获批药物的同源比例更高，因为获批后会出现大量二次分析，所以“论文多”在一定程度上是成功的结果，而不是证据。右边是未知的部分：这些重复会不会让大模型产生“虚假共识”。我们设计了一个对照实验：同一个问题、同一个模型，只改变证据包——原样、标注来源、去重、再额外加入同一试验的论文——看模型给出的有效概率是否随重复篇数上升。结果决定这个方向的去留：效应存在，就把来源标注接入系统，并作为论文发现；不存在，就放弃。实验用真实论文和公开结局，不需要人工标注，在本机用已订阅的模型工具运行，目前尚未运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左边是多智能体协作：队长拆解任务，成员并行，交接时每条发现都要附证据编号，再过质量门，最后成文。内置 26 位专家、15 个团队模板。右边是本地运行时：很多团队已经买了 ChatGPT（Codex）或 Claude 的订阅，MedScience 可以直接调用本机已登录的命令行工具，沿用现有额度，不需要 API 密钥。注意除 Codex 和 Claude Code 外其他工具是通用接入，并请确认订阅条款允许这样使用。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四步即可：安装、配置运行时、提问、查看证据。左图是运行时自动检测到本机的 Claude Code；中间是用 @ 点名专家，以及智能体调用工具的记录；右图是 3.0 的证据页，每条证据的来源和状态都能查到。截图都来自真实运行的 3.0 应用。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最后是进展和请求。B、C 两类设计已经落地并发布；A 类中，实时状态核验已有原型，并用两个真实案例写成了自动化测试；同源证据的现象已经实测，但它会不会真的影响大模型的结论，还需要实验来回答。下一步先运行这个对照实验，脚本和数据都已备好，不需要人工标注；然后按结果决定来源标注是接入系统还是放弃；同时把实时状态核验接入正式流程。结果稳定后发布正式版，并整理成论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783080"/>
            <a:ext cx="1005840" cy="82296"/>
          </a:xfrm>
          <a:prstGeom prst="rect">
            <a:avLst/>
          </a:prstGeom>
          <a:solidFill>
            <a:srgbClr val="0E8A7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8"/>
          </a:solidFill>
          <a:ln/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0312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548640" y="329184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MedScience 3.0 · 设计汇报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1031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MedScience 3.0</a:t>
            </a:r>
            <a:endParaRPr lang="en-US" sz="48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32918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面向生物医学研究的科研智能体系统 · 设计汇报</a:t>
            </a:r>
            <a:endParaRPr lang="en-US" sz="22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5B6B7C"/>
                </a:solidFill>
              </a:rPr>
              <a:t>让每一个科研结论都有据可查、可以撤回、说得清可信度</a:t>
            </a:r>
            <a:endParaRPr lang="en-US" sz="2200" dirty="0"/>
          </a:p>
        </p:txBody>
      </p:sp>
      <p:sp>
        <p:nvSpPr>
          <p:cNvPr id="4" name="label-1"/>
          <p:cNvSpPr txBox="1"/>
          <p:nvPr/>
        </p:nvSpPr>
        <p:spPr>
          <a:xfrm>
            <a:off x="54864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2026 年 10 月  ·  版本 v3.0.0（预发布）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一页概要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一句话：面向生物医学研究——让科研结论有证据、能撤回、说得清可信度，科研数据不出本机。</a:t>
            </a:r>
            <a:endParaRPr lang="en-US" sz="1500" dirty="0"/>
          </a:p>
        </p:txBody>
      </p:sp>
      <p:sp>
        <p:nvSpPr>
          <p:cNvPr id="4" name="card-2"/>
          <p:cNvSpPr/>
          <p:nvPr/>
        </p:nvSpPr>
        <p:spPr>
          <a:xfrm>
            <a:off x="548640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3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label-4"/>
          <p:cNvSpPr txBox="1"/>
          <p:nvPr/>
        </p:nvSpPr>
        <p:spPr>
          <a:xfrm>
            <a:off x="1325880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要解决的问题</a:t>
            </a:r>
            <a:endParaRPr lang="en-US" sz="1800" dirty="0"/>
          </a:p>
        </p:txBody>
      </p:sp>
      <p:sp>
        <p:nvSpPr>
          <p:cNvPr id="7" name="label-5"/>
          <p:cNvSpPr txBox="1"/>
          <p:nvPr/>
        </p:nvSpPr>
        <p:spPr>
          <a:xfrm>
            <a:off x="822960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能很快给出科研结论，但依据哪些文献和数据、依据被新研究推翻后怎么办、可信度多高，往往说不清。</a:t>
            </a:r>
            <a:endParaRPr lang="en-US" sz="1500" dirty="0"/>
          </a:p>
        </p:txBody>
      </p:sp>
      <p:sp>
        <p:nvSpPr>
          <p:cNvPr id="8" name="card-6"/>
          <p:cNvSpPr/>
          <p:nvPr/>
        </p:nvSpPr>
        <p:spPr>
          <a:xfrm>
            <a:off x="4338218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7"/>
          <p:cNvSpPr/>
          <p:nvPr/>
        </p:nvSpPr>
        <p:spPr>
          <a:xfrm>
            <a:off x="4612538" y="187452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label-8"/>
          <p:cNvSpPr txBox="1"/>
          <p:nvPr/>
        </p:nvSpPr>
        <p:spPr>
          <a:xfrm>
            <a:off x="5115458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我们的做法</a:t>
            </a:r>
            <a:endParaRPr lang="en-US" sz="1800" dirty="0"/>
          </a:p>
        </p:txBody>
      </p:sp>
      <p:sp>
        <p:nvSpPr>
          <p:cNvPr id="11" name="label-9"/>
          <p:cNvSpPr txBox="1"/>
          <p:nvPr/>
        </p:nvSpPr>
        <p:spPr>
          <a:xfrm>
            <a:off x="4612538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三类设计：证据治理（实时核验依据是否已被推翻，标明同源证据）、多智能体协作（像课题组一样分工、审查把关）、本地运行（科研与临床数据留在本机）。</a:t>
            </a:r>
            <a:endParaRPr lang="en-US" sz="1500" dirty="0"/>
          </a:p>
        </p:txBody>
      </p:sp>
      <p:sp>
        <p:nvSpPr>
          <p:cNvPr id="12" name="card-10"/>
          <p:cNvSpPr/>
          <p:nvPr/>
        </p:nvSpPr>
        <p:spPr>
          <a:xfrm>
            <a:off x="8127797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badge-11"/>
          <p:cNvSpPr/>
          <p:nvPr/>
        </p:nvSpPr>
        <p:spPr>
          <a:xfrm>
            <a:off x="8402117" y="1874520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label-12"/>
          <p:cNvSpPr txBox="1"/>
          <p:nvPr/>
        </p:nvSpPr>
        <p:spPr>
          <a:xfrm>
            <a:off x="8905037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当前进展</a:t>
            </a:r>
            <a:endParaRPr lang="en-US" sz="1800" dirty="0"/>
          </a:p>
        </p:txBody>
      </p:sp>
      <p:sp>
        <p:nvSpPr>
          <p:cNvPr id="15" name="label-13"/>
          <p:cNvSpPr txBox="1"/>
          <p:nvPr/>
        </p:nvSpPr>
        <p:spPr>
          <a:xfrm>
            <a:off x="8402117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v3.0.0 已发布：三平台安装包和本地 Web 版。实时核验已有原型；同源证据现象已实测，其影响待实验验证。</a:t>
            </a:r>
            <a:endParaRPr lang="en-US" sz="1500" dirty="0"/>
          </a:p>
        </p:txBody>
      </p:sp>
      <p:sp>
        <p:nvSpPr>
          <p:cNvPr id="16" name="label-14"/>
          <p:cNvSpPr txBox="1"/>
          <p:nvPr/>
        </p:nvSpPr>
        <p:spPr>
          <a:xfrm>
            <a:off x="548640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3 类</a:t>
            </a:r>
            <a:endParaRPr lang="en-US" sz="3400" dirty="0"/>
          </a:p>
        </p:txBody>
      </p:sp>
      <p:sp>
        <p:nvSpPr>
          <p:cNvPr id="17" name="label-15"/>
          <p:cNvSpPr txBox="1"/>
          <p:nvPr/>
        </p:nvSpPr>
        <p:spPr>
          <a:xfrm>
            <a:off x="548640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系统设计</a:t>
            </a:r>
            <a:endParaRPr lang="en-US" sz="1300" dirty="0"/>
          </a:p>
        </p:txBody>
      </p:sp>
      <p:sp>
        <p:nvSpPr>
          <p:cNvPr id="18" name="label-16"/>
          <p:cNvSpPr txBox="1"/>
          <p:nvPr/>
        </p:nvSpPr>
        <p:spPr>
          <a:xfrm>
            <a:off x="3322244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26 位</a:t>
            </a:r>
            <a:endParaRPr lang="en-US" sz="3400" dirty="0"/>
          </a:p>
        </p:txBody>
      </p:sp>
      <p:sp>
        <p:nvSpPr>
          <p:cNvPr id="19" name="label-17"/>
          <p:cNvSpPr txBox="1"/>
          <p:nvPr/>
        </p:nvSpPr>
        <p:spPr>
          <a:xfrm>
            <a:off x="3322244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科研领域专家角色</a:t>
            </a:r>
            <a:endParaRPr lang="en-US" sz="1300" dirty="0"/>
          </a:p>
        </p:txBody>
      </p:sp>
      <p:sp>
        <p:nvSpPr>
          <p:cNvPr id="20" name="label-18"/>
          <p:cNvSpPr txBox="1"/>
          <p:nvPr/>
        </p:nvSpPr>
        <p:spPr>
          <a:xfrm>
            <a:off x="6095848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26 种</a:t>
            </a:r>
            <a:endParaRPr lang="en-US" sz="3400" dirty="0"/>
          </a:p>
        </p:txBody>
      </p:sp>
      <p:sp>
        <p:nvSpPr>
          <p:cNvPr id="21" name="label-19"/>
          <p:cNvSpPr txBox="1"/>
          <p:nvPr/>
        </p:nvSpPr>
        <p:spPr>
          <a:xfrm>
            <a:off x="6095848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本地 AI 命令行工具可接入</a:t>
            </a:r>
            <a:endParaRPr lang="en-US" sz="1300" dirty="0"/>
          </a:p>
        </p:txBody>
      </p:sp>
      <p:sp>
        <p:nvSpPr>
          <p:cNvPr id="22" name="label-20"/>
          <p:cNvSpPr txBox="1"/>
          <p:nvPr/>
        </p:nvSpPr>
        <p:spPr>
          <a:xfrm>
            <a:off x="8869451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4 种</a:t>
            </a:r>
            <a:endParaRPr lang="en-US" sz="3400" dirty="0"/>
          </a:p>
        </p:txBody>
      </p:sp>
      <p:sp>
        <p:nvSpPr>
          <p:cNvPr id="23" name="label-21"/>
          <p:cNvSpPr txBox="1"/>
          <p:nvPr/>
        </p:nvSpPr>
        <p:spPr>
          <a:xfrm>
            <a:off x="8869451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使用方式（三平台 + Web）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问题与定位：科研场景的四个痛点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同类科研智能体各有所长；MedScience 的差异在于“结论治理”与“本地可用”。</a:t>
            </a:r>
            <a:endParaRPr lang="en-US" sz="1500" dirty="0"/>
          </a:p>
        </p:txBody>
      </p:sp>
      <p:graphicFrame>
        <p:nvGraphicFramePr>
          <p:cNvPr id="4" name="table-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383280"/>
                <a:gridCol w="387065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痛点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同类方案的常见做法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MedScience 的回应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依据已被推翻，模型却不知道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撤稿、试验终止、撤市发生在模型训练之后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检索后生成带引用的报告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（如 OpenAI Deep Research）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实时状态核验：回答时查询依据的当前状态，失效即降级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证据看似很多，其实同源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同一试验衍生多篇论文，被重复计数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按篇列出引用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（公开资料未见同源识别）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来源可见：标明哪些论文来自同一试验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引用难以核查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编号可能不存在，或与内容张冠李戴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附参考文献列表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（由用户自行核对）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可核查引用：结论只能引用工具实际返回的证据，并自动检查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数据与成本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临床数据不应出本机；已有订阅仍要另付 API 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以云端服务为主，按 API 调用计费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本地运行：数据留本机，复用已订阅的 AI 命令行工具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label-23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注：同类方案仅依据其公开发布的资料概括，不推断未公开的内部能力。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总体架构：三类设计落在五层结构中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均为科研智能体系统层面的架构设计，不修改基础大模型；底层模型可以随时替换。</a:t>
            </a:r>
            <a:endParaRPr lang="en-US" sz="1500" dirty="0"/>
          </a:p>
        </p:txBody>
      </p:sp>
      <p:sp>
        <p:nvSpPr>
          <p:cNvPr id="4" name="tag-24"/>
          <p:cNvSpPr/>
          <p:nvPr/>
        </p:nvSpPr>
        <p:spPr>
          <a:xfrm>
            <a:off x="548640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</a:t>
            </a:r>
            <a:endParaRPr lang="en-US" sz="1500" dirty="0"/>
          </a:p>
        </p:txBody>
      </p:sp>
      <p:sp>
        <p:nvSpPr>
          <p:cNvPr id="5" name="label-25"/>
          <p:cNvSpPr txBox="1"/>
          <p:nvPr/>
        </p:nvSpPr>
        <p:spPr>
          <a:xfrm>
            <a:off x="1051560" y="1517904"/>
            <a:ext cx="31494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证据治理设计</a:t>
            </a:r>
            <a:endParaRPr lang="en-US" sz="1400" dirty="0"/>
          </a:p>
        </p:txBody>
      </p:sp>
      <p:sp>
        <p:nvSpPr>
          <p:cNvPr id="6" name="label-26"/>
          <p:cNvSpPr txBox="1"/>
          <p:nvPr/>
        </p:nvSpPr>
        <p:spPr>
          <a:xfrm>
            <a:off x="1051560" y="1764792"/>
            <a:ext cx="3149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管“结论凭什么成立”</a:t>
            </a:r>
            <a:endParaRPr lang="en-US" sz="1150" dirty="0"/>
          </a:p>
        </p:txBody>
      </p:sp>
      <p:sp>
        <p:nvSpPr>
          <p:cNvPr id="7" name="tag-27"/>
          <p:cNvSpPr/>
          <p:nvPr/>
        </p:nvSpPr>
        <p:spPr>
          <a:xfrm>
            <a:off x="4246778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</a:t>
            </a:r>
            <a:endParaRPr lang="en-US" sz="1500" dirty="0"/>
          </a:p>
        </p:txBody>
      </p:sp>
      <p:sp>
        <p:nvSpPr>
          <p:cNvPr id="8" name="label-28"/>
          <p:cNvSpPr txBox="1"/>
          <p:nvPr/>
        </p:nvSpPr>
        <p:spPr>
          <a:xfrm>
            <a:off x="4749698" y="1517904"/>
            <a:ext cx="31494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多智能体协作设计</a:t>
            </a:r>
            <a:endParaRPr lang="en-US" sz="1400" dirty="0"/>
          </a:p>
        </p:txBody>
      </p:sp>
      <p:sp>
        <p:nvSpPr>
          <p:cNvPr id="9" name="label-29"/>
          <p:cNvSpPr txBox="1"/>
          <p:nvPr/>
        </p:nvSpPr>
        <p:spPr>
          <a:xfrm>
            <a:off x="4749698" y="1764792"/>
            <a:ext cx="3149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管“谁来做、谁把关”</a:t>
            </a:r>
            <a:endParaRPr lang="en-US" sz="1150" dirty="0"/>
          </a:p>
        </p:txBody>
      </p:sp>
      <p:sp>
        <p:nvSpPr>
          <p:cNvPr id="10" name="tag-30"/>
          <p:cNvSpPr/>
          <p:nvPr/>
        </p:nvSpPr>
        <p:spPr>
          <a:xfrm>
            <a:off x="7944917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</a:t>
            </a:r>
            <a:endParaRPr lang="en-US" sz="1500" dirty="0"/>
          </a:p>
        </p:txBody>
      </p:sp>
      <p:sp>
        <p:nvSpPr>
          <p:cNvPr id="11" name="label-31"/>
          <p:cNvSpPr txBox="1"/>
          <p:nvPr/>
        </p:nvSpPr>
        <p:spPr>
          <a:xfrm>
            <a:off x="8447837" y="1517904"/>
            <a:ext cx="31494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运行时与部署设计</a:t>
            </a:r>
            <a:endParaRPr lang="en-US" sz="1400" dirty="0"/>
          </a:p>
        </p:txBody>
      </p:sp>
      <p:sp>
        <p:nvSpPr>
          <p:cNvPr id="12" name="label-32"/>
          <p:cNvSpPr txBox="1"/>
          <p:nvPr/>
        </p:nvSpPr>
        <p:spPr>
          <a:xfrm>
            <a:off x="8447837" y="1764792"/>
            <a:ext cx="3149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管“在哪里跑、用谁的额度”</a:t>
            </a:r>
            <a:endParaRPr lang="en-US" sz="1150" dirty="0"/>
          </a:p>
        </p:txBody>
      </p:sp>
      <p:sp>
        <p:nvSpPr>
          <p:cNvPr id="13" name="box-33"/>
          <p:cNvSpPr/>
          <p:nvPr/>
        </p:nvSpPr>
        <p:spPr>
          <a:xfrm>
            <a:off x="548640" y="224028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 · 使用入口</a:t>
            </a:r>
            <a:endParaRPr lang="en-US" sz="1400" dirty="0"/>
          </a:p>
        </p:txBody>
      </p:sp>
      <p:sp>
        <p:nvSpPr>
          <p:cNvPr id="14" name="layer-34"/>
          <p:cNvSpPr/>
          <p:nvPr/>
        </p:nvSpPr>
        <p:spPr>
          <a:xfrm>
            <a:off x="2286000" y="224028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15" name="box-35"/>
          <p:cNvSpPr/>
          <p:nvPr/>
        </p:nvSpPr>
        <p:spPr>
          <a:xfrm>
            <a:off x="2423160" y="2350008"/>
            <a:ext cx="361188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桌面端（macOS / Windows / Linux）</a:t>
            </a:r>
            <a:endParaRPr lang="en-US" sz="1250" dirty="0"/>
          </a:p>
        </p:txBody>
      </p:sp>
      <p:sp>
        <p:nvSpPr>
          <p:cNvPr id="16" name="box-36"/>
          <p:cNvSpPr/>
          <p:nvPr/>
        </p:nvSpPr>
        <p:spPr>
          <a:xfrm>
            <a:off x="6172200" y="2350008"/>
            <a:ext cx="361188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本地 Web（仅本机可访问）</a:t>
            </a:r>
            <a:endParaRPr lang="en-US" sz="1250" dirty="0"/>
          </a:p>
        </p:txBody>
      </p:sp>
      <p:sp>
        <p:nvSpPr>
          <p:cNvPr id="17" name="box-37"/>
          <p:cNvSpPr/>
          <p:nvPr/>
        </p:nvSpPr>
        <p:spPr>
          <a:xfrm>
            <a:off x="548640" y="301752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 · 协作层</a:t>
            </a:r>
            <a:endParaRPr lang="en-US" sz="1400" dirty="0"/>
          </a:p>
        </p:txBody>
      </p:sp>
      <p:sp>
        <p:nvSpPr>
          <p:cNvPr id="18" name="layer-38"/>
          <p:cNvSpPr/>
          <p:nvPr/>
        </p:nvSpPr>
        <p:spPr>
          <a:xfrm>
            <a:off x="2286000" y="301752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19" name="box-39"/>
          <p:cNvSpPr/>
          <p:nvPr/>
        </p:nvSpPr>
        <p:spPr>
          <a:xfrm>
            <a:off x="242316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队长规划</a:t>
            </a:r>
            <a:endParaRPr lang="en-US" sz="1250" dirty="0"/>
          </a:p>
        </p:txBody>
      </p:sp>
      <p:sp>
        <p:nvSpPr>
          <p:cNvPr id="20" name="box-40"/>
          <p:cNvSpPr/>
          <p:nvPr/>
        </p:nvSpPr>
        <p:spPr>
          <a:xfrm>
            <a:off x="429768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成员并行执行</a:t>
            </a:r>
            <a:endParaRPr lang="en-US" sz="1250" dirty="0"/>
          </a:p>
        </p:txBody>
      </p:sp>
      <p:sp>
        <p:nvSpPr>
          <p:cNvPr id="21" name="box-41"/>
          <p:cNvSpPr/>
          <p:nvPr/>
        </p:nvSpPr>
        <p:spPr>
          <a:xfrm>
            <a:off x="617220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审查员质量门</a:t>
            </a:r>
            <a:endParaRPr lang="en-US" sz="1250" dirty="0"/>
          </a:p>
        </p:txBody>
      </p:sp>
      <p:sp>
        <p:nvSpPr>
          <p:cNvPr id="22" name="box-42"/>
          <p:cNvSpPr/>
          <p:nvPr/>
        </p:nvSpPr>
        <p:spPr>
          <a:xfrm>
            <a:off x="804672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写作专家综合</a:t>
            </a:r>
            <a:endParaRPr lang="en-US" sz="1250" dirty="0"/>
          </a:p>
        </p:txBody>
      </p:sp>
      <p:sp>
        <p:nvSpPr>
          <p:cNvPr id="23" name="box-43"/>
          <p:cNvSpPr/>
          <p:nvPr/>
        </p:nvSpPr>
        <p:spPr>
          <a:xfrm>
            <a:off x="548640" y="379476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 · 证据治理层</a:t>
            </a:r>
            <a:endParaRPr lang="en-US" sz="1400" dirty="0"/>
          </a:p>
        </p:txBody>
      </p:sp>
      <p:sp>
        <p:nvSpPr>
          <p:cNvPr id="24" name="layer-44"/>
          <p:cNvSpPr/>
          <p:nvPr/>
        </p:nvSpPr>
        <p:spPr>
          <a:xfrm>
            <a:off x="2286000" y="379476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E3F3F1"/>
          </a:solidFill>
          <a:ln w="19050">
            <a:solidFill>
              <a:srgbClr val="0E8A7E"/>
            </a:solidFill>
            <a:prstDash val="solid"/>
          </a:ln>
        </p:spPr>
      </p:sp>
      <p:sp>
        <p:nvSpPr>
          <p:cNvPr id="25" name="box-45"/>
          <p:cNvSpPr/>
          <p:nvPr/>
        </p:nvSpPr>
        <p:spPr>
          <a:xfrm>
            <a:off x="2423160" y="3904488"/>
            <a:ext cx="236220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实时状态核验</a:t>
            </a:r>
            <a:endParaRPr lang="en-US" sz="1250" dirty="0"/>
          </a:p>
        </p:txBody>
      </p:sp>
      <p:sp>
        <p:nvSpPr>
          <p:cNvPr id="26" name="box-46"/>
          <p:cNvSpPr/>
          <p:nvPr/>
        </p:nvSpPr>
        <p:spPr>
          <a:xfrm>
            <a:off x="4922520" y="3904488"/>
            <a:ext cx="236220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来源可见</a:t>
            </a:r>
            <a:endParaRPr lang="en-US" sz="1250" dirty="0"/>
          </a:p>
        </p:txBody>
      </p:sp>
      <p:sp>
        <p:nvSpPr>
          <p:cNvPr id="27" name="box-47"/>
          <p:cNvSpPr/>
          <p:nvPr/>
        </p:nvSpPr>
        <p:spPr>
          <a:xfrm>
            <a:off x="7421880" y="3904488"/>
            <a:ext cx="236220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可核查引用</a:t>
            </a:r>
            <a:endParaRPr lang="en-US" sz="1250" dirty="0"/>
          </a:p>
        </p:txBody>
      </p:sp>
      <p:sp>
        <p:nvSpPr>
          <p:cNvPr id="28" name="box-48"/>
          <p:cNvSpPr/>
          <p:nvPr/>
        </p:nvSpPr>
        <p:spPr>
          <a:xfrm>
            <a:off x="548640" y="457200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 · 执行层</a:t>
            </a:r>
            <a:endParaRPr lang="en-US" sz="1400" dirty="0"/>
          </a:p>
        </p:txBody>
      </p:sp>
      <p:sp>
        <p:nvSpPr>
          <p:cNvPr id="29" name="layer-49"/>
          <p:cNvSpPr/>
          <p:nvPr/>
        </p:nvSpPr>
        <p:spPr>
          <a:xfrm>
            <a:off x="2286000" y="457200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30" name="box-50"/>
          <p:cNvSpPr/>
          <p:nvPr/>
        </p:nvSpPr>
        <p:spPr>
          <a:xfrm>
            <a:off x="242316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模型 API</a:t>
            </a:r>
            <a:endParaRPr lang="en-US" sz="1250" dirty="0"/>
          </a:p>
        </p:txBody>
      </p:sp>
      <p:sp>
        <p:nvSpPr>
          <p:cNvPr id="31" name="box-51"/>
          <p:cNvSpPr/>
          <p:nvPr/>
        </p:nvSpPr>
        <p:spPr>
          <a:xfrm>
            <a:off x="429768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本地 CLI 运行时</a:t>
            </a:r>
            <a:endParaRPr lang="en-US" sz="1250" dirty="0"/>
          </a:p>
        </p:txBody>
      </p:sp>
      <p:sp>
        <p:nvSpPr>
          <p:cNvPr id="32" name="box-52"/>
          <p:cNvSpPr/>
          <p:nvPr/>
        </p:nvSpPr>
        <p:spPr>
          <a:xfrm>
            <a:off x="617220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科研数据库连接器</a:t>
            </a:r>
            <a:endParaRPr lang="en-US" sz="1250" dirty="0"/>
          </a:p>
        </p:txBody>
      </p:sp>
      <p:sp>
        <p:nvSpPr>
          <p:cNvPr id="33" name="box-53"/>
          <p:cNvSpPr/>
          <p:nvPr/>
        </p:nvSpPr>
        <p:spPr>
          <a:xfrm>
            <a:off x="804672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内核级沙盒</a:t>
            </a:r>
            <a:endParaRPr lang="en-US" sz="1250" dirty="0"/>
          </a:p>
        </p:txBody>
      </p:sp>
      <p:sp>
        <p:nvSpPr>
          <p:cNvPr id="34" name="box-54"/>
          <p:cNvSpPr/>
          <p:nvPr/>
        </p:nvSpPr>
        <p:spPr>
          <a:xfrm>
            <a:off x="548640" y="534924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 · 数据层</a:t>
            </a:r>
            <a:endParaRPr lang="en-US" sz="1400" dirty="0"/>
          </a:p>
        </p:txBody>
      </p:sp>
      <p:sp>
        <p:nvSpPr>
          <p:cNvPr id="35" name="layer-55"/>
          <p:cNvSpPr/>
          <p:nvPr/>
        </p:nvSpPr>
        <p:spPr>
          <a:xfrm>
            <a:off x="2286000" y="534924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36" name="box-56"/>
          <p:cNvSpPr/>
          <p:nvPr/>
        </p:nvSpPr>
        <p:spPr>
          <a:xfrm>
            <a:off x="2423160" y="5458968"/>
            <a:ext cx="736092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本机 ~/.medscience：会话 · 加密密钥库 · 配置 · 公开数据缓存</a:t>
            </a:r>
            <a:endParaRPr lang="en-US" sz="1250" dirty="0"/>
          </a:p>
        </p:txBody>
      </p:sp>
      <p:sp>
        <p:nvSpPr>
          <p:cNvPr id="37" name="hooks-57"/>
          <p:cNvSpPr/>
          <p:nvPr/>
        </p:nvSpPr>
        <p:spPr>
          <a:xfrm>
            <a:off x="10104120" y="2240280"/>
            <a:ext cx="1538935" cy="3767328"/>
          </a:xfrm>
          <a:prstGeom prst="roundRect">
            <a:avLst>
              <a:gd name="adj" fmla="val 47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8" name="label-58"/>
          <p:cNvSpPr txBox="1"/>
          <p:nvPr/>
        </p:nvSpPr>
        <p:spPr>
          <a:xfrm>
            <a:off x="10195560" y="2377440"/>
            <a:ext cx="1356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防护钩子</a:t>
            </a:r>
            <a:endParaRPr lang="en-US" sz="1500" dirty="0"/>
          </a:p>
        </p:txBody>
      </p:sp>
      <p:sp>
        <p:nvSpPr>
          <p:cNvPr id="39" name="label-59"/>
          <p:cNvSpPr txBox="1"/>
          <p:nvPr/>
        </p:nvSpPr>
        <p:spPr>
          <a:xfrm>
            <a:off x="10195560" y="2715768"/>
            <a:ext cx="1356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9C7D6"/>
                </a:solidFill>
              </a:rPr>
              <a:t>贯穿每次工具调用</a:t>
            </a:r>
            <a:endParaRPr lang="en-US" sz="1050" dirty="0"/>
          </a:p>
        </p:txBody>
      </p:sp>
      <p:sp>
        <p:nvSpPr>
          <p:cNvPr id="40" name="box-60"/>
          <p:cNvSpPr/>
          <p:nvPr/>
        </p:nvSpPr>
        <p:spPr>
          <a:xfrm>
            <a:off x="10268712" y="3108960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密钥脱敏</a:t>
            </a:r>
            <a:endParaRPr lang="en-US" sz="1200" dirty="0"/>
          </a:p>
        </p:txBody>
      </p:sp>
      <p:sp>
        <p:nvSpPr>
          <p:cNvPr id="41" name="box-61"/>
          <p:cNvSpPr/>
          <p:nvPr/>
        </p:nvSpPr>
        <p:spPr>
          <a:xfrm>
            <a:off x="10268712" y="3767328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临床数据门</a:t>
            </a:r>
            <a:endParaRPr lang="en-US" sz="1200" dirty="0"/>
          </a:p>
        </p:txBody>
      </p:sp>
      <p:sp>
        <p:nvSpPr>
          <p:cNvPr id="42" name="box-62"/>
          <p:cNvSpPr/>
          <p:nvPr/>
        </p:nvSpPr>
        <p:spPr>
          <a:xfrm>
            <a:off x="10268712" y="4425696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证据数值核验</a:t>
            </a:r>
            <a:endParaRPr lang="en-US" sz="1200" dirty="0"/>
          </a:p>
        </p:txBody>
      </p:sp>
      <p:sp>
        <p:nvSpPr>
          <p:cNvPr id="43" name="box-63"/>
          <p:cNvSpPr/>
          <p:nvPr/>
        </p:nvSpPr>
        <p:spPr>
          <a:xfrm>
            <a:off x="10268712" y="5084064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引用完整性检查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一次科研提问的数据流转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每一步都留下记录；依据被新研究推翻时，结论会被“追回”。</a:t>
            </a:r>
            <a:endParaRPr lang="en-US" sz="1500" dirty="0"/>
          </a:p>
        </p:txBody>
      </p:sp>
      <p:sp>
        <p:nvSpPr>
          <p:cNvPr id="4" name="badge-64"/>
          <p:cNvSpPr/>
          <p:nvPr/>
        </p:nvSpPr>
        <p:spPr>
          <a:xfrm>
            <a:off x="988295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box-65"/>
          <p:cNvSpPr/>
          <p:nvPr/>
        </p:nvSpPr>
        <p:spPr>
          <a:xfrm>
            <a:off x="548640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提问</a:t>
            </a:r>
            <a:endParaRPr lang="en-US" sz="1350" dirty="0"/>
          </a:p>
        </p:txBody>
      </p:sp>
      <p:sp>
        <p:nvSpPr>
          <p:cNvPr id="6" name="label-66"/>
          <p:cNvSpPr txBox="1"/>
          <p:nvPr/>
        </p:nvSpPr>
        <p:spPr>
          <a:xfrm>
            <a:off x="502920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研究问题</a:t>
            </a:r>
            <a:endParaRPr lang="en-US" sz="1150" dirty="0"/>
          </a:p>
        </p:txBody>
      </p:sp>
      <p:sp>
        <p:nvSpPr>
          <p:cNvPr id="7" name="arrow-67"/>
          <p:cNvSpPr/>
          <p:nvPr/>
        </p:nvSpPr>
        <p:spPr>
          <a:xfrm>
            <a:off x="1793710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8" name="badge-68"/>
          <p:cNvSpPr/>
          <p:nvPr/>
        </p:nvSpPr>
        <p:spPr>
          <a:xfrm>
            <a:off x="2397957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box-69"/>
          <p:cNvSpPr/>
          <p:nvPr/>
        </p:nvSpPr>
        <p:spPr>
          <a:xfrm>
            <a:off x="1958302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规划分工</a:t>
            </a:r>
            <a:endParaRPr lang="en-US" sz="1350" dirty="0"/>
          </a:p>
        </p:txBody>
      </p:sp>
      <p:sp>
        <p:nvSpPr>
          <p:cNvPr id="10" name="label-70"/>
          <p:cNvSpPr txBox="1"/>
          <p:nvPr/>
        </p:nvSpPr>
        <p:spPr>
          <a:xfrm>
            <a:off x="1912582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任务清单</a:t>
            </a:r>
            <a:endParaRPr lang="en-US" sz="1150" dirty="0"/>
          </a:p>
        </p:txBody>
      </p:sp>
      <p:sp>
        <p:nvSpPr>
          <p:cNvPr id="11" name="arrow-71"/>
          <p:cNvSpPr/>
          <p:nvPr/>
        </p:nvSpPr>
        <p:spPr>
          <a:xfrm>
            <a:off x="3203372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2" name="badge-72"/>
          <p:cNvSpPr/>
          <p:nvPr/>
        </p:nvSpPr>
        <p:spPr>
          <a:xfrm>
            <a:off x="3807619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box-73"/>
          <p:cNvSpPr/>
          <p:nvPr/>
        </p:nvSpPr>
        <p:spPr>
          <a:xfrm>
            <a:off x="3367964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检索证据</a:t>
            </a:r>
            <a:endParaRPr lang="en-US" sz="1350" dirty="0"/>
          </a:p>
        </p:txBody>
      </p:sp>
      <p:sp>
        <p:nvSpPr>
          <p:cNvPr id="14" name="label-74"/>
          <p:cNvSpPr txBox="1"/>
          <p:nvPr/>
        </p:nvSpPr>
        <p:spPr>
          <a:xfrm>
            <a:off x="3322244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文献与数据库结果</a:t>
            </a:r>
            <a:endParaRPr lang="en-US" sz="1150" dirty="0"/>
          </a:p>
        </p:txBody>
      </p:sp>
      <p:sp>
        <p:nvSpPr>
          <p:cNvPr id="15" name="arrow-75"/>
          <p:cNvSpPr/>
          <p:nvPr/>
        </p:nvSpPr>
        <p:spPr>
          <a:xfrm>
            <a:off x="4613034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6" name="badge-76"/>
          <p:cNvSpPr/>
          <p:nvPr/>
        </p:nvSpPr>
        <p:spPr>
          <a:xfrm>
            <a:off x="5217281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7" name="box-77"/>
          <p:cNvSpPr/>
          <p:nvPr/>
        </p:nvSpPr>
        <p:spPr>
          <a:xfrm>
            <a:off x="4777626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数值核验</a:t>
            </a:r>
            <a:endParaRPr lang="en-US" sz="1350" dirty="0"/>
          </a:p>
        </p:txBody>
      </p:sp>
      <p:sp>
        <p:nvSpPr>
          <p:cNvPr id="18" name="label-78"/>
          <p:cNvSpPr txBox="1"/>
          <p:nvPr/>
        </p:nvSpPr>
        <p:spPr>
          <a:xfrm>
            <a:off x="4731906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会话证据 EV-n</a:t>
            </a:r>
            <a:endParaRPr lang="en-US" sz="1150" dirty="0"/>
          </a:p>
        </p:txBody>
      </p:sp>
      <p:sp>
        <p:nvSpPr>
          <p:cNvPr id="19" name="arrow-79"/>
          <p:cNvSpPr/>
          <p:nvPr/>
        </p:nvSpPr>
        <p:spPr>
          <a:xfrm>
            <a:off x="6022696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0" name="badge-80"/>
          <p:cNvSpPr/>
          <p:nvPr/>
        </p:nvSpPr>
        <p:spPr>
          <a:xfrm>
            <a:off x="6626943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1" name="box-81"/>
          <p:cNvSpPr/>
          <p:nvPr/>
        </p:nvSpPr>
        <p:spPr>
          <a:xfrm>
            <a:off x="6187288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来源标注</a:t>
            </a:r>
            <a:endParaRPr lang="en-US" sz="1350" dirty="0"/>
          </a:p>
        </p:txBody>
      </p:sp>
      <p:sp>
        <p:nvSpPr>
          <p:cNvPr id="22" name="label-82"/>
          <p:cNvSpPr txBox="1"/>
          <p:nvPr/>
        </p:nvSpPr>
        <p:spPr>
          <a:xfrm>
            <a:off x="6141568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同源关系</a:t>
            </a:r>
            <a:endParaRPr lang="en-US" sz="1150" dirty="0"/>
          </a:p>
        </p:txBody>
      </p:sp>
      <p:sp>
        <p:nvSpPr>
          <p:cNvPr id="23" name="arrow-83"/>
          <p:cNvSpPr/>
          <p:nvPr/>
        </p:nvSpPr>
        <p:spPr>
          <a:xfrm>
            <a:off x="7432357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4" name="badge-84"/>
          <p:cNvSpPr/>
          <p:nvPr/>
        </p:nvSpPr>
        <p:spPr>
          <a:xfrm>
            <a:off x="8036604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5" name="box-85"/>
          <p:cNvSpPr/>
          <p:nvPr/>
        </p:nvSpPr>
        <p:spPr>
          <a:xfrm>
            <a:off x="7596950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状态核验</a:t>
            </a:r>
            <a:endParaRPr lang="en-US" sz="1350" dirty="0"/>
          </a:p>
        </p:txBody>
      </p:sp>
      <p:sp>
        <p:nvSpPr>
          <p:cNvPr id="26" name="label-86"/>
          <p:cNvSpPr txBox="1"/>
          <p:nvPr/>
        </p:nvSpPr>
        <p:spPr>
          <a:xfrm>
            <a:off x="7551230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撤稿 / 终止 / 撤市</a:t>
            </a:r>
            <a:endParaRPr lang="en-US" sz="1150" dirty="0"/>
          </a:p>
        </p:txBody>
      </p:sp>
      <p:sp>
        <p:nvSpPr>
          <p:cNvPr id="27" name="arrow-87"/>
          <p:cNvSpPr/>
          <p:nvPr/>
        </p:nvSpPr>
        <p:spPr>
          <a:xfrm>
            <a:off x="8842019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8" name="badge-88"/>
          <p:cNvSpPr/>
          <p:nvPr/>
        </p:nvSpPr>
        <p:spPr>
          <a:xfrm>
            <a:off x="9446266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29" name="box-89"/>
          <p:cNvSpPr/>
          <p:nvPr/>
        </p:nvSpPr>
        <p:spPr>
          <a:xfrm>
            <a:off x="9006611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引用检查</a:t>
            </a:r>
            <a:endParaRPr lang="en-US" sz="1350" dirty="0"/>
          </a:p>
        </p:txBody>
      </p:sp>
      <p:sp>
        <p:nvSpPr>
          <p:cNvPr id="30" name="label-90"/>
          <p:cNvSpPr txBox="1"/>
          <p:nvPr/>
        </p:nvSpPr>
        <p:spPr>
          <a:xfrm>
            <a:off x="8960891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证据编号存在</a:t>
            </a:r>
            <a:endParaRPr lang="en-US" sz="1150" dirty="0"/>
          </a:p>
        </p:txBody>
      </p:sp>
      <p:sp>
        <p:nvSpPr>
          <p:cNvPr id="31" name="arrow-91"/>
          <p:cNvSpPr/>
          <p:nvPr/>
        </p:nvSpPr>
        <p:spPr>
          <a:xfrm>
            <a:off x="10251681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2" name="badge-92"/>
          <p:cNvSpPr/>
          <p:nvPr/>
        </p:nvSpPr>
        <p:spPr>
          <a:xfrm>
            <a:off x="10855928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33" name="box-93"/>
          <p:cNvSpPr/>
          <p:nvPr/>
        </p:nvSpPr>
        <p:spPr>
          <a:xfrm>
            <a:off x="10416273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输出结论</a:t>
            </a:r>
            <a:endParaRPr lang="en-US" sz="1350" dirty="0"/>
          </a:p>
        </p:txBody>
      </p:sp>
      <p:sp>
        <p:nvSpPr>
          <p:cNvPr id="34" name="label-94"/>
          <p:cNvSpPr txBox="1"/>
          <p:nvPr/>
        </p:nvSpPr>
        <p:spPr>
          <a:xfrm>
            <a:off x="10370553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结论 + 证据编号</a:t>
            </a:r>
            <a:endParaRPr lang="en-US" sz="1150" dirty="0"/>
          </a:p>
        </p:txBody>
      </p:sp>
      <p:sp>
        <p:nvSpPr>
          <p:cNvPr id="35" name="legend-95"/>
          <p:cNvSpPr/>
          <p:nvPr/>
        </p:nvSpPr>
        <p:spPr>
          <a:xfrm>
            <a:off x="548640" y="3566160"/>
            <a:ext cx="274320" cy="182880"/>
          </a:xfrm>
          <a:prstGeom prst="roundRect">
            <a:avLst>
              <a:gd name="adj" fmla="val 15000"/>
            </a:avLst>
          </a:prstGeom>
          <a:solidFill>
            <a:srgbClr val="E3F3F1"/>
          </a:solidFill>
          <a:ln w="12700">
            <a:solidFill>
              <a:srgbClr val="0E8A7E"/>
            </a:solidFill>
            <a:prstDash val="solid"/>
          </a:ln>
        </p:spPr>
      </p:sp>
      <p:sp>
        <p:nvSpPr>
          <p:cNvPr id="36" name="label-96"/>
          <p:cNvSpPr txBox="1"/>
          <p:nvPr/>
        </p:nvSpPr>
        <p:spPr>
          <a:xfrm>
            <a:off x="91440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绿色：由证据治理层（A 类）完成的步骤</a:t>
            </a:r>
            <a:endParaRPr lang="en-US" sz="1150" dirty="0"/>
          </a:p>
        </p:txBody>
      </p:sp>
      <p:sp>
        <p:nvSpPr>
          <p:cNvPr id="37" name="card-97"/>
          <p:cNvSpPr/>
          <p:nvPr/>
        </p:nvSpPr>
        <p:spPr>
          <a:xfrm>
            <a:off x="548640" y="4160520"/>
            <a:ext cx="11094415" cy="1965960"/>
          </a:xfrm>
          <a:prstGeom prst="roundRect">
            <a:avLst>
              <a:gd name="adj" fmla="val 4651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38" name="label-98"/>
          <p:cNvSpPr txBox="1"/>
          <p:nvPr/>
        </p:nvSpPr>
        <p:spPr>
          <a:xfrm>
            <a:off x="82296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依据被推翻时的回路</a:t>
            </a:r>
            <a:endParaRPr lang="en-US" sz="1500" dirty="0"/>
          </a:p>
        </p:txBody>
      </p:sp>
      <p:sp>
        <p:nvSpPr>
          <p:cNvPr id="39" name="box-99"/>
          <p:cNvSpPr/>
          <p:nvPr/>
        </p:nvSpPr>
        <p:spPr>
          <a:xfrm>
            <a:off x="822960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回答时核验每个来源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（撤稿 / 试验终止 / 撤市）</a:t>
            </a:r>
            <a:endParaRPr lang="en-US" sz="1300" dirty="0"/>
          </a:p>
        </p:txBody>
      </p:sp>
      <p:sp>
        <p:nvSpPr>
          <p:cNvPr id="40" name="arrow-100"/>
          <p:cNvSpPr/>
          <p:nvPr/>
        </p:nvSpPr>
        <p:spPr>
          <a:xfrm>
            <a:off x="3178226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1" name="box-101"/>
          <p:cNvSpPr/>
          <p:nvPr/>
        </p:nvSpPr>
        <p:spPr>
          <a:xfrm>
            <a:off x="3562274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发现已失效的来源</a:t>
            </a:r>
            <a:endParaRPr lang="en-US" sz="1300" dirty="0"/>
          </a:p>
        </p:txBody>
      </p:sp>
      <p:sp>
        <p:nvSpPr>
          <p:cNvPr id="42" name="arrow-102"/>
          <p:cNvSpPr/>
          <p:nvPr/>
        </p:nvSpPr>
        <p:spPr>
          <a:xfrm>
            <a:off x="5917540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3" name="box-103"/>
          <p:cNvSpPr/>
          <p:nvPr/>
        </p:nvSpPr>
        <p:spPr>
          <a:xfrm>
            <a:off x="6301588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依赖它的结论：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当场降级</a:t>
            </a:r>
            <a:endParaRPr lang="en-US" sz="1300" dirty="0"/>
          </a:p>
        </p:txBody>
      </p:sp>
      <p:sp>
        <p:nvSpPr>
          <p:cNvPr id="44" name="arrow-104"/>
          <p:cNvSpPr/>
          <p:nvPr/>
        </p:nvSpPr>
        <p:spPr>
          <a:xfrm>
            <a:off x="8656853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5" name="box-105"/>
          <p:cNvSpPr/>
          <p:nvPr/>
        </p:nvSpPr>
        <p:spPr>
          <a:xfrm>
            <a:off x="9040901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提示复核：列出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受影响的证据线</a:t>
            </a:r>
            <a:endParaRPr lang="en-US" sz="1300" dirty="0"/>
          </a:p>
        </p:txBody>
      </p:sp>
      <p:sp>
        <p:nvSpPr>
          <p:cNvPr id="46" name="label-106"/>
          <p:cNvSpPr txBox="1"/>
          <p:nvPr/>
        </p:nvSpPr>
        <p:spPr>
          <a:xfrm>
            <a:off x="822960" y="576072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例：2024 年伏塞洛托（Oxbryta）因上市后数据显示死亡增多而撤市 → 核验发现“批准”已失效 → “可用于治疗镰状细胞病”的结论当场降级。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核心设计：实时状态核验——依据被推翻，结论当场降级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大模型的知识停在训练截止日；回答时实时查询撤稿、试验终止、药品撤市，只降级真正依赖失效来源的结论。</a:t>
            </a:r>
            <a:endParaRPr lang="en-US" sz="1500" dirty="0"/>
          </a:p>
        </p:txBody>
      </p:sp>
      <p:sp>
        <p:nvSpPr>
          <p:cNvPr id="4" name="card-107"/>
          <p:cNvSpPr/>
          <p:nvPr/>
        </p:nvSpPr>
        <p:spPr>
          <a:xfrm>
            <a:off x="548640" y="1600200"/>
            <a:ext cx="5410048" cy="4343400"/>
          </a:xfrm>
          <a:prstGeom prst="roundRect">
            <a:avLst>
              <a:gd name="adj" fmla="val 2105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5" name="label-108"/>
          <p:cNvSpPr txBox="1"/>
          <p:nvPr/>
        </p:nvSpPr>
        <p:spPr>
          <a:xfrm>
            <a:off x="822960" y="1755648"/>
            <a:ext cx="4861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案例一：伏塞洛托（Oxbryta），镰状细胞病</a:t>
            </a:r>
            <a:endParaRPr lang="en-US" sz="1400" dirty="0"/>
          </a:p>
        </p:txBody>
      </p:sp>
      <p:sp>
        <p:nvSpPr>
          <p:cNvPr id="6" name="label-109"/>
          <p:cNvSpPr txBox="1"/>
          <p:nvPr/>
        </p:nvSpPr>
        <p:spPr>
          <a:xfrm>
            <a:off x="822960" y="21031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accent3"/>
                </a:solidFill>
              </a:rPr>
              <a:t>看点：只降级依赖失效来源的结论</a:t>
            </a:r>
            <a:endParaRPr lang="en-US" sz="1150" dirty="0"/>
          </a:p>
        </p:txBody>
      </p:sp>
      <p:graphicFrame>
        <p:nvGraphicFramePr>
          <p:cNvPr id="7" name="table-1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514600"/>
          <a:ext cx="4861408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1719072"/>
                <a:gridCol w="1234440"/>
                <a:gridCol w="1340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 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可用于治疗该病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 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能提高血红蛋白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2019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HOPE 试验 + 加速批准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8A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8A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上市后死亡增多，撤市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97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降级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不受影响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label-111"/>
          <p:cNvSpPr txBox="1"/>
          <p:nvPr/>
        </p:nvSpPr>
        <p:spPr>
          <a:xfrm>
            <a:off x="822960" y="379476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结论 A 依赖“批准”与 HOPE 试验，核验发现批准已撤销，当场降级；结论 B 只依赖 HOPE 试验，血红蛋白确实升高，保持不变。替代指标改善不等于临床获益。</a:t>
            </a:r>
            <a:endParaRPr lang="en-US" sz="1200" dirty="0"/>
          </a:p>
        </p:txBody>
      </p:sp>
      <p:sp>
        <p:nvSpPr>
          <p:cNvPr id="9" name="label-112"/>
          <p:cNvSpPr txBox="1"/>
          <p:nvPr/>
        </p:nvSpPr>
        <p:spPr>
          <a:xfrm>
            <a:off x="822960" y="5257800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文献：HOPE 试验，NEJM 2019（PMID 31199090）</a:t>
            </a:r>
            <a:endParaRPr lang="en-US" sz="1000" dirty="0"/>
          </a:p>
        </p:txBody>
      </p:sp>
      <p:sp>
        <p:nvSpPr>
          <p:cNvPr id="10" name="card-113"/>
          <p:cNvSpPr/>
          <p:nvPr/>
        </p:nvSpPr>
        <p:spPr>
          <a:xfrm>
            <a:off x="6233008" y="1600200"/>
            <a:ext cx="5410048" cy="4343400"/>
          </a:xfrm>
          <a:prstGeom prst="roundRect">
            <a:avLst>
              <a:gd name="adj" fmla="val 2105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11" name="label-114"/>
          <p:cNvSpPr txBox="1"/>
          <p:nvPr/>
        </p:nvSpPr>
        <p:spPr>
          <a:xfrm>
            <a:off x="6507328" y="1755648"/>
            <a:ext cx="4861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案例二：Makena（17-OHPC），预防早产</a:t>
            </a:r>
            <a:endParaRPr lang="en-US" sz="1400" dirty="0"/>
          </a:p>
        </p:txBody>
      </p:sp>
      <p:sp>
        <p:nvSpPr>
          <p:cNvPr id="12" name="label-115"/>
          <p:cNvSpPr txBox="1"/>
          <p:nvPr/>
        </p:nvSpPr>
        <p:spPr>
          <a:xfrm>
            <a:off x="6507328" y="21031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accent3"/>
                </a:solidFill>
              </a:rPr>
              <a:t>看点：独立证据方向相反时，保留分歧、不替人裁决</a:t>
            </a:r>
            <a:endParaRPr lang="en-US" sz="1150" dirty="0"/>
          </a:p>
        </p:txBody>
      </p:sp>
      <p:graphicFrame>
        <p:nvGraphicFramePr>
          <p:cNvPr id="13" name="table-1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07328" y="2514600"/>
          <a:ext cx="4861408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2057400"/>
                <a:gridCol w="2237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结论“可降低早产风险”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Meis 试验：早产风险下降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8A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确证试验 PROLONG：未见效果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97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有争议：两项独立试验结论相反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FDA 撤销批准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降级，并列出双方证据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label-117"/>
          <p:cNvSpPr txBox="1"/>
          <p:nvPr/>
        </p:nvSpPr>
        <p:spPr>
          <a:xfrm>
            <a:off x="6507328" y="4251960"/>
            <a:ext cx="486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两项试验来自不同受试者，是两条独立证据；系统把双方都摆出来，标为“有争议”，由专家判断。</a:t>
            </a:r>
            <a:endParaRPr lang="en-US" sz="1200" dirty="0"/>
          </a:p>
        </p:txBody>
      </p:sp>
      <p:sp>
        <p:nvSpPr>
          <p:cNvPr id="15" name="label-118"/>
          <p:cNvSpPr txBox="1"/>
          <p:nvPr/>
        </p:nvSpPr>
        <p:spPr>
          <a:xfrm>
            <a:off x="6507328" y="5257800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文献：Meis 等，NEJM 2003（PMID 12802023）；PROLONG，Am J Perinatol 2020（PMID 31652479）</a:t>
            </a:r>
            <a:endParaRPr lang="en-US" sz="1000" dirty="0"/>
          </a:p>
        </p:txBody>
      </p:sp>
      <p:sp>
        <p:nvSpPr>
          <p:cNvPr id="16" name="label-119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两个案例已在 3.0 原型中写成自动化测试；实时核验的数据来源：撤稿库、ClinicalTrials.gov 试验状态、FDA 药品信息。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来源可见：标明哪些论文来自同一个试验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把每篇论文的上游试验编号随证据一起交给模型和用户；只标注，不定级，判断留给专家。</a:t>
            </a:r>
            <a:endParaRPr lang="en-US" sz="1500" dirty="0"/>
          </a:p>
        </p:txBody>
      </p:sp>
      <p:sp>
        <p:nvSpPr>
          <p:cNvPr id="4" name="card-120"/>
          <p:cNvSpPr/>
          <p:nvPr/>
        </p:nvSpPr>
        <p:spPr>
          <a:xfrm>
            <a:off x="548640" y="1600200"/>
            <a:ext cx="6675120" cy="4526280"/>
          </a:xfrm>
          <a:prstGeom prst="roundRect">
            <a:avLst>
              <a:gd name="adj" fmla="val 202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label-121"/>
          <p:cNvSpPr txBox="1"/>
          <p:nvPr/>
        </p:nvSpPr>
        <p:spPr>
          <a:xfrm>
            <a:off x="822960" y="173736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真实例子：“阿贝西利能否用于乳腺癌”，系统检索到的前 20 篇论文</a:t>
            </a:r>
            <a:endParaRPr lang="en-US" sz="1350" dirty="0"/>
          </a:p>
        </p:txBody>
      </p:sp>
      <p:sp>
        <p:nvSpPr>
          <p:cNvPr id="6" name="box-122"/>
          <p:cNvSpPr/>
          <p:nvPr/>
        </p:nvSpPr>
        <p:spPr>
          <a:xfrm>
            <a:off x="822960" y="2240280"/>
            <a:ext cx="1417320" cy="274320"/>
          </a:xfrm>
          <a:prstGeom prst="roundRect">
            <a:avLst>
              <a:gd name="adj" fmla="val 26667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论文 1</a:t>
            </a:r>
            <a:endParaRPr lang="en-US" sz="1100" dirty="0"/>
          </a:p>
        </p:txBody>
      </p:sp>
      <p:sp>
        <p:nvSpPr>
          <p:cNvPr id="7" name="box-123"/>
          <p:cNvSpPr/>
          <p:nvPr/>
        </p:nvSpPr>
        <p:spPr>
          <a:xfrm>
            <a:off x="822960" y="2578608"/>
            <a:ext cx="1417320" cy="274320"/>
          </a:xfrm>
          <a:prstGeom prst="roundRect">
            <a:avLst>
              <a:gd name="adj" fmla="val 26667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论文 2</a:t>
            </a:r>
            <a:endParaRPr lang="en-US" sz="1100" dirty="0"/>
          </a:p>
        </p:txBody>
      </p:sp>
      <p:sp>
        <p:nvSpPr>
          <p:cNvPr id="8" name="box-124"/>
          <p:cNvSpPr/>
          <p:nvPr/>
        </p:nvSpPr>
        <p:spPr>
          <a:xfrm>
            <a:off x="822960" y="2916936"/>
            <a:ext cx="1417320" cy="274320"/>
          </a:xfrm>
          <a:prstGeom prst="roundRect">
            <a:avLst>
              <a:gd name="adj" fmla="val 26667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论文 3</a:t>
            </a:r>
            <a:endParaRPr lang="en-US" sz="1100" dirty="0"/>
          </a:p>
        </p:txBody>
      </p:sp>
      <p:sp>
        <p:nvSpPr>
          <p:cNvPr id="9" name="box-125"/>
          <p:cNvSpPr/>
          <p:nvPr/>
        </p:nvSpPr>
        <p:spPr>
          <a:xfrm>
            <a:off x="822960" y="3255264"/>
            <a:ext cx="1417320" cy="274320"/>
          </a:xfrm>
          <a:prstGeom prst="roundRect">
            <a:avLst>
              <a:gd name="adj" fmla="val 26667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论文 4</a:t>
            </a:r>
            <a:endParaRPr lang="en-US" sz="1100" dirty="0"/>
          </a:p>
        </p:txBody>
      </p:sp>
      <p:sp>
        <p:nvSpPr>
          <p:cNvPr id="10" name="box-126"/>
          <p:cNvSpPr/>
          <p:nvPr/>
        </p:nvSpPr>
        <p:spPr>
          <a:xfrm>
            <a:off x="822960" y="3593592"/>
            <a:ext cx="1417320" cy="274320"/>
          </a:xfrm>
          <a:prstGeom prst="roundRect">
            <a:avLst>
              <a:gd name="adj" fmla="val 26667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论文 5</a:t>
            </a:r>
            <a:endParaRPr lang="en-US" sz="1100" dirty="0"/>
          </a:p>
        </p:txBody>
      </p:sp>
      <p:sp>
        <p:nvSpPr>
          <p:cNvPr id="11" name="box-127"/>
          <p:cNvSpPr/>
          <p:nvPr/>
        </p:nvSpPr>
        <p:spPr>
          <a:xfrm>
            <a:off x="822960" y="3931920"/>
            <a:ext cx="1417320" cy="274320"/>
          </a:xfrm>
          <a:prstGeom prst="roundRect">
            <a:avLst>
              <a:gd name="adj" fmla="val 26667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论文 6</a:t>
            </a:r>
            <a:endParaRPr lang="en-US" sz="1100" dirty="0"/>
          </a:p>
        </p:txBody>
      </p:sp>
      <p:sp>
        <p:nvSpPr>
          <p:cNvPr id="12" name="box-128"/>
          <p:cNvSpPr/>
          <p:nvPr/>
        </p:nvSpPr>
        <p:spPr>
          <a:xfrm>
            <a:off x="822960" y="4325112"/>
            <a:ext cx="141732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其余 14 篇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（各自独立或无法追溯）</a:t>
            </a:r>
            <a:endParaRPr lang="en-US" sz="950" dirty="0"/>
          </a:p>
        </p:txBody>
      </p:sp>
      <p:sp>
        <p:nvSpPr>
          <p:cNvPr id="13" name="arrow-129"/>
          <p:cNvSpPr/>
          <p:nvPr/>
        </p:nvSpPr>
        <p:spPr>
          <a:xfrm>
            <a:off x="2267712" y="2377440"/>
            <a:ext cx="1179576" cy="84582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4" name="arrow-130"/>
          <p:cNvSpPr/>
          <p:nvPr/>
        </p:nvSpPr>
        <p:spPr>
          <a:xfrm>
            <a:off x="2267712" y="2715768"/>
            <a:ext cx="1179576" cy="507492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5" name="arrow-131"/>
          <p:cNvSpPr/>
          <p:nvPr/>
        </p:nvSpPr>
        <p:spPr>
          <a:xfrm>
            <a:off x="2267712" y="3054096"/>
            <a:ext cx="1179576" cy="169164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6" name="arrow-132"/>
          <p:cNvSpPr/>
          <p:nvPr/>
        </p:nvSpPr>
        <p:spPr>
          <a:xfrm flipV="1">
            <a:off x="2267712" y="3223260"/>
            <a:ext cx="1179576" cy="169164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7" name="arrow-133"/>
          <p:cNvSpPr/>
          <p:nvPr/>
        </p:nvSpPr>
        <p:spPr>
          <a:xfrm flipV="1">
            <a:off x="2267712" y="3223260"/>
            <a:ext cx="1179576" cy="507492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8" name="arrow-134"/>
          <p:cNvSpPr/>
          <p:nvPr/>
        </p:nvSpPr>
        <p:spPr>
          <a:xfrm flipV="1">
            <a:off x="2267712" y="3223260"/>
            <a:ext cx="1179576" cy="84582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9" name="label-135"/>
          <p:cNvSpPr txBox="1"/>
          <p:nvPr/>
        </p:nvSpPr>
        <p:spPr>
          <a:xfrm>
            <a:off x="2514600" y="20345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来源标注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（PubMed 试验关联）</a:t>
            </a:r>
            <a:endParaRPr lang="en-US" sz="1000" dirty="0"/>
          </a:p>
        </p:txBody>
      </p:sp>
      <p:sp>
        <p:nvSpPr>
          <p:cNvPr id="20" name="box-136"/>
          <p:cNvSpPr/>
          <p:nvPr/>
        </p:nvSpPr>
        <p:spPr>
          <a:xfrm>
            <a:off x="3474720" y="2903220"/>
            <a:ext cx="182880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monarchE 三期试验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NCT03155997</a:t>
            </a:r>
            <a:endParaRPr lang="en-US" sz="1150" dirty="0"/>
          </a:p>
        </p:txBody>
      </p:sp>
      <p:sp>
        <p:nvSpPr>
          <p:cNvPr id="21" name="arrow-137"/>
          <p:cNvSpPr/>
          <p:nvPr/>
        </p:nvSpPr>
        <p:spPr>
          <a:xfrm>
            <a:off x="5330952" y="3223260"/>
            <a:ext cx="42976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2" name="box-138"/>
          <p:cNvSpPr/>
          <p:nvPr/>
        </p:nvSpPr>
        <p:spPr>
          <a:xfrm>
            <a:off x="5788152" y="2857500"/>
            <a:ext cx="1161288" cy="731520"/>
          </a:xfrm>
          <a:prstGeom prst="roundRect">
            <a:avLst>
              <a:gd name="adj" fmla="val 10000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计为 1 条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独立证据</a:t>
            </a:r>
            <a:endParaRPr lang="en-US" sz="1300" dirty="0"/>
          </a:p>
        </p:txBody>
      </p:sp>
      <p:sp>
        <p:nvSpPr>
          <p:cNvPr id="23" name="label-139"/>
          <p:cNvSpPr txBox="1"/>
          <p:nvPr/>
        </p:nvSpPr>
        <p:spPr>
          <a:xfrm>
            <a:off x="3291840" y="36804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同一批受试者的主结果、亚组分析、长期随访等 6 篇论文，只能算 1 条证据；按篇数计会被放大 6 倍。</a:t>
            </a:r>
            <a:endParaRPr lang="en-US" sz="1100" dirty="0"/>
          </a:p>
        </p:txBody>
      </p:sp>
      <p:sp>
        <p:nvSpPr>
          <p:cNvPr id="24" name="label-140"/>
          <p:cNvSpPr txBox="1"/>
          <p:nvPr/>
        </p:nvSpPr>
        <p:spPr>
          <a:xfrm>
            <a:off x="822960" y="498348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系统只做标注：“以下 6 篇来自同一试验 NCT03155997”。证据强弱不由系统打分，由专家判断。</a:t>
            </a:r>
            <a:endParaRPr lang="en-US" sz="1200" dirty="0"/>
          </a:p>
        </p:txBody>
      </p:sp>
      <p:sp>
        <p:nvSpPr>
          <p:cNvPr id="25" name="badge-141"/>
          <p:cNvSpPr/>
          <p:nvPr/>
        </p:nvSpPr>
        <p:spPr>
          <a:xfrm>
            <a:off x="7543800" y="169164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6" name="label-142"/>
          <p:cNvSpPr txBox="1"/>
          <p:nvPr/>
        </p:nvSpPr>
        <p:spPr>
          <a:xfrm>
            <a:off x="8074152" y="1673352"/>
            <a:ext cx="35689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为什么要做</a:t>
            </a:r>
            <a:endParaRPr lang="en-US" sz="1600" dirty="0"/>
          </a:p>
        </p:txBody>
      </p:sp>
      <p:sp>
        <p:nvSpPr>
          <p:cNvPr id="27" name="label-143"/>
          <p:cNvSpPr txBox="1"/>
          <p:nvPr/>
        </p:nvSpPr>
        <p:spPr>
          <a:xfrm>
            <a:off x="8074152" y="2103120"/>
            <a:ext cx="35689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系统现在只把标题交给模型；仅凭标题，粗略估计只有约 15% 的同源论文对能被看出来。</a:t>
            </a:r>
            <a:endParaRPr lang="en-US" sz="1250" dirty="0"/>
          </a:p>
        </p:txBody>
      </p:sp>
      <p:sp>
        <p:nvSpPr>
          <p:cNvPr id="28" name="badge-144"/>
          <p:cNvSpPr/>
          <p:nvPr/>
        </p:nvSpPr>
        <p:spPr>
          <a:xfrm>
            <a:off x="7543800" y="3172968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29" name="label-145"/>
          <p:cNvSpPr txBox="1"/>
          <p:nvPr/>
        </p:nvSpPr>
        <p:spPr>
          <a:xfrm>
            <a:off x="8074152" y="3154680"/>
            <a:ext cx="35689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怎么做</a:t>
            </a:r>
            <a:endParaRPr lang="en-US" sz="1600" dirty="0"/>
          </a:p>
        </p:txBody>
      </p:sp>
      <p:sp>
        <p:nvSpPr>
          <p:cNvPr id="30" name="label-146"/>
          <p:cNvSpPr txBox="1"/>
          <p:nvPr/>
        </p:nvSpPr>
        <p:spPr>
          <a:xfrm>
            <a:off x="8074152" y="3584448"/>
            <a:ext cx="35689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用 PubMed 的试验关联和摘要中的试验编号标注来源，现查现算；合并只是按编号分组，不需要模型推理。</a:t>
            </a:r>
            <a:endParaRPr lang="en-US" sz="1250" dirty="0"/>
          </a:p>
        </p:txBody>
      </p:sp>
      <p:sp>
        <p:nvSpPr>
          <p:cNvPr id="31" name="badge-147"/>
          <p:cNvSpPr/>
          <p:nvPr/>
        </p:nvSpPr>
        <p:spPr>
          <a:xfrm>
            <a:off x="7543800" y="4654296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2" name="label-148"/>
          <p:cNvSpPr txBox="1"/>
          <p:nvPr/>
        </p:nvSpPr>
        <p:spPr>
          <a:xfrm>
            <a:off x="8074152" y="4636008"/>
            <a:ext cx="35689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定位</a:t>
            </a:r>
            <a:endParaRPr lang="en-US" sz="1600" dirty="0"/>
          </a:p>
        </p:txBody>
      </p:sp>
      <p:sp>
        <p:nvSpPr>
          <p:cNvPr id="33" name="label-149"/>
          <p:cNvSpPr txBox="1"/>
          <p:nvPr/>
        </p:nvSpPr>
        <p:spPr>
          <a:xfrm>
            <a:off x="8074152" y="5065776"/>
            <a:ext cx="35689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一个低成本的小功能，不作为创新点；它是否真的改变模型结论，由下一页的实验来回答。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实测现象与待验证假设：同源证据会不会造成“虚假共识”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现象已实测；它是否真的影响大模型的结论，用一个无需人工标注的对照实验来回答。</a:t>
            </a:r>
            <a:endParaRPr lang="en-US" sz="1500" dirty="0"/>
          </a:p>
        </p:txBody>
      </p:sp>
      <p:sp>
        <p:nvSpPr>
          <p:cNvPr id="4" name="card-150"/>
          <p:cNvSpPr/>
          <p:nvPr/>
        </p:nvSpPr>
        <p:spPr>
          <a:xfrm>
            <a:off x="548640" y="1600200"/>
            <a:ext cx="5410048" cy="4434840"/>
          </a:xfrm>
          <a:prstGeom prst="roundRect">
            <a:avLst>
              <a:gd name="adj" fmla="val 20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151"/>
          <p:cNvSpPr/>
          <p:nvPr/>
        </p:nvSpPr>
        <p:spPr>
          <a:xfrm>
            <a:off x="822960" y="178308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label-152"/>
          <p:cNvSpPr txBox="1"/>
          <p:nvPr/>
        </p:nvSpPr>
        <p:spPr>
          <a:xfrm>
            <a:off x="1325880" y="1755648"/>
            <a:ext cx="440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chemeClr val="tx2"/>
                </a:solidFill>
              </a:rPr>
              <a:t>现象（已实测）：同源证据普遍存在</a:t>
            </a:r>
            <a:endParaRPr lang="en-US" sz="1550" dirty="0"/>
          </a:p>
        </p:txBody>
      </p:sp>
      <p:sp>
        <p:nvSpPr>
          <p:cNvPr id="7" name="label-153"/>
          <p:cNvSpPr txBox="1"/>
          <p:nvPr/>
        </p:nvSpPr>
        <p:spPr>
          <a:xfrm>
            <a:off x="822960" y="2240280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94 个真实“药物–疾病”问题，系统自带文献检索取前 20 篇，共 1649 篇；按 PubMed 试验关联溯源。</a:t>
            </a:r>
            <a:endParaRPr lang="en-US" sz="1100" dirty="0"/>
          </a:p>
        </p:txBody>
      </p:sp>
      <p:sp>
        <p:nvSpPr>
          <p:cNvPr id="8" name="label-154"/>
          <p:cNvSpPr txBox="1"/>
          <p:nvPr/>
        </p:nvSpPr>
        <p:spPr>
          <a:xfrm>
            <a:off x="822960" y="28346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40%</a:t>
            </a:r>
            <a:endParaRPr lang="en-US" sz="3000" dirty="0"/>
          </a:p>
        </p:txBody>
      </p:sp>
      <p:sp>
        <p:nvSpPr>
          <p:cNvPr id="9" name="label-155"/>
          <p:cNvSpPr txBox="1"/>
          <p:nvPr/>
        </p:nvSpPr>
        <p:spPr>
          <a:xfrm>
            <a:off x="2331720" y="2880360"/>
            <a:ext cx="33526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含试验证据的问题中，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存在同源论文的比例（25 / 62）</a:t>
            </a:r>
            <a:endParaRPr lang="en-US" sz="1150" dirty="0"/>
          </a:p>
        </p:txBody>
      </p:sp>
      <p:sp>
        <p:nvSpPr>
          <p:cNvPr id="10" name="label-156"/>
          <p:cNvSpPr txBox="1"/>
          <p:nvPr/>
        </p:nvSpPr>
        <p:spPr>
          <a:xfrm>
            <a:off x="822960" y="370332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29%</a:t>
            </a:r>
            <a:endParaRPr lang="en-US" sz="3000" dirty="0"/>
          </a:p>
        </p:txBody>
      </p:sp>
      <p:sp>
        <p:nvSpPr>
          <p:cNvPr id="11" name="label-157"/>
          <p:cNvSpPr txBox="1"/>
          <p:nvPr/>
        </p:nvSpPr>
        <p:spPr>
          <a:xfrm>
            <a:off x="2331720" y="3749040"/>
            <a:ext cx="33526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试验类论文中，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属于重复计数的比例（60 / 207）</a:t>
            </a:r>
            <a:endParaRPr lang="en-US" sz="1150" dirty="0"/>
          </a:p>
        </p:txBody>
      </p:sp>
      <p:sp>
        <p:nvSpPr>
          <p:cNvPr id="12" name="label-158"/>
          <p:cNvSpPr txBox="1"/>
          <p:nvPr/>
        </p:nvSpPr>
        <p:spPr>
          <a:xfrm>
            <a:off x="822960" y="457200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8 篇</a:t>
            </a:r>
            <a:endParaRPr lang="en-US" sz="3000" dirty="0"/>
          </a:p>
        </p:txBody>
      </p:sp>
      <p:sp>
        <p:nvSpPr>
          <p:cNvPr id="13" name="label-159"/>
          <p:cNvSpPr txBox="1"/>
          <p:nvPr/>
        </p:nvSpPr>
        <p:spPr>
          <a:xfrm>
            <a:off x="2331720" y="4617720"/>
            <a:ext cx="33526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单个问题中，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来自同一个试验的最多篇数</a:t>
            </a:r>
            <a:endParaRPr lang="en-US" sz="1150" dirty="0"/>
          </a:p>
        </p:txBody>
      </p:sp>
      <p:sp>
        <p:nvSpPr>
          <p:cNvPr id="14" name="label-160"/>
          <p:cNvSpPr txBox="1"/>
          <p:nvPr/>
        </p:nvSpPr>
        <p:spPr>
          <a:xfrm>
            <a:off x="822960" y="5440680"/>
            <a:ext cx="486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只识别了明确的试验编号，是下界。已获批药物的同源比例更高（49% vs 28%）：获批后二次分析论文增多，“论文多”部分是成功的结果。</a:t>
            </a:r>
            <a:endParaRPr lang="en-US" sz="1000" dirty="0"/>
          </a:p>
        </p:txBody>
      </p:sp>
      <p:sp>
        <p:nvSpPr>
          <p:cNvPr id="15" name="card-161"/>
          <p:cNvSpPr/>
          <p:nvPr/>
        </p:nvSpPr>
        <p:spPr>
          <a:xfrm>
            <a:off x="6233008" y="1600200"/>
            <a:ext cx="5410048" cy="4434840"/>
          </a:xfrm>
          <a:prstGeom prst="roundRect">
            <a:avLst>
              <a:gd name="adj" fmla="val 20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badge-162"/>
          <p:cNvSpPr/>
          <p:nvPr/>
        </p:nvSpPr>
        <p:spPr>
          <a:xfrm>
            <a:off x="6507328" y="1783080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7" name="label-163"/>
          <p:cNvSpPr txBox="1"/>
          <p:nvPr/>
        </p:nvSpPr>
        <p:spPr>
          <a:xfrm>
            <a:off x="7010248" y="1755648"/>
            <a:ext cx="440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chemeClr val="tx2"/>
                </a:solidFill>
              </a:rPr>
              <a:t>待验证：重复证据会不会改变模型结论</a:t>
            </a:r>
            <a:endParaRPr lang="en-US" sz="1550" dirty="0"/>
          </a:p>
        </p:txBody>
      </p:sp>
      <p:sp>
        <p:nvSpPr>
          <p:cNvPr id="18" name="label-164"/>
          <p:cNvSpPr txBox="1"/>
          <p:nvPr/>
        </p:nvSpPr>
        <p:spPr>
          <a:xfrm>
            <a:off x="6507328" y="2240280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同一个问题、同一个模型，只改变证据包，比较模型给出的“有效概率”和“独立研究数”：</a:t>
            </a:r>
            <a:endParaRPr lang="en-US" sz="1100" dirty="0"/>
          </a:p>
        </p:txBody>
      </p:sp>
      <p:graphicFrame>
        <p:nvGraphicFramePr>
          <p:cNvPr id="9" name="table-1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07328" y="2743200"/>
          <a:ext cx="4861408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514600"/>
                <a:gridCol w="1386688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若存在“虚假共识”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检索结果原样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标注来源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同上，标明同源论文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概率回落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去重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每个试验只留 1 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概率回落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加量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去重后再加 3 / 6 篇同一试验论文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篇数越多，概率越高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box-166"/>
          <p:cNvSpPr/>
          <p:nvPr/>
        </p:nvSpPr>
        <p:spPr>
          <a:xfrm>
            <a:off x="6507328" y="4754880"/>
            <a:ext cx="4861408" cy="1143000"/>
          </a:xfrm>
          <a:prstGeom prst="roundRect">
            <a:avLst>
              <a:gd name="adj" fmla="val 6400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1270" tIns="1270" rIns="1270" bIns="127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结果决定去留：效应存在 → 来源标注接入系统，并可作为论文发现；效应不存在 → 放弃这一方向。所用论文全部真实，标签来自公开结局，无需人工标注；用本机已订阅的模型命令行工具运行。</a:t>
            </a:r>
            <a:endParaRPr lang="en-US" sz="1050" dirty="0"/>
          </a:p>
        </p:txBody>
      </p:sp>
      <p:sp>
        <p:nvSpPr>
          <p:cNvPr id="21" name="label-167"/>
          <p:cNvSpPr txBox="1"/>
          <p:nvPr/>
        </p:nvSpPr>
        <p:spPr>
          <a:xfrm>
            <a:off x="548640" y="61081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实验脚本与证据包已存档（packages/core/evaluation/illusory-corroboration）；尚未运行，结果待补。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支撑设计：多智能体协作与本地运行时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B 类管“谁来做、谁把关”，C 类管“在哪里跑、用谁的额度”；两者在 2.x 已具备，3.0 继续完善。</a:t>
            </a:r>
            <a:endParaRPr lang="en-US" sz="1500" dirty="0"/>
          </a:p>
        </p:txBody>
      </p:sp>
      <p:sp>
        <p:nvSpPr>
          <p:cNvPr id="4" name="card-168"/>
          <p:cNvSpPr/>
          <p:nvPr/>
        </p:nvSpPr>
        <p:spPr>
          <a:xfrm>
            <a:off x="548640" y="1600200"/>
            <a:ext cx="5410048" cy="4572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ag-169"/>
          <p:cNvSpPr/>
          <p:nvPr/>
        </p:nvSpPr>
        <p:spPr>
          <a:xfrm>
            <a:off x="822960" y="1810512"/>
            <a:ext cx="411480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6" name="label-170"/>
          <p:cNvSpPr txBox="1"/>
          <p:nvPr/>
        </p:nvSpPr>
        <p:spPr>
          <a:xfrm>
            <a:off x="1371600" y="1810512"/>
            <a:ext cx="431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多智能体协作：像课题组一样分工</a:t>
            </a:r>
            <a:endParaRPr lang="en-US" sz="1700" dirty="0"/>
          </a:p>
        </p:txBody>
      </p:sp>
      <p:sp>
        <p:nvSpPr>
          <p:cNvPr id="7" name="box-171"/>
          <p:cNvSpPr/>
          <p:nvPr/>
        </p:nvSpPr>
        <p:spPr>
          <a:xfrm>
            <a:off x="822960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研究课题</a:t>
            </a:r>
            <a:endParaRPr lang="en-US" sz="1250" dirty="0"/>
          </a:p>
        </p:txBody>
      </p:sp>
      <p:sp>
        <p:nvSpPr>
          <p:cNvPr id="8" name="arrow-172"/>
          <p:cNvSpPr/>
          <p:nvPr/>
        </p:nvSpPr>
        <p:spPr>
          <a:xfrm>
            <a:off x="1652595" y="2798064"/>
            <a:ext cx="164592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9" name="box-173"/>
          <p:cNvSpPr/>
          <p:nvPr/>
        </p:nvSpPr>
        <p:spPr>
          <a:xfrm>
            <a:off x="1835475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队长规划</a:t>
            </a:r>
            <a:endParaRPr lang="en-US" sz="1250" dirty="0"/>
          </a:p>
        </p:txBody>
      </p:sp>
      <p:sp>
        <p:nvSpPr>
          <p:cNvPr id="10" name="arrow-174"/>
          <p:cNvSpPr/>
          <p:nvPr/>
        </p:nvSpPr>
        <p:spPr>
          <a:xfrm>
            <a:off x="2665110" y="2798064"/>
            <a:ext cx="164592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1" name="box-175"/>
          <p:cNvSpPr/>
          <p:nvPr/>
        </p:nvSpPr>
        <p:spPr>
          <a:xfrm>
            <a:off x="2847990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成员并行</a:t>
            </a:r>
            <a:endParaRPr lang="en-US" sz="1250" dirty="0"/>
          </a:p>
        </p:txBody>
      </p:sp>
      <p:sp>
        <p:nvSpPr>
          <p:cNvPr id="12" name="arrow-176"/>
          <p:cNvSpPr/>
          <p:nvPr/>
        </p:nvSpPr>
        <p:spPr>
          <a:xfrm>
            <a:off x="3677625" y="2798064"/>
            <a:ext cx="164592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3" name="box-177"/>
          <p:cNvSpPr/>
          <p:nvPr/>
        </p:nvSpPr>
        <p:spPr>
          <a:xfrm>
            <a:off x="3860505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质量门</a:t>
            </a:r>
            <a:endParaRPr lang="en-US" sz="1250" dirty="0"/>
          </a:p>
        </p:txBody>
      </p:sp>
      <p:sp>
        <p:nvSpPr>
          <p:cNvPr id="14" name="arrow-178"/>
          <p:cNvSpPr/>
          <p:nvPr/>
        </p:nvSpPr>
        <p:spPr>
          <a:xfrm>
            <a:off x="4690140" y="2798064"/>
            <a:ext cx="164592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5" name="box-179"/>
          <p:cNvSpPr/>
          <p:nvPr/>
        </p:nvSpPr>
        <p:spPr>
          <a:xfrm>
            <a:off x="4873020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综合报告</a:t>
            </a:r>
            <a:endParaRPr lang="en-US" sz="1250" dirty="0"/>
          </a:p>
        </p:txBody>
      </p:sp>
      <p:sp>
        <p:nvSpPr>
          <p:cNvPr id="16" name="bullets-180"/>
          <p:cNvSpPr txBox="1"/>
          <p:nvPr/>
        </p:nvSpPr>
        <p:spPr>
          <a:xfrm>
            <a:off x="822960" y="3337560"/>
            <a:ext cx="48614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队长（PI）把课题拆成有依赖的任务，可要求先审批计划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成员交接时，每条发现都必须附证据编号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质量门：规则检查 + 科研审查员；工具失败不算“阴性结果”</a:t>
            </a:r>
            <a:endParaRPr lang="en-US" sz="1300" dirty="0"/>
          </a:p>
        </p:txBody>
      </p:sp>
      <p:sp>
        <p:nvSpPr>
          <p:cNvPr id="17" name="label-181"/>
          <p:cNvSpPr txBox="1"/>
          <p:nvPr/>
        </p:nvSpPr>
        <p:spPr>
          <a:xfrm>
            <a:off x="822960" y="5349240"/>
            <a:ext cx="16204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26 位</a:t>
            </a:r>
            <a:endParaRPr lang="en-US" sz="2000" dirty="0"/>
          </a:p>
        </p:txBody>
      </p:sp>
      <p:sp>
        <p:nvSpPr>
          <p:cNvPr id="18" name="label-182"/>
          <p:cNvSpPr txBox="1"/>
          <p:nvPr/>
        </p:nvSpPr>
        <p:spPr>
          <a:xfrm>
            <a:off x="822960" y="5742432"/>
            <a:ext cx="16204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领域专家</a:t>
            </a:r>
            <a:endParaRPr lang="en-US" sz="1150" dirty="0"/>
          </a:p>
        </p:txBody>
      </p:sp>
      <p:sp>
        <p:nvSpPr>
          <p:cNvPr id="19" name="label-183"/>
          <p:cNvSpPr txBox="1"/>
          <p:nvPr/>
        </p:nvSpPr>
        <p:spPr>
          <a:xfrm>
            <a:off x="2443429" y="5349240"/>
            <a:ext cx="16204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15 个</a:t>
            </a:r>
            <a:endParaRPr lang="en-US" sz="2000" dirty="0"/>
          </a:p>
        </p:txBody>
      </p:sp>
      <p:sp>
        <p:nvSpPr>
          <p:cNvPr id="20" name="label-184"/>
          <p:cNvSpPr txBox="1"/>
          <p:nvPr/>
        </p:nvSpPr>
        <p:spPr>
          <a:xfrm>
            <a:off x="2443429" y="5742432"/>
            <a:ext cx="16204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团队模板</a:t>
            </a:r>
            <a:endParaRPr lang="en-US" sz="1150" dirty="0"/>
          </a:p>
        </p:txBody>
      </p:sp>
      <p:sp>
        <p:nvSpPr>
          <p:cNvPr id="21" name="label-185"/>
          <p:cNvSpPr txBox="1"/>
          <p:nvPr/>
        </p:nvSpPr>
        <p:spPr>
          <a:xfrm>
            <a:off x="4063898" y="5349240"/>
            <a:ext cx="16204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@</a:t>
            </a:r>
            <a:endParaRPr lang="en-US" sz="2000" dirty="0"/>
          </a:p>
        </p:txBody>
      </p:sp>
      <p:sp>
        <p:nvSpPr>
          <p:cNvPr id="22" name="label-186"/>
          <p:cNvSpPr txBox="1"/>
          <p:nvPr/>
        </p:nvSpPr>
        <p:spPr>
          <a:xfrm>
            <a:off x="4063898" y="5742432"/>
            <a:ext cx="16204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直接点名专家</a:t>
            </a:r>
            <a:endParaRPr lang="en-US" sz="1150" dirty="0"/>
          </a:p>
        </p:txBody>
      </p:sp>
      <p:sp>
        <p:nvSpPr>
          <p:cNvPr id="23" name="card-187"/>
          <p:cNvSpPr/>
          <p:nvPr/>
        </p:nvSpPr>
        <p:spPr>
          <a:xfrm>
            <a:off x="6233008" y="1600200"/>
            <a:ext cx="5410048" cy="4572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ag-188"/>
          <p:cNvSpPr/>
          <p:nvPr/>
        </p:nvSpPr>
        <p:spPr>
          <a:xfrm>
            <a:off x="6507328" y="1810512"/>
            <a:ext cx="411480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25" name="label-189"/>
          <p:cNvSpPr txBox="1"/>
          <p:nvPr/>
        </p:nvSpPr>
        <p:spPr>
          <a:xfrm>
            <a:off x="7055968" y="1810512"/>
            <a:ext cx="431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本地运行时：直接用已有 AI 订阅</a:t>
            </a:r>
            <a:endParaRPr lang="en-US" sz="1700" dirty="0"/>
          </a:p>
        </p:txBody>
      </p:sp>
      <p:sp>
        <p:nvSpPr>
          <p:cNvPr id="26" name="box-190"/>
          <p:cNvSpPr/>
          <p:nvPr/>
        </p:nvSpPr>
        <p:spPr>
          <a:xfrm>
            <a:off x="6507328" y="2697480"/>
            <a:ext cx="1325880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6350">
            <a:solidFill>
              <a:schemeClr val="tx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研究请求</a:t>
            </a:r>
            <a:endParaRPr lang="en-US" sz="1300" dirty="0"/>
          </a:p>
        </p:txBody>
      </p:sp>
      <p:sp>
        <p:nvSpPr>
          <p:cNvPr id="27" name="arrow-191"/>
          <p:cNvSpPr/>
          <p:nvPr/>
        </p:nvSpPr>
        <p:spPr>
          <a:xfrm>
            <a:off x="7833208" y="2980944"/>
            <a:ext cx="27432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8" name="box-192"/>
          <p:cNvSpPr/>
          <p:nvPr/>
        </p:nvSpPr>
        <p:spPr>
          <a:xfrm>
            <a:off x="8107528" y="2697480"/>
            <a:ext cx="1143000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6350">
            <a:solidFill>
              <a:schemeClr val="accent6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执行路由</a:t>
            </a:r>
            <a:endParaRPr lang="en-US" sz="1300" dirty="0"/>
          </a:p>
        </p:txBody>
      </p:sp>
      <p:sp>
        <p:nvSpPr>
          <p:cNvPr id="29" name="arrow-193"/>
          <p:cNvSpPr/>
          <p:nvPr/>
        </p:nvSpPr>
        <p:spPr>
          <a:xfrm flipV="1">
            <a:off x="9250528" y="2587752"/>
            <a:ext cx="320040" cy="292608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0" name="arrow-194"/>
          <p:cNvSpPr/>
          <p:nvPr/>
        </p:nvSpPr>
        <p:spPr>
          <a:xfrm>
            <a:off x="9250528" y="3081528"/>
            <a:ext cx="320040" cy="30175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1" name="box-195"/>
          <p:cNvSpPr/>
          <p:nvPr/>
        </p:nvSpPr>
        <p:spPr>
          <a:xfrm>
            <a:off x="9570568" y="2377440"/>
            <a:ext cx="1798168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模型 API · 按调用计费</a:t>
            </a:r>
            <a:endParaRPr lang="en-US" sz="1200" dirty="0"/>
          </a:p>
        </p:txBody>
      </p:sp>
      <p:sp>
        <p:nvSpPr>
          <p:cNvPr id="32" name="box-196"/>
          <p:cNvSpPr/>
          <p:nvPr/>
        </p:nvSpPr>
        <p:spPr>
          <a:xfrm>
            <a:off x="9570568" y="3154680"/>
            <a:ext cx="1798168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本地 CLI · 用已有订阅</a:t>
            </a:r>
            <a:endParaRPr lang="en-US" sz="1200" dirty="0"/>
          </a:p>
        </p:txBody>
      </p:sp>
      <p:sp>
        <p:nvSpPr>
          <p:cNvPr id="33" name="bullets-197"/>
          <p:cNvSpPr txBox="1"/>
          <p:nvPr/>
        </p:nvSpPr>
        <p:spPr>
          <a:xfrm>
            <a:off x="6507328" y="3886200"/>
            <a:ext cx="48614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自动检测本机已登录的 26 种 AI 命令行工具（如 Codex、Claude Code）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每个会话独立配置目录，不混入日常使用记录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执行命令前先征得同意（Codex 全流程支持）；数据留在本机</a:t>
            </a:r>
            <a:endParaRPr lang="en-US" sz="1300" dirty="0"/>
          </a:p>
        </p:txBody>
      </p:sp>
      <p:sp>
        <p:nvSpPr>
          <p:cNvPr id="34" name="label-198"/>
          <p:cNvSpPr txBox="1"/>
          <p:nvPr/>
        </p:nvSpPr>
        <p:spPr>
          <a:xfrm>
            <a:off x="6507328" y="553212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说明：Codex 走完整协议并支持审批；Claude Code 已验证会话隔离；其余工具为通用接入。使用前请确认订阅条款允许此类用法。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使用说明：四步完成一次可追溯的研究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截图来自真实运行的 v3.0 应用。</a:t>
            </a:r>
            <a:endParaRPr lang="en-US" sz="1500" dirty="0"/>
          </a:p>
        </p:txBody>
      </p:sp>
      <p:sp>
        <p:nvSpPr>
          <p:cNvPr id="4" name="label-199"/>
          <p:cNvSpPr txBox="1"/>
          <p:nvPr/>
        </p:nvSpPr>
        <p:spPr>
          <a:xfrm>
            <a:off x="548640" y="14813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① 安装：从 GitHub Releases 下载对应平台安装包；或在源码目录运行 npm run web，用浏览器打开。</a:t>
            </a:r>
            <a:endParaRPr lang="en-US" sz="1300" dirty="0"/>
          </a:p>
        </p:txBody>
      </p:sp>
      <p:sp>
        <p:nvSpPr>
          <p:cNvPr id="5" name="badge-200"/>
          <p:cNvSpPr/>
          <p:nvPr/>
        </p:nvSpPr>
        <p:spPr>
          <a:xfrm>
            <a:off x="548640" y="1901952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" name="label-201"/>
          <p:cNvSpPr txBox="1"/>
          <p:nvPr/>
        </p:nvSpPr>
        <p:spPr>
          <a:xfrm>
            <a:off x="1005840" y="1883664"/>
            <a:ext cx="3027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配置运行时</a:t>
            </a:r>
            <a:endParaRPr lang="en-US" sz="1600" dirty="0"/>
          </a:p>
        </p:txBody>
      </p:sp>
      <p:sp>
        <p:nvSpPr>
          <p:cNvPr id="7" name="label-202"/>
          <p:cNvSpPr txBox="1"/>
          <p:nvPr/>
        </p:nvSpPr>
        <p:spPr>
          <a:xfrm>
            <a:off x="548640" y="2304288"/>
            <a:ext cx="3484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安装后打开“运行时（模型配置）”，绑定本机 AI 命令行工具或填写模型 API。</a:t>
            </a:r>
            <a:endParaRPr lang="en-US" sz="1200" dirty="0"/>
          </a:p>
        </p:txBody>
      </p:sp>
      <p:sp>
        <p:nvSpPr>
          <p:cNvPr id="8" name="badge-203"/>
          <p:cNvSpPr/>
          <p:nvPr/>
        </p:nvSpPr>
        <p:spPr>
          <a:xfrm>
            <a:off x="4353458" y="1901952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9" name="label-204"/>
          <p:cNvSpPr txBox="1"/>
          <p:nvPr/>
        </p:nvSpPr>
        <p:spPr>
          <a:xfrm>
            <a:off x="4810658" y="1883664"/>
            <a:ext cx="3027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提问</a:t>
            </a:r>
            <a:endParaRPr lang="en-US" sz="1600" dirty="0"/>
          </a:p>
        </p:txBody>
      </p:sp>
      <p:sp>
        <p:nvSpPr>
          <p:cNvPr id="10" name="label-205"/>
          <p:cNvSpPr txBox="1"/>
          <p:nvPr/>
        </p:nvSpPr>
        <p:spPr>
          <a:xfrm>
            <a:off x="4353458" y="2304288"/>
            <a:ext cx="3484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直接提问；输入 @ 点名专家，或交给科研小队。</a:t>
            </a:r>
            <a:endParaRPr lang="en-US" sz="1200" dirty="0"/>
          </a:p>
        </p:txBody>
      </p:sp>
      <p:sp>
        <p:nvSpPr>
          <p:cNvPr id="11" name="badge-206"/>
          <p:cNvSpPr/>
          <p:nvPr/>
        </p:nvSpPr>
        <p:spPr>
          <a:xfrm>
            <a:off x="8158277" y="1901952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2" name="label-207"/>
          <p:cNvSpPr txBox="1"/>
          <p:nvPr/>
        </p:nvSpPr>
        <p:spPr>
          <a:xfrm>
            <a:off x="8615477" y="1883664"/>
            <a:ext cx="3027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查看证据</a:t>
            </a:r>
            <a:endParaRPr lang="en-US" sz="1600" dirty="0"/>
          </a:p>
        </p:txBody>
      </p:sp>
      <p:sp>
        <p:nvSpPr>
          <p:cNvPr id="13" name="label-208"/>
          <p:cNvSpPr txBox="1"/>
          <p:nvPr/>
        </p:nvSpPr>
        <p:spPr>
          <a:xfrm>
            <a:off x="8158277" y="2304288"/>
            <a:ext cx="3484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查看每条证据的来源与状态（3.0 证据页）。</a:t>
            </a:r>
            <a:endParaRPr lang="en-US" sz="1200" dirty="0"/>
          </a:p>
        </p:txBody>
      </p:sp>
      <p:pic>
        <p:nvPicPr>
          <p:cNvPr id="14" name="screenshot-209" descr="自动检测到本机的 Claude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7854" y="2880360"/>
            <a:ext cx="2726350" cy="2834640"/>
          </a:xfrm>
          <a:prstGeom prst="rect">
            <a:avLst/>
          </a:prstGeom>
        </p:spPr>
      </p:pic>
      <p:sp>
        <p:nvSpPr>
          <p:cNvPr id="15" name="frame-210"/>
          <p:cNvSpPr/>
          <p:nvPr/>
        </p:nvSpPr>
        <p:spPr>
          <a:xfrm>
            <a:off x="927854" y="2880360"/>
            <a:ext cx="2726350" cy="28346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6" name="label-211"/>
          <p:cNvSpPr txBox="1"/>
          <p:nvPr/>
        </p:nvSpPr>
        <p:spPr>
          <a:xfrm>
            <a:off x="927854" y="5788152"/>
            <a:ext cx="27263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自动检测到本机的 Claude Code</a:t>
            </a:r>
            <a:endParaRPr lang="en-US" sz="1100" dirty="0"/>
          </a:p>
        </p:txBody>
      </p:sp>
      <p:pic>
        <p:nvPicPr>
          <p:cNvPr id="17" name="screenshot-212" descr="usage-ask-ment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458" y="2880360"/>
            <a:ext cx="3484778" cy="867323"/>
          </a:xfrm>
          <a:prstGeom prst="rect">
            <a:avLst/>
          </a:prstGeom>
        </p:spPr>
      </p:pic>
      <p:sp>
        <p:nvSpPr>
          <p:cNvPr id="18" name="frame-213"/>
          <p:cNvSpPr/>
          <p:nvPr/>
        </p:nvSpPr>
        <p:spPr>
          <a:xfrm>
            <a:off x="4353458" y="2880360"/>
            <a:ext cx="3484778" cy="867323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pic>
        <p:nvPicPr>
          <p:cNvPr id="19" name="screenshot-214" descr="@ 点名专家；工具调用逐步可查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3458" y="3931920"/>
            <a:ext cx="3484778" cy="1184825"/>
          </a:xfrm>
          <a:prstGeom prst="rect">
            <a:avLst/>
          </a:prstGeom>
        </p:spPr>
      </p:pic>
      <p:sp>
        <p:nvSpPr>
          <p:cNvPr id="20" name="frame-215"/>
          <p:cNvSpPr/>
          <p:nvPr/>
        </p:nvSpPr>
        <p:spPr>
          <a:xfrm>
            <a:off x="4353458" y="3931920"/>
            <a:ext cx="3484778" cy="118482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1" name="label-216"/>
          <p:cNvSpPr txBox="1"/>
          <p:nvPr/>
        </p:nvSpPr>
        <p:spPr>
          <a:xfrm>
            <a:off x="4353458" y="5189897"/>
            <a:ext cx="3484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@ 点名专家；工具调用逐步可查</a:t>
            </a:r>
            <a:endParaRPr lang="en-US" sz="1100" dirty="0"/>
          </a:p>
        </p:txBody>
      </p:sp>
      <p:pic>
        <p:nvPicPr>
          <p:cNvPr id="22" name="screenshot-217" descr="3.0 证据页：来源、状态、历史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8277" y="2880360"/>
            <a:ext cx="3484778" cy="2462577"/>
          </a:xfrm>
          <a:prstGeom prst="rect">
            <a:avLst/>
          </a:prstGeom>
        </p:spPr>
      </p:pic>
      <p:sp>
        <p:nvSpPr>
          <p:cNvPr id="23" name="frame-218"/>
          <p:cNvSpPr/>
          <p:nvPr/>
        </p:nvSpPr>
        <p:spPr>
          <a:xfrm>
            <a:off x="8158277" y="2880360"/>
            <a:ext cx="3484778" cy="2462577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4" name="label-219"/>
          <p:cNvSpPr txBox="1"/>
          <p:nvPr/>
        </p:nvSpPr>
        <p:spPr>
          <a:xfrm>
            <a:off x="8158277" y="5416089"/>
            <a:ext cx="3484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3.0 证据页：来源、状态、历史</a:t>
            </a:r>
            <a:endParaRPr lang="en-US" sz="1100" dirty="0"/>
          </a:p>
        </p:txBody>
      </p:sp>
      <p:sp>
        <p:nvSpPr>
          <p:cNvPr id="25" name="label-220"/>
          <p:cNvSpPr txBox="1"/>
          <p:nvPr/>
        </p:nvSpPr>
        <p:spPr>
          <a:xfrm>
            <a:off x="548640" y="61722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演示环境使用离线示例模型生成文字；文献为 PubMed 实时检索结果。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当前进展与下一步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B、C 已落地；A 类实时核验已有原型，同源现象已实测，其影响待实验验证。</a:t>
            </a:r>
            <a:endParaRPr lang="en-US" sz="1500" dirty="0"/>
          </a:p>
        </p:txBody>
      </p:sp>
      <p:sp>
        <p:nvSpPr>
          <p:cNvPr id="4" name="card-221"/>
          <p:cNvSpPr/>
          <p:nvPr/>
        </p:nvSpPr>
        <p:spPr>
          <a:xfrm>
            <a:off x="548640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222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label-223"/>
          <p:cNvSpPr txBox="1"/>
          <p:nvPr/>
        </p:nvSpPr>
        <p:spPr>
          <a:xfrm>
            <a:off x="1325880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已完成</a:t>
            </a:r>
            <a:endParaRPr lang="en-US" sz="1800" dirty="0"/>
          </a:p>
        </p:txBody>
      </p:sp>
      <p:sp>
        <p:nvSpPr>
          <p:cNvPr id="7" name="bullets-224"/>
          <p:cNvSpPr txBox="1"/>
          <p:nvPr/>
        </p:nvSpPr>
        <p:spPr>
          <a:xfrm>
            <a:off x="822960" y="2514600"/>
            <a:ext cx="30123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v3.0.0 已发布：三平台安装包和本地 Web 版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多智能体协作、本地运行时、可核查引用已落地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实时状态核验原型已落地，两个真实案例写成自动化测试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实测：40% 的问题存在同源证据</a:t>
            </a:r>
            <a:endParaRPr lang="en-US" sz="1400" dirty="0"/>
          </a:p>
        </p:txBody>
      </p:sp>
      <p:sp>
        <p:nvSpPr>
          <p:cNvPr id="8" name="card-225"/>
          <p:cNvSpPr/>
          <p:nvPr/>
        </p:nvSpPr>
        <p:spPr>
          <a:xfrm>
            <a:off x="4338218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226"/>
          <p:cNvSpPr/>
          <p:nvPr/>
        </p:nvSpPr>
        <p:spPr>
          <a:xfrm>
            <a:off x="4612538" y="1874520"/>
            <a:ext cx="384048" cy="384048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label-227"/>
          <p:cNvSpPr txBox="1"/>
          <p:nvPr/>
        </p:nvSpPr>
        <p:spPr>
          <a:xfrm>
            <a:off x="5115458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尚待完成</a:t>
            </a:r>
            <a:endParaRPr lang="en-US" sz="1800" dirty="0"/>
          </a:p>
        </p:txBody>
      </p:sp>
      <p:sp>
        <p:nvSpPr>
          <p:cNvPr id="11" name="bullets-228"/>
          <p:cNvSpPr txBox="1"/>
          <p:nvPr/>
        </p:nvSpPr>
        <p:spPr>
          <a:xfrm>
            <a:off x="4612538" y="2514600"/>
            <a:ext cx="30123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同源是否改变模型结论尚未验证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实时核验尚未覆盖全部数据源（撤稿库、试验、药品）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部分本地命令行工具仅为通用接入，待逐一验证</a:t>
            </a:r>
            <a:endParaRPr lang="en-US" sz="1400" dirty="0"/>
          </a:p>
        </p:txBody>
      </p:sp>
      <p:sp>
        <p:nvSpPr>
          <p:cNvPr id="12" name="card-229"/>
          <p:cNvSpPr/>
          <p:nvPr/>
        </p:nvSpPr>
        <p:spPr>
          <a:xfrm>
            <a:off x="8127797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badge-230"/>
          <p:cNvSpPr/>
          <p:nvPr/>
        </p:nvSpPr>
        <p:spPr>
          <a:xfrm>
            <a:off x="8402117" y="1874520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label-231"/>
          <p:cNvSpPr txBox="1"/>
          <p:nvPr/>
        </p:nvSpPr>
        <p:spPr>
          <a:xfrm>
            <a:off x="8905037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下一步 · 需要的支持</a:t>
            </a:r>
            <a:endParaRPr lang="en-US" sz="1800" dirty="0"/>
          </a:p>
        </p:txBody>
      </p:sp>
      <p:sp>
        <p:nvSpPr>
          <p:cNvPr id="15" name="bullets-232"/>
          <p:cNvSpPr txBox="1"/>
          <p:nvPr/>
        </p:nvSpPr>
        <p:spPr>
          <a:xfrm>
            <a:off x="8402117" y="2514600"/>
            <a:ext cx="30123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运行“虚假共识”对照实验（脚本与数据已备好，无需人工标注）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按结果决定：来源标注接入系统，或放弃该方向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实时状态核验接入正式流程，覆盖撤稿、试验、药品三类来源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结果稳定后发布正式版，并整理成论文</a:t>
            </a:r>
            <a:endParaRPr lang="en-US" sz="1400" dirty="0"/>
          </a:p>
        </p:txBody>
      </p:sp>
      <p:sp>
        <p:nvSpPr>
          <p:cNvPr id="16" name="ask-233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label-234"/>
          <p:cNvSpPr txBox="1"/>
          <p:nvPr/>
        </p:nvSpPr>
        <p:spPr>
          <a:xfrm>
            <a:off x="822960" y="57607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请审阅：是否支持开展“虚假共识”对照实验，并按结果决定来源标注的去留（下一步第 1、2 项）。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Science Report">
  <a:themeElements>
    <a:clrScheme name="MedScience Report">
      <a:dk1>
        <a:srgbClr val="1B2533"/>
      </a:dk1>
      <a:lt1>
        <a:srgbClr val="FFFFFF"/>
      </a:lt1>
      <a:dk2>
        <a:srgbClr val="0F2A44"/>
      </a:dk2>
      <a:lt2>
        <a:srgbClr val="F2F5F8"/>
      </a:lt2>
      <a:accent1>
        <a:srgbClr val="0E8A7E"/>
      </a:accent1>
      <a:accent2>
        <a:srgbClr val="1F5F99"/>
      </a:accent2>
      <a:accent3>
        <a:srgbClr val="C9792A"/>
      </a:accent3>
      <a:accent4>
        <a:srgbClr val="6B4FA0"/>
      </a:accent4>
      <a:accent5>
        <a:srgbClr val="B4233A"/>
      </a:accent5>
      <a:accent6>
        <a:srgbClr val="5B6B7C"/>
      </a:accent6>
      <a:hlink>
        <a:srgbClr val="1F5F99"/>
      </a:hlink>
      <a:folHlink>
        <a:srgbClr val="6B4FA0"/>
      </a:folHlink>
    </a:clrScheme>
    <a:fontScheme name="MedScience Report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MedScience 3.0 设计汇报</dc:title>
  <dc:subject>可信科研智能体工作站：设计动机、架构与使用说明</dc:subject>
  <dc:creator>MedScience</dc:creator>
  <cp:lastModifiedBy>MedScience</cp:lastModifiedBy>
  <cp:revision>1</cp:revision>
  <dcterms:created xsi:type="dcterms:W3CDTF">2026-10-06T07:58:18Z</dcterms:created>
  <dcterms:modified xsi:type="dcterms:W3CDTF">2026-10-06T07:58:18Z</dcterms:modified>
</cp:coreProperties>
</file>