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2a468208-ece1-89a5-17e9-3e1accd6907b}">
          <p14:sldIdLst>
            <p14:sldId id="256"/>
          </p14:sldIdLst>
        </p14:section>
        <p14:section name="概要与动机" id="{06e1b8b3-647d-2428-6286-70609908a4f3}">
          <p14:sldIdLst>
            <p14:sldId id="257"/>
            <p14:sldId id="258"/>
            <p14:sldId id="259"/>
          </p14:sldIdLst>
        </p14:section>
        <p14:section name="整体设计" id="{90d612d9-310c-98e6-ea7a-f77b4a66d5c8}">
          <p14:sldIdLst>
            <p14:sldId id="260"/>
            <p14:sldId id="261"/>
            <p14:sldId id="262"/>
          </p14:sldIdLst>
        </p14:section>
        <p14:section name="三个设计点" id="{0aaab689-709f-3467-0fae-dd1d29f4e7ad}">
          <p14:sldIdLst>
            <p14:sldId id="263"/>
            <p14:sldId id="264"/>
            <p14:sldId id="265"/>
          </p14:sldIdLst>
        </p14:section>
        <p14:section name="协作与运行时" id="{6a02c0db-82fc-aaa2-8766-e1c3706c58de}">
          <p14:sldIdLst>
            <p14:sldId id="266"/>
            <p14:sldId id="267"/>
          </p14:sldIdLst>
        </p14:section>
        <p14:section name="使用说明" id="{a4275d24-69a6-6f42-b968-6b0582629bc3}">
          <p14:sldIdLst>
            <p14:sldId id="268"/>
            <p14:sldId id="269"/>
          </p14:sldIdLst>
        </p14:section>
        <p14:section name="进展与下一步" id="{e9fa932a-2ca9-04af-4cec-43018f2ba3f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预期信息增益</c:v>
                </c:pt>
              </c:strCache>
            </c:strRef>
          </c:tx>
          <c:spPr>
            <a:solidFill>
              <a:srgbClr val="0E8A7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UniProt 序列信息</c:v>
                  </c:pt>
                  <c:pt idx="1">
                    <c:v>临床试验登记</c:v>
                  </c:pt>
                  <c:pt idx="2">
                    <c:v>ChEMBL 活性数据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0.039</c:v>
                </c:pt>
                <c:pt idx="1">
                  <c:v>0.105</c:v>
                </c:pt>
                <c:pt idx="2">
                  <c:v>0.259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5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开场一句话：MedScience 是一个面向生物医学的科研智能体工作站。3.0 版本的重点不是“让 AI 说得更多”，而是让它的结论站得住：有证据、能撤回、可信度说得清，并且数据留在本机。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这一页给出全貌。问题：结论的依据、撤回和可信度。做法：三类设计（下一页之后逐一展开）。进展：3.0 已经可以下载使用，自动化测试在三个平台持续通过；但还没有在真实科研任务上做对照实验——这一点在最后一页的“需要的支持”里提出。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四个痛点都来自实际使用：撤稿论文被继续引用、多智能体互相附和、置信度说不清、临床数据和订阅成本。每个痛点下方标了对应的设计，第 8 到 12 页逐一展开。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个系统代表了同类方案的四个方向：检索报告、多智能体假设、图谱检索、自动实验。我们不是要替代它们，而是补上“结论治理”和“本地可用”这两块。表中只引用各系统公开的资料，不评价其未公开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这是对整个系统的分类。A 类是这次 3.0 的核心，属于智能体的推理架构；B 类是多智能体的组织方式；C 类是工程上的运行与部署。需要说明：这些都是“智能体系统”的架构设计，并没有训练或修改大模型本身，所以底层用哪家模型都可以。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从上到下五层：用户入口、协作层（科研小队）、证据治理层（3.0 新增，绿色框）、执行层、数据层。右侧的防护钩子贯穿每次工具调用：密钥脱敏、临床数据门、证据数值核验、引用完整性检查，这些都不可绕过。所有数据都在本机目录下。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上排是一次提问的完整路径，下方小字是每一步产生的数据对象。绿色的四步由 3.0 新增的证据治理层负责。下面的橙色区域是回路：导入撤稿数据后扫描账本，被撤稿的证据会被撤销，依赖它的结论在同一个操作里自动转为“有争议”，原因写进哈希链，可以审计。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证据和结论的六种状态，只能沿箭头迁移。新证据先是“候选”，通过准入门禁才“已验证”，否则“已隔离”。关键在依赖级联：一篇论文被撤稿，依赖它的结论会自动转为“有争议”，不需要人工排查。所有变更写入哈希链，事后可审计，被篡改能发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流程：先汇总专家意见、算出分歧度，然后在每种查询里挑“预期信息增益除以成本”最高的去做，拿到结果更新判断，足够确定就停，分歧仍大就升级给跨领域专家。右图是一个具体例子：在同一问题下，查 ChEMBL 活性数据最能分出高下。这些数值来自默认参数，可以用真实数据重新估计。另外，工具失败只扣预算，不会被当成反对意见。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传统做法给一个分数再拍一个阈值。这里换成“预测集”：在设定的错误率下，哪些结果与已标注数据相符。只有一个答案时才下结论；两个都可能，就是证据不足以区分；一个都不像，说明情况罕见，需要人工看。校准后错误率有理论保证。没有校准数据时，系统会明确标注“未校准”，不会给出虚假的可信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科研小队模拟课题组：队长先把课题拆成有依赖关系的任务，可以设为需要审批计划；成员按依赖并行执行，交接时每条发现都要附证据编号；然后经过质量门，既有规则检查也有科研审查员；最后由写作专家成文。内置 26 位专家、15 个团队模板。系统会严格区分“工具没跑通”和“科学上的阴性结果”，避免把网络故障误当成研究发现。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很多团队已经购买了 ChatGPT（Codex）或 Claude 的订阅。本地运行时让 MedScience 直接调用本机已登录的命令行工具，沿用现有额度，不需要再申请 API 密钥。每个会话有独立配置目录，不会混入日常使用记录；Codex 还支持执行命令前逐项审批。右图是本机实测，检测到了 Claude Code。需要注意的是，除 Codex 和 Claude Code 外，其他工具目前是通用接入，另外请确认订阅条款允许这样使用。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三步即可开始：安装、配置运行时、提问。截图来自真实运行的 3.0 应用。左图是输入 @ 点名专家；右图是智能体调用文献检索、数据分析等工具，每一步都有记录、可展开查看。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左图：每个结论下方列出了证据和原始文献，都可以点开原文核对，这里的 8 篇文献是 PubMed 实时检索的真实结果。右图：证据账本，能看到每条证据的状态、来源、完整历史和哈希；在这里可以导入撤稿数据批量核查。需要说明，演示环境用的是离线示例模型，所以结论文字是演示用的，文献是真实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是进展和需要的支持。设计已经全部落地并发布，可以下载试用。尚待验证的是有效性：目前还没有在真实任务上做对照实验，判定处于未校准状态。下一步最需要的是领域专家标注一批真实假设，用于校准和评测；然后做同等预算的对照实验；结果稳定后发布正式版并整理论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MedScience 3.0 · 设计汇报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MedScience 3.0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可信科研智能体工作站 · 设计汇报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9C7D6"/>
                </a:solidFill>
              </a:rPr>
              <a:t>让每一个科研结论都有据可查、可以撤回、说得清可信度</a:t>
            </a:r>
            <a:endParaRPr lang="en-US" sz="2200" dirty="0"/>
          </a:p>
        </p:txBody>
      </p:sp>
      <p:sp>
        <p:nvSpPr>
          <p:cNvPr id="4" name="label-1"/>
          <p:cNvSpPr txBox="1"/>
          <p:nvPr/>
        </p:nvSpPr>
        <p:spPr>
          <a:xfrm>
            <a:off x="54864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B9C7D6"/>
                </a:solidFill>
              </a:rPr>
              <a:t>2026 年 10 月  ·  版本 v3.0.0（预发布）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一页概要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一句话：让 AI 科研助手的结论有证据、能撤回、说得清可信度，并且数据不出本机。</a:t>
            </a:r>
            <a:endParaRPr lang="en-US" sz="1500" dirty="0"/>
          </a:p>
        </p:txBody>
      </p:sp>
      <p:sp>
        <p:nvSpPr>
          <p:cNvPr id="4" name="card-2"/>
          <p:cNvSpPr/>
          <p:nvPr/>
        </p:nvSpPr>
        <p:spPr>
          <a:xfrm>
            <a:off x="548640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3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4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要解决的问题</a:t>
            </a:r>
            <a:endParaRPr lang="en-US" sz="1800" dirty="0"/>
          </a:p>
        </p:txBody>
      </p:sp>
      <p:sp>
        <p:nvSpPr>
          <p:cNvPr id="7" name="label-5"/>
          <p:cNvSpPr txBox="1"/>
          <p:nvPr/>
        </p:nvSpPr>
        <p:spPr>
          <a:xfrm>
            <a:off x="822960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科研助手能很快给出结论，但结论依据什么、依据失效后怎么办、可信度到底多高，往往说不清。</a:t>
            </a:r>
            <a:endParaRPr lang="en-US" sz="1500" dirty="0"/>
          </a:p>
        </p:txBody>
      </p:sp>
      <p:sp>
        <p:nvSpPr>
          <p:cNvPr id="8" name="card-6"/>
          <p:cNvSpPr/>
          <p:nvPr/>
        </p:nvSpPr>
        <p:spPr>
          <a:xfrm>
            <a:off x="4338218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7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8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我们的做法</a:t>
            </a:r>
            <a:endParaRPr lang="en-US" sz="1800" dirty="0"/>
          </a:p>
        </p:txBody>
      </p:sp>
      <p:sp>
        <p:nvSpPr>
          <p:cNvPr id="11" name="label-9"/>
          <p:cNvSpPr txBox="1"/>
          <p:nvPr/>
        </p:nvSpPr>
        <p:spPr>
          <a:xfrm>
            <a:off x="4612538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三类设计：证据治理（结论必须挂靠已验证的证据）、多智能体协作（专家分工、审查把关）、本地运行（数据在本机，复用已有 AI 订阅）。</a:t>
            </a:r>
            <a:endParaRPr lang="en-US" sz="1500" dirty="0"/>
          </a:p>
        </p:txBody>
      </p:sp>
      <p:sp>
        <p:nvSpPr>
          <p:cNvPr id="12" name="card-10"/>
          <p:cNvSpPr/>
          <p:nvPr/>
        </p:nvSpPr>
        <p:spPr>
          <a:xfrm>
            <a:off x="8127797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11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12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当前进展</a:t>
            </a:r>
            <a:endParaRPr lang="en-US" sz="1800" dirty="0"/>
          </a:p>
        </p:txBody>
      </p:sp>
      <p:sp>
        <p:nvSpPr>
          <p:cNvPr id="15" name="label-13"/>
          <p:cNvSpPr txBox="1"/>
          <p:nvPr/>
        </p:nvSpPr>
        <p:spPr>
          <a:xfrm>
            <a:off x="8402117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v3.0.0 已发布：macOS、Windows、Linux 安装包和本地 Web 版。26 套自动化测试在三个平台通过。真实任务上的对照实验尚待开展。</a:t>
            </a:r>
            <a:endParaRPr lang="en-US" sz="1500" dirty="0"/>
          </a:p>
        </p:txBody>
      </p:sp>
      <p:sp>
        <p:nvSpPr>
          <p:cNvPr id="16" name="label-14"/>
          <p:cNvSpPr txBox="1"/>
          <p:nvPr/>
        </p:nvSpPr>
        <p:spPr>
          <a:xfrm>
            <a:off x="548640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类</a:t>
            </a:r>
            <a:endParaRPr lang="en-US" sz="3400" dirty="0"/>
          </a:p>
        </p:txBody>
      </p:sp>
      <p:sp>
        <p:nvSpPr>
          <p:cNvPr id="17" name="label-15"/>
          <p:cNvSpPr txBox="1"/>
          <p:nvPr/>
        </p:nvSpPr>
        <p:spPr>
          <a:xfrm>
            <a:off x="548640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系统设计</a:t>
            </a:r>
            <a:endParaRPr lang="en-US" sz="1300" dirty="0"/>
          </a:p>
        </p:txBody>
      </p:sp>
      <p:sp>
        <p:nvSpPr>
          <p:cNvPr id="18" name="label-16"/>
          <p:cNvSpPr txBox="1"/>
          <p:nvPr/>
        </p:nvSpPr>
        <p:spPr>
          <a:xfrm>
            <a:off x="3322244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位</a:t>
            </a:r>
            <a:endParaRPr lang="en-US" sz="3400" dirty="0"/>
          </a:p>
        </p:txBody>
      </p:sp>
      <p:sp>
        <p:nvSpPr>
          <p:cNvPr id="19" name="label-17"/>
          <p:cNvSpPr txBox="1"/>
          <p:nvPr/>
        </p:nvSpPr>
        <p:spPr>
          <a:xfrm>
            <a:off x="3322244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领域专家角色</a:t>
            </a:r>
            <a:endParaRPr lang="en-US" sz="1300" dirty="0"/>
          </a:p>
        </p:txBody>
      </p:sp>
      <p:sp>
        <p:nvSpPr>
          <p:cNvPr id="20" name="label-18"/>
          <p:cNvSpPr txBox="1"/>
          <p:nvPr/>
        </p:nvSpPr>
        <p:spPr>
          <a:xfrm>
            <a:off x="6095848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种</a:t>
            </a:r>
            <a:endParaRPr lang="en-US" sz="3400" dirty="0"/>
          </a:p>
        </p:txBody>
      </p:sp>
      <p:sp>
        <p:nvSpPr>
          <p:cNvPr id="21" name="label-19"/>
          <p:cNvSpPr txBox="1"/>
          <p:nvPr/>
        </p:nvSpPr>
        <p:spPr>
          <a:xfrm>
            <a:off x="6095848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本地 AI 命令行工具可接入</a:t>
            </a:r>
            <a:endParaRPr lang="en-US" sz="1300" dirty="0"/>
          </a:p>
        </p:txBody>
      </p:sp>
      <p:sp>
        <p:nvSpPr>
          <p:cNvPr id="22" name="label-20"/>
          <p:cNvSpPr txBox="1"/>
          <p:nvPr/>
        </p:nvSpPr>
        <p:spPr>
          <a:xfrm>
            <a:off x="8869451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 种</a:t>
            </a:r>
            <a:endParaRPr lang="en-US" sz="3400" dirty="0"/>
          </a:p>
        </p:txBody>
      </p:sp>
      <p:sp>
        <p:nvSpPr>
          <p:cNvPr id="23" name="label-21"/>
          <p:cNvSpPr txBox="1"/>
          <p:nvPr/>
        </p:nvSpPr>
        <p:spPr>
          <a:xfrm>
            <a:off x="8869451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使用方式（三平台 + Web）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为什么要做：科研 AI 落地的四个痛点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每个痛点对应一项设计；后面各页逐一展开。</a:t>
            </a:r>
            <a:endParaRPr lang="en-US" sz="1500" dirty="0"/>
          </a:p>
        </p:txBody>
      </p:sp>
      <p:sp>
        <p:nvSpPr>
          <p:cNvPr id="4" name="card-22"/>
          <p:cNvSpPr/>
          <p:nvPr/>
        </p:nvSpPr>
        <p:spPr>
          <a:xfrm>
            <a:off x="548640" y="16002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23"/>
          <p:cNvSpPr/>
          <p:nvPr/>
        </p:nvSpPr>
        <p:spPr>
          <a:xfrm>
            <a:off x="822960" y="1856232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24"/>
          <p:cNvSpPr txBox="1"/>
          <p:nvPr/>
        </p:nvSpPr>
        <p:spPr>
          <a:xfrm>
            <a:off x="1325880" y="1856232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结论难追溯，错误会固化</a:t>
            </a:r>
            <a:endParaRPr lang="en-US" sz="1800" dirty="0"/>
          </a:p>
        </p:txBody>
      </p:sp>
      <p:sp>
        <p:nvSpPr>
          <p:cNvPr id="7" name="label-25"/>
          <p:cNvSpPr txBox="1"/>
          <p:nvPr/>
        </p:nvSpPr>
        <p:spPr>
          <a:xfrm>
            <a:off x="822960" y="2377440"/>
            <a:ext cx="486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引用的论文后来被撤稿，基于它的结论仍在被反复使用，没有人发现。</a:t>
            </a:r>
            <a:endParaRPr lang="en-US" sz="1400" dirty="0"/>
          </a:p>
        </p:txBody>
      </p:sp>
      <p:sp>
        <p:nvSpPr>
          <p:cNvPr id="8" name="answer-26"/>
          <p:cNvSpPr txBox="1"/>
          <p:nvPr/>
        </p:nvSpPr>
        <p:spPr>
          <a:xfrm>
            <a:off x="822960" y="32735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对应设计：</a:t>
            </a:r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证据账本：依据失效时，相关结论自动降级</a:t>
            </a:r>
            <a:endParaRPr lang="en-US" sz="1350" dirty="0"/>
          </a:p>
        </p:txBody>
      </p:sp>
      <p:sp>
        <p:nvSpPr>
          <p:cNvPr id="9" name="card-27"/>
          <p:cNvSpPr/>
          <p:nvPr/>
        </p:nvSpPr>
        <p:spPr>
          <a:xfrm>
            <a:off x="6233008" y="160020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-28"/>
          <p:cNvSpPr/>
          <p:nvPr/>
        </p:nvSpPr>
        <p:spPr>
          <a:xfrm>
            <a:off x="6507328" y="1856232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label-29"/>
          <p:cNvSpPr txBox="1"/>
          <p:nvPr/>
        </p:nvSpPr>
        <p:spPr>
          <a:xfrm>
            <a:off x="7010248" y="1856232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“多问几个 AI”不等于更可靠</a:t>
            </a:r>
            <a:endParaRPr lang="en-US" sz="1800" dirty="0"/>
          </a:p>
        </p:txBody>
      </p:sp>
      <p:sp>
        <p:nvSpPr>
          <p:cNvPr id="12" name="label-30"/>
          <p:cNvSpPr txBox="1"/>
          <p:nvPr/>
        </p:nvSpPr>
        <p:spPr>
          <a:xfrm>
            <a:off x="6507328" y="2377440"/>
            <a:ext cx="486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多个智能体容易互相附和；固定轮次的讨论消耗大量算力，却不一定更接近事实。</a:t>
            </a:r>
            <a:endParaRPr lang="en-US" sz="1400" dirty="0"/>
          </a:p>
        </p:txBody>
      </p:sp>
      <p:sp>
        <p:nvSpPr>
          <p:cNvPr id="13" name="answer-31"/>
          <p:cNvSpPr txBox="1"/>
          <p:nvPr/>
        </p:nvSpPr>
        <p:spPr>
          <a:xfrm>
            <a:off x="6507328" y="327355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对应设计：</a:t>
            </a:r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信息增益取证：把分歧变成“下一步该查什么”</a:t>
            </a:r>
            <a:endParaRPr lang="en-US" sz="1350" dirty="0"/>
          </a:p>
        </p:txBody>
      </p:sp>
      <p:sp>
        <p:nvSpPr>
          <p:cNvPr id="14" name="card-32"/>
          <p:cNvSpPr/>
          <p:nvPr/>
        </p:nvSpPr>
        <p:spPr>
          <a:xfrm>
            <a:off x="548640" y="406908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badge-33"/>
          <p:cNvSpPr/>
          <p:nvPr/>
        </p:nvSpPr>
        <p:spPr>
          <a:xfrm>
            <a:off x="822960" y="4325112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label-34"/>
          <p:cNvSpPr txBox="1"/>
          <p:nvPr/>
        </p:nvSpPr>
        <p:spPr>
          <a:xfrm>
            <a:off x="1325880" y="4325112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“80% 可信”从何而来</a:t>
            </a:r>
            <a:endParaRPr lang="en-US" sz="1800" dirty="0"/>
          </a:p>
        </p:txBody>
      </p:sp>
      <p:sp>
        <p:nvSpPr>
          <p:cNvPr id="17" name="label-35"/>
          <p:cNvSpPr txBox="1"/>
          <p:nvPr/>
        </p:nvSpPr>
        <p:spPr>
          <a:xfrm>
            <a:off x="822960" y="4846320"/>
            <a:ext cx="486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置信度常是人为设定的分数，无法核验，也说不清“不确定”到底是什么意思。</a:t>
            </a:r>
            <a:endParaRPr lang="en-US" sz="1400" dirty="0"/>
          </a:p>
        </p:txBody>
      </p:sp>
      <p:sp>
        <p:nvSpPr>
          <p:cNvPr id="18" name="answer-36"/>
          <p:cNvSpPr txBox="1"/>
          <p:nvPr/>
        </p:nvSpPr>
        <p:spPr>
          <a:xfrm>
            <a:off x="822960" y="574243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对应设计：</a:t>
            </a:r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共形三分判定：有统计口径，不确定就明说</a:t>
            </a:r>
            <a:endParaRPr lang="en-US" sz="1350" dirty="0"/>
          </a:p>
        </p:txBody>
      </p:sp>
      <p:sp>
        <p:nvSpPr>
          <p:cNvPr id="19" name="card-37"/>
          <p:cNvSpPr/>
          <p:nvPr/>
        </p:nvSpPr>
        <p:spPr>
          <a:xfrm>
            <a:off x="6233008" y="4069080"/>
            <a:ext cx="541004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badge-38"/>
          <p:cNvSpPr/>
          <p:nvPr/>
        </p:nvSpPr>
        <p:spPr>
          <a:xfrm>
            <a:off x="6507328" y="4325112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label-39"/>
          <p:cNvSpPr txBox="1"/>
          <p:nvPr/>
        </p:nvSpPr>
        <p:spPr>
          <a:xfrm>
            <a:off x="7010248" y="4325112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数据与成本</a:t>
            </a:r>
            <a:endParaRPr lang="en-US" sz="1800" dirty="0"/>
          </a:p>
        </p:txBody>
      </p:sp>
      <p:sp>
        <p:nvSpPr>
          <p:cNvPr id="22" name="label-40"/>
          <p:cNvSpPr txBox="1"/>
          <p:nvPr/>
        </p:nvSpPr>
        <p:spPr>
          <a:xfrm>
            <a:off x="6507328" y="4846320"/>
            <a:ext cx="486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临床数据不应离开本机；团队已经购买了 AI 订阅，却还要为 API 另外付费。</a:t>
            </a:r>
            <a:endParaRPr lang="en-US" sz="1400" dirty="0"/>
          </a:p>
        </p:txBody>
      </p:sp>
      <p:sp>
        <p:nvSpPr>
          <p:cNvPr id="23" name="answer-41"/>
          <p:cNvSpPr txBox="1"/>
          <p:nvPr/>
        </p:nvSpPr>
        <p:spPr>
          <a:xfrm>
            <a:off x="6507328" y="5742432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对应设计：</a:t>
            </a:r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本地运行时：复用本机已订阅的 AI 命令行工具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与同类方案的区别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同类系统各有所长；MedScience 的差异在于“结论治理”与“本地可用”。</a:t>
            </a:r>
            <a:endParaRPr lang="en-US" sz="1500" dirty="0"/>
          </a:p>
        </p:txBody>
      </p:sp>
      <p:graphicFrame>
        <p:nvGraphicFramePr>
          <p:cNvPr id="5" name="table-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749040"/>
                <a:gridCol w="469361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代表系统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公开资料中的侧重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MedScience 的不同点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OpenAI Deep Research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多步网页检索，生成带引用的综合报告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证据持久保存、可以撤回；依据被撤稿时，相关结论自动降级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 AI co-scientist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多智能体生成、辩论、排序研究假设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分歧不靠多轮辩论消解，而是转为“预期收益最高”的取证请求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 GraphRAG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知识图谱与社区摘要，改善大语料检索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关注“什么有资格被记住”：准入门禁、状态机与哈希链审计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Sakana AI Scientist-v2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自动设计实验、编写代码并撰写论文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面向生物医学；判定有统计口径；数据与代码执行留在本机沙盒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abel-43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注：仅依据各系统公开发布的资料作比较，不推断其未公开的内部能力。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三类设计：从“怎么想”到“怎么跑”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都是智能体系统层面的架构设计，不修改基础大模型本身，底层模型可以随时替换。</a:t>
            </a:r>
            <a:endParaRPr lang="en-US" sz="1500" dirty="0"/>
          </a:p>
        </p:txBody>
      </p:sp>
      <p:sp>
        <p:nvSpPr>
          <p:cNvPr id="4" name="card-44"/>
          <p:cNvSpPr/>
          <p:nvPr/>
        </p:nvSpPr>
        <p:spPr>
          <a:xfrm>
            <a:off x="548640" y="1645920"/>
            <a:ext cx="3515258" cy="379476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ag-45"/>
          <p:cNvSpPr/>
          <p:nvPr/>
        </p:nvSpPr>
        <p:spPr>
          <a:xfrm>
            <a:off x="822960" y="187452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6" name="label-46"/>
          <p:cNvSpPr txBox="1"/>
          <p:nvPr/>
        </p:nvSpPr>
        <p:spPr>
          <a:xfrm>
            <a:off x="1463040" y="1828800"/>
            <a:ext cx="2417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证据治理设计</a:t>
            </a:r>
            <a:endParaRPr lang="en-US" sz="1900" dirty="0"/>
          </a:p>
        </p:txBody>
      </p:sp>
      <p:sp>
        <p:nvSpPr>
          <p:cNvPr id="7" name="label-47"/>
          <p:cNvSpPr txBox="1"/>
          <p:nvPr/>
        </p:nvSpPr>
        <p:spPr>
          <a:xfrm>
            <a:off x="1463040" y="2194560"/>
            <a:ext cx="2417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智能体推理架构</a:t>
            </a:r>
            <a:endParaRPr lang="en-US" sz="1200" dirty="0"/>
          </a:p>
        </p:txBody>
      </p:sp>
      <p:sp>
        <p:nvSpPr>
          <p:cNvPr id="8" name="label-48"/>
          <p:cNvSpPr txBox="1"/>
          <p:nvPr/>
        </p:nvSpPr>
        <p:spPr>
          <a:xfrm>
            <a:off x="822960" y="260604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管：结论凭什么成立</a:t>
            </a:r>
            <a:endParaRPr lang="en-US" sz="1400" dirty="0"/>
          </a:p>
        </p:txBody>
      </p:sp>
      <p:sp>
        <p:nvSpPr>
          <p:cNvPr id="9" name="bullets-49"/>
          <p:cNvSpPr txBox="1"/>
          <p:nvPr/>
        </p:nvSpPr>
        <p:spPr>
          <a:xfrm>
            <a:off x="822960" y="3063240"/>
            <a:ext cx="30123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① 证据账本：结论必须挂靠已验证的证据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② 信息增益取证：意见分歧时，先查最有用的证据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③ 共形三分判定：支持 / 反驳 / 不确定，各有统计含义</a:t>
            </a:r>
            <a:endParaRPr lang="en-US" sz="1400" dirty="0"/>
          </a:p>
        </p:txBody>
      </p:sp>
      <p:sp>
        <p:nvSpPr>
          <p:cNvPr id="10" name="card-50"/>
          <p:cNvSpPr/>
          <p:nvPr/>
        </p:nvSpPr>
        <p:spPr>
          <a:xfrm>
            <a:off x="4338218" y="1645920"/>
            <a:ext cx="3515258" cy="379476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ag-51"/>
          <p:cNvSpPr/>
          <p:nvPr/>
        </p:nvSpPr>
        <p:spPr>
          <a:xfrm>
            <a:off x="4612538" y="187452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2" name="label-52"/>
          <p:cNvSpPr txBox="1"/>
          <p:nvPr/>
        </p:nvSpPr>
        <p:spPr>
          <a:xfrm>
            <a:off x="5252618" y="1828800"/>
            <a:ext cx="2417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多智能体协作设计</a:t>
            </a:r>
            <a:endParaRPr lang="en-US" sz="1900" dirty="0"/>
          </a:p>
        </p:txBody>
      </p:sp>
      <p:sp>
        <p:nvSpPr>
          <p:cNvPr id="13" name="label-53"/>
          <p:cNvSpPr txBox="1"/>
          <p:nvPr/>
        </p:nvSpPr>
        <p:spPr>
          <a:xfrm>
            <a:off x="5252618" y="2194560"/>
            <a:ext cx="2417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多智能体组织架构</a:t>
            </a:r>
            <a:endParaRPr lang="en-US" sz="1200" dirty="0"/>
          </a:p>
        </p:txBody>
      </p:sp>
      <p:sp>
        <p:nvSpPr>
          <p:cNvPr id="14" name="label-54"/>
          <p:cNvSpPr txBox="1"/>
          <p:nvPr/>
        </p:nvSpPr>
        <p:spPr>
          <a:xfrm>
            <a:off x="4612538" y="260604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管：谁来做、谁把关</a:t>
            </a:r>
            <a:endParaRPr lang="en-US" sz="1400" dirty="0"/>
          </a:p>
        </p:txBody>
      </p:sp>
      <p:sp>
        <p:nvSpPr>
          <p:cNvPr id="15" name="bullets-55"/>
          <p:cNvSpPr txBox="1"/>
          <p:nvPr/>
        </p:nvSpPr>
        <p:spPr>
          <a:xfrm>
            <a:off x="4612538" y="3063240"/>
            <a:ext cx="30123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26 位领域专家、15 个团队模板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队长拆解任务 → 成员并行 → 审查员把关 → 写作专家成文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输入 @ 即可直接点名某位专家</a:t>
            </a:r>
            <a:endParaRPr lang="en-US" sz="1400" dirty="0"/>
          </a:p>
        </p:txBody>
      </p:sp>
      <p:sp>
        <p:nvSpPr>
          <p:cNvPr id="16" name="card-56"/>
          <p:cNvSpPr/>
          <p:nvPr/>
        </p:nvSpPr>
        <p:spPr>
          <a:xfrm>
            <a:off x="8127797" y="1645920"/>
            <a:ext cx="3515258" cy="379476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ag-57"/>
          <p:cNvSpPr/>
          <p:nvPr/>
        </p:nvSpPr>
        <p:spPr>
          <a:xfrm>
            <a:off x="8402117" y="187452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endParaRPr lang="en-US" sz="2000" dirty="0"/>
          </a:p>
        </p:txBody>
      </p:sp>
      <p:sp>
        <p:nvSpPr>
          <p:cNvPr id="18" name="label-58"/>
          <p:cNvSpPr txBox="1"/>
          <p:nvPr/>
        </p:nvSpPr>
        <p:spPr>
          <a:xfrm>
            <a:off x="9042197" y="1828800"/>
            <a:ext cx="2417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运行时与部署设计</a:t>
            </a:r>
            <a:endParaRPr lang="en-US" sz="1900" dirty="0"/>
          </a:p>
        </p:txBody>
      </p:sp>
      <p:sp>
        <p:nvSpPr>
          <p:cNvPr id="19" name="label-59"/>
          <p:cNvSpPr txBox="1"/>
          <p:nvPr/>
        </p:nvSpPr>
        <p:spPr>
          <a:xfrm>
            <a:off x="9042197" y="2194560"/>
            <a:ext cx="2417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工程与部署架构</a:t>
            </a:r>
            <a:endParaRPr lang="en-US" sz="1200" dirty="0"/>
          </a:p>
        </p:txBody>
      </p:sp>
      <p:sp>
        <p:nvSpPr>
          <p:cNvPr id="20" name="label-60"/>
          <p:cNvSpPr txBox="1"/>
          <p:nvPr/>
        </p:nvSpPr>
        <p:spPr>
          <a:xfrm>
            <a:off x="8402117" y="260604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管：在哪里跑、用谁的额度</a:t>
            </a:r>
            <a:endParaRPr lang="en-US" sz="1400" dirty="0"/>
          </a:p>
        </p:txBody>
      </p:sp>
      <p:sp>
        <p:nvSpPr>
          <p:cNvPr id="21" name="bullets-61"/>
          <p:cNvSpPr txBox="1"/>
          <p:nvPr/>
        </p:nvSpPr>
        <p:spPr>
          <a:xfrm>
            <a:off x="8402117" y="3063240"/>
            <a:ext cx="30123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本地运行时：复用本机已订阅的 AI 命令行工具（如 Codex、Claude Code）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同一引擎四种用法：macOS、Windows、Linux、本地 Web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数据留在本机；代码在内核级沙盒中执行</a:t>
            </a:r>
            <a:endParaRPr lang="en-US" sz="1400" dirty="0"/>
          </a:p>
        </p:txBody>
      </p:sp>
      <p:sp>
        <p:nvSpPr>
          <p:cNvPr id="22" name="note-62"/>
          <p:cNvSpPr/>
          <p:nvPr/>
        </p:nvSpPr>
        <p:spPr>
          <a:xfrm>
            <a:off x="548640" y="5623560"/>
            <a:ext cx="11094415" cy="548640"/>
          </a:xfrm>
          <a:prstGeom prst="roundRect">
            <a:avLst>
              <a:gd name="adj" fmla="val 13333"/>
            </a:avLst>
          </a:prstGeom>
          <a:solidFill>
            <a:srgbClr val="E3F3F1"/>
          </a:solidFill>
          <a:ln w="12700">
            <a:solidFill>
              <a:srgbClr val="E3F3F1"/>
            </a:solidFill>
            <a:prstDash val="solid"/>
          </a:ln>
        </p:spPr>
      </p:sp>
      <p:sp>
        <p:nvSpPr>
          <p:cNvPr id="23" name="label-63"/>
          <p:cNvSpPr txBox="1"/>
          <p:nvPr/>
        </p:nvSpPr>
        <p:spPr>
          <a:xfrm>
            <a:off x="822960" y="562356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本次 3.0 的重点是 A 类（新增）；B、C 两类在 2.x 版本已具备，本版继续完善。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总体架构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五层结构；防护钩子贯穿每一次工具调用。</a:t>
            </a:r>
            <a:endParaRPr lang="en-US" sz="1500" dirty="0"/>
          </a:p>
        </p:txBody>
      </p:sp>
      <p:sp>
        <p:nvSpPr>
          <p:cNvPr id="4" name="box-64"/>
          <p:cNvSpPr/>
          <p:nvPr/>
        </p:nvSpPr>
        <p:spPr>
          <a:xfrm>
            <a:off x="548640" y="1600200"/>
            <a:ext cx="1600200" cy="749808"/>
          </a:xfrm>
          <a:prstGeom prst="roundRect">
            <a:avLst>
              <a:gd name="adj" fmla="val 9756"/>
            </a:avLst>
          </a:prstGeom>
          <a:solidFill>
            <a:schemeClr val="accent6"/>
          </a:solidFill>
          <a:ln w="6350">
            <a:solidFill>
              <a:schemeClr val="accent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使用入口</a:t>
            </a:r>
            <a:endParaRPr lang="en-US" sz="1500" dirty="0"/>
          </a:p>
        </p:txBody>
      </p:sp>
      <p:sp>
        <p:nvSpPr>
          <p:cNvPr id="5" name="layer-65"/>
          <p:cNvSpPr/>
          <p:nvPr/>
        </p:nvSpPr>
        <p:spPr>
          <a:xfrm>
            <a:off x="2286000" y="1600200"/>
            <a:ext cx="7635240" cy="749808"/>
          </a:xfrm>
          <a:prstGeom prst="roundRect">
            <a:avLst>
              <a:gd name="adj" fmla="val 9756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6" name="box-66"/>
          <p:cNvSpPr/>
          <p:nvPr/>
        </p:nvSpPr>
        <p:spPr>
          <a:xfrm>
            <a:off x="2423160" y="1728216"/>
            <a:ext cx="361188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桌面端（macOS / Windows / Linux）</a:t>
            </a:r>
            <a:endParaRPr lang="en-US" sz="1300" dirty="0"/>
          </a:p>
        </p:txBody>
      </p:sp>
      <p:sp>
        <p:nvSpPr>
          <p:cNvPr id="7" name="box-67"/>
          <p:cNvSpPr/>
          <p:nvPr/>
        </p:nvSpPr>
        <p:spPr>
          <a:xfrm>
            <a:off x="6172200" y="1728216"/>
            <a:ext cx="361188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本地 Web（仅本机可访问）</a:t>
            </a:r>
            <a:endParaRPr lang="en-US" sz="1300" dirty="0"/>
          </a:p>
        </p:txBody>
      </p:sp>
      <p:sp>
        <p:nvSpPr>
          <p:cNvPr id="8" name="box-68"/>
          <p:cNvSpPr/>
          <p:nvPr/>
        </p:nvSpPr>
        <p:spPr>
          <a:xfrm>
            <a:off x="548640" y="2496312"/>
            <a:ext cx="1600200" cy="749808"/>
          </a:xfrm>
          <a:prstGeom prst="roundRect">
            <a:avLst>
              <a:gd name="adj" fmla="val 9756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协作层</a:t>
            </a:r>
            <a:endParaRPr lang="en-US" sz="1500" dirty="0"/>
          </a:p>
        </p:txBody>
      </p:sp>
      <p:sp>
        <p:nvSpPr>
          <p:cNvPr id="9" name="layer-69"/>
          <p:cNvSpPr/>
          <p:nvPr/>
        </p:nvSpPr>
        <p:spPr>
          <a:xfrm>
            <a:off x="2286000" y="2496312"/>
            <a:ext cx="7635240" cy="749808"/>
          </a:xfrm>
          <a:prstGeom prst="roundRect">
            <a:avLst>
              <a:gd name="adj" fmla="val 9756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0" name="box-70"/>
          <p:cNvSpPr/>
          <p:nvPr/>
        </p:nvSpPr>
        <p:spPr>
          <a:xfrm>
            <a:off x="2423160" y="2624328"/>
            <a:ext cx="173736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队长规划</a:t>
            </a:r>
            <a:endParaRPr lang="en-US" sz="1300" dirty="0"/>
          </a:p>
        </p:txBody>
      </p:sp>
      <p:sp>
        <p:nvSpPr>
          <p:cNvPr id="11" name="box-71"/>
          <p:cNvSpPr/>
          <p:nvPr/>
        </p:nvSpPr>
        <p:spPr>
          <a:xfrm>
            <a:off x="4297680" y="2624328"/>
            <a:ext cx="173736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成员并行执行</a:t>
            </a:r>
            <a:endParaRPr lang="en-US" sz="1300" dirty="0"/>
          </a:p>
        </p:txBody>
      </p:sp>
      <p:sp>
        <p:nvSpPr>
          <p:cNvPr id="12" name="box-72"/>
          <p:cNvSpPr/>
          <p:nvPr/>
        </p:nvSpPr>
        <p:spPr>
          <a:xfrm>
            <a:off x="6172200" y="2624328"/>
            <a:ext cx="173736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审查员质量门</a:t>
            </a:r>
            <a:endParaRPr lang="en-US" sz="1300" dirty="0"/>
          </a:p>
        </p:txBody>
      </p:sp>
      <p:sp>
        <p:nvSpPr>
          <p:cNvPr id="13" name="box-73"/>
          <p:cNvSpPr/>
          <p:nvPr/>
        </p:nvSpPr>
        <p:spPr>
          <a:xfrm>
            <a:off x="8046720" y="2624328"/>
            <a:ext cx="173736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写作专家综合</a:t>
            </a:r>
            <a:endParaRPr lang="en-US" sz="1300" dirty="0"/>
          </a:p>
        </p:txBody>
      </p:sp>
      <p:sp>
        <p:nvSpPr>
          <p:cNvPr id="14" name="box-74"/>
          <p:cNvSpPr/>
          <p:nvPr/>
        </p:nvSpPr>
        <p:spPr>
          <a:xfrm>
            <a:off x="548640" y="3392424"/>
            <a:ext cx="1600200" cy="749808"/>
          </a:xfrm>
          <a:prstGeom prst="roundRect">
            <a:avLst>
              <a:gd name="adj" fmla="val 9756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证据治理层</a:t>
            </a:r>
            <a:endParaRPr lang="en-US" sz="1500" dirty="0"/>
          </a:p>
        </p:txBody>
      </p:sp>
      <p:sp>
        <p:nvSpPr>
          <p:cNvPr id="15" name="layer-75"/>
          <p:cNvSpPr/>
          <p:nvPr/>
        </p:nvSpPr>
        <p:spPr>
          <a:xfrm>
            <a:off x="2286000" y="3392424"/>
            <a:ext cx="7635240" cy="749808"/>
          </a:xfrm>
          <a:prstGeom prst="roundRect">
            <a:avLst>
              <a:gd name="adj" fmla="val 9756"/>
            </a:avLst>
          </a:prstGeom>
          <a:solidFill>
            <a:srgbClr val="E3F3F1"/>
          </a:solidFill>
          <a:ln w="19050">
            <a:solidFill>
              <a:srgbClr val="0E8A7E"/>
            </a:solidFill>
            <a:prstDash val="solid"/>
          </a:ln>
        </p:spPr>
      </p:sp>
      <p:sp>
        <p:nvSpPr>
          <p:cNvPr id="16" name="box-76"/>
          <p:cNvSpPr/>
          <p:nvPr/>
        </p:nvSpPr>
        <p:spPr>
          <a:xfrm>
            <a:off x="2423160" y="3520440"/>
            <a:ext cx="173736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信息增益取证</a:t>
            </a:r>
            <a:endParaRPr lang="en-US" sz="1300" dirty="0"/>
          </a:p>
        </p:txBody>
      </p:sp>
      <p:sp>
        <p:nvSpPr>
          <p:cNvPr id="17" name="box-77"/>
          <p:cNvSpPr/>
          <p:nvPr/>
        </p:nvSpPr>
        <p:spPr>
          <a:xfrm>
            <a:off x="4297680" y="3520440"/>
            <a:ext cx="173736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共形三分判定</a:t>
            </a:r>
            <a:endParaRPr lang="en-US" sz="1300" dirty="0"/>
          </a:p>
        </p:txBody>
      </p:sp>
      <p:sp>
        <p:nvSpPr>
          <p:cNvPr id="18" name="box-78"/>
          <p:cNvSpPr/>
          <p:nvPr/>
        </p:nvSpPr>
        <p:spPr>
          <a:xfrm>
            <a:off x="6172200" y="3520440"/>
            <a:ext cx="173736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准入门禁</a:t>
            </a:r>
            <a:endParaRPr lang="en-US" sz="1300" dirty="0"/>
          </a:p>
        </p:txBody>
      </p:sp>
      <p:sp>
        <p:nvSpPr>
          <p:cNvPr id="19" name="box-79"/>
          <p:cNvSpPr/>
          <p:nvPr/>
        </p:nvSpPr>
        <p:spPr>
          <a:xfrm>
            <a:off x="8046720" y="3520440"/>
            <a:ext cx="173736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证据账本</a:t>
            </a:r>
            <a:endParaRPr lang="en-US" sz="1300" dirty="0"/>
          </a:p>
        </p:txBody>
      </p:sp>
      <p:sp>
        <p:nvSpPr>
          <p:cNvPr id="20" name="tag-80"/>
          <p:cNvSpPr/>
          <p:nvPr/>
        </p:nvSpPr>
        <p:spPr>
          <a:xfrm>
            <a:off x="8961120" y="3246120"/>
            <a:ext cx="868680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3.0 新增</a:t>
            </a:r>
            <a:endParaRPr lang="en-US" sz="1100" dirty="0"/>
          </a:p>
        </p:txBody>
      </p:sp>
      <p:sp>
        <p:nvSpPr>
          <p:cNvPr id="21" name="box-81"/>
          <p:cNvSpPr/>
          <p:nvPr/>
        </p:nvSpPr>
        <p:spPr>
          <a:xfrm>
            <a:off x="548640" y="4288536"/>
            <a:ext cx="1600200" cy="749808"/>
          </a:xfrm>
          <a:prstGeom prst="roundRect">
            <a:avLst>
              <a:gd name="adj" fmla="val 9756"/>
            </a:avLst>
          </a:prstGeom>
          <a:solidFill>
            <a:schemeClr val="accent4"/>
          </a:solidFill>
          <a:ln w="6350">
            <a:solidFill>
              <a:schemeClr val="accent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执行层</a:t>
            </a:r>
            <a:endParaRPr lang="en-US" sz="1500" dirty="0"/>
          </a:p>
        </p:txBody>
      </p:sp>
      <p:sp>
        <p:nvSpPr>
          <p:cNvPr id="22" name="layer-82"/>
          <p:cNvSpPr/>
          <p:nvPr/>
        </p:nvSpPr>
        <p:spPr>
          <a:xfrm>
            <a:off x="2286000" y="4288536"/>
            <a:ext cx="7635240" cy="749808"/>
          </a:xfrm>
          <a:prstGeom prst="roundRect">
            <a:avLst>
              <a:gd name="adj" fmla="val 9756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23" name="box-83"/>
          <p:cNvSpPr/>
          <p:nvPr/>
        </p:nvSpPr>
        <p:spPr>
          <a:xfrm>
            <a:off x="2423160" y="4416552"/>
            <a:ext cx="173736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模型 API</a:t>
            </a:r>
            <a:endParaRPr lang="en-US" sz="1300" dirty="0"/>
          </a:p>
        </p:txBody>
      </p:sp>
      <p:sp>
        <p:nvSpPr>
          <p:cNvPr id="24" name="box-84"/>
          <p:cNvSpPr/>
          <p:nvPr/>
        </p:nvSpPr>
        <p:spPr>
          <a:xfrm>
            <a:off x="4297680" y="4416552"/>
            <a:ext cx="173736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本地 CLI 运行时</a:t>
            </a:r>
            <a:endParaRPr lang="en-US" sz="1300" dirty="0"/>
          </a:p>
        </p:txBody>
      </p:sp>
      <p:sp>
        <p:nvSpPr>
          <p:cNvPr id="25" name="box-85"/>
          <p:cNvSpPr/>
          <p:nvPr/>
        </p:nvSpPr>
        <p:spPr>
          <a:xfrm>
            <a:off x="6172200" y="4416552"/>
            <a:ext cx="173736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科研工具连接器</a:t>
            </a:r>
            <a:endParaRPr lang="en-US" sz="1300" dirty="0"/>
          </a:p>
        </p:txBody>
      </p:sp>
      <p:sp>
        <p:nvSpPr>
          <p:cNvPr id="26" name="box-86"/>
          <p:cNvSpPr/>
          <p:nvPr/>
        </p:nvSpPr>
        <p:spPr>
          <a:xfrm>
            <a:off x="8046720" y="4416552"/>
            <a:ext cx="173736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内核级沙盒</a:t>
            </a:r>
            <a:endParaRPr lang="en-US" sz="1300" dirty="0"/>
          </a:p>
        </p:txBody>
      </p:sp>
      <p:sp>
        <p:nvSpPr>
          <p:cNvPr id="27" name="box-87"/>
          <p:cNvSpPr/>
          <p:nvPr/>
        </p:nvSpPr>
        <p:spPr>
          <a:xfrm>
            <a:off x="548640" y="5184648"/>
            <a:ext cx="1600200" cy="749808"/>
          </a:xfrm>
          <a:prstGeom prst="roundRect">
            <a:avLst>
              <a:gd name="adj" fmla="val 9756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数据层</a:t>
            </a:r>
            <a:endParaRPr lang="en-US" sz="1500" dirty="0"/>
          </a:p>
        </p:txBody>
      </p:sp>
      <p:sp>
        <p:nvSpPr>
          <p:cNvPr id="28" name="layer-88"/>
          <p:cNvSpPr/>
          <p:nvPr/>
        </p:nvSpPr>
        <p:spPr>
          <a:xfrm>
            <a:off x="2286000" y="5184648"/>
            <a:ext cx="7635240" cy="749808"/>
          </a:xfrm>
          <a:prstGeom prst="roundRect">
            <a:avLst>
              <a:gd name="adj" fmla="val 9756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29" name="box-89"/>
          <p:cNvSpPr/>
          <p:nvPr/>
        </p:nvSpPr>
        <p:spPr>
          <a:xfrm>
            <a:off x="2423160" y="5312664"/>
            <a:ext cx="7360920" cy="493776"/>
          </a:xfrm>
          <a:prstGeom prst="roundRect">
            <a:avLst>
              <a:gd name="adj" fmla="val 14815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本机 ~/.medscience：会话 · 证据账本 · 加密密钥库 · 配置</a:t>
            </a:r>
            <a:endParaRPr lang="en-US" sz="1300" dirty="0"/>
          </a:p>
        </p:txBody>
      </p:sp>
      <p:sp>
        <p:nvSpPr>
          <p:cNvPr id="30" name="hooks-90"/>
          <p:cNvSpPr/>
          <p:nvPr/>
        </p:nvSpPr>
        <p:spPr>
          <a:xfrm>
            <a:off x="10104120" y="1600200"/>
            <a:ext cx="1538935" cy="4334256"/>
          </a:xfrm>
          <a:prstGeom prst="roundRect">
            <a:avLst>
              <a:gd name="adj" fmla="val 47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label-91"/>
          <p:cNvSpPr txBox="1"/>
          <p:nvPr/>
        </p:nvSpPr>
        <p:spPr>
          <a:xfrm>
            <a:off x="10195560" y="1783080"/>
            <a:ext cx="1356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防护钩子</a:t>
            </a:r>
            <a:endParaRPr lang="en-US" sz="1600" dirty="0"/>
          </a:p>
        </p:txBody>
      </p:sp>
      <p:sp>
        <p:nvSpPr>
          <p:cNvPr id="32" name="label-92"/>
          <p:cNvSpPr txBox="1"/>
          <p:nvPr/>
        </p:nvSpPr>
        <p:spPr>
          <a:xfrm>
            <a:off x="10241280" y="2148840"/>
            <a:ext cx="1264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7D6"/>
                </a:solidFill>
              </a:rPr>
              <a:t>不可绕过</a:t>
            </a:r>
            <a:endParaRPr lang="en-US" sz="1100" dirty="0"/>
          </a:p>
        </p:txBody>
      </p:sp>
      <p:sp>
        <p:nvSpPr>
          <p:cNvPr id="33" name="box-93"/>
          <p:cNvSpPr/>
          <p:nvPr/>
        </p:nvSpPr>
        <p:spPr>
          <a:xfrm>
            <a:off x="10287000" y="2651760"/>
            <a:ext cx="1173175" cy="566928"/>
          </a:xfrm>
          <a:prstGeom prst="roundRect">
            <a:avLst>
              <a:gd name="adj" fmla="val 12903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密钥脱敏</a:t>
            </a:r>
            <a:endParaRPr lang="en-US" sz="1300" dirty="0"/>
          </a:p>
        </p:txBody>
      </p:sp>
      <p:sp>
        <p:nvSpPr>
          <p:cNvPr id="34" name="box-94"/>
          <p:cNvSpPr/>
          <p:nvPr/>
        </p:nvSpPr>
        <p:spPr>
          <a:xfrm>
            <a:off x="10287000" y="3429000"/>
            <a:ext cx="1173175" cy="566928"/>
          </a:xfrm>
          <a:prstGeom prst="roundRect">
            <a:avLst>
              <a:gd name="adj" fmla="val 12903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临床数据门</a:t>
            </a:r>
            <a:endParaRPr lang="en-US" sz="1300" dirty="0"/>
          </a:p>
        </p:txBody>
      </p:sp>
      <p:sp>
        <p:nvSpPr>
          <p:cNvPr id="35" name="box-95"/>
          <p:cNvSpPr/>
          <p:nvPr/>
        </p:nvSpPr>
        <p:spPr>
          <a:xfrm>
            <a:off x="10287000" y="4206240"/>
            <a:ext cx="1173175" cy="566928"/>
          </a:xfrm>
          <a:prstGeom prst="roundRect">
            <a:avLst>
              <a:gd name="adj" fmla="val 12903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证据数值核验</a:t>
            </a:r>
            <a:endParaRPr lang="en-US" sz="1300" dirty="0"/>
          </a:p>
        </p:txBody>
      </p:sp>
      <p:sp>
        <p:nvSpPr>
          <p:cNvPr id="36" name="box-96"/>
          <p:cNvSpPr/>
          <p:nvPr/>
        </p:nvSpPr>
        <p:spPr>
          <a:xfrm>
            <a:off x="10287000" y="4983480"/>
            <a:ext cx="1173175" cy="566928"/>
          </a:xfrm>
          <a:prstGeom prst="roundRect">
            <a:avLst>
              <a:gd name="adj" fmla="val 12903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引用完整性检查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一次研究提问的数据流转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每一步都留下记录；依据失效时，结论会被“追回”。</a:t>
            </a:r>
            <a:endParaRPr lang="en-US" sz="1500" dirty="0"/>
          </a:p>
        </p:txBody>
      </p:sp>
      <p:sp>
        <p:nvSpPr>
          <p:cNvPr id="4" name="badge-97"/>
          <p:cNvSpPr/>
          <p:nvPr/>
        </p:nvSpPr>
        <p:spPr>
          <a:xfrm>
            <a:off x="988295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box-98"/>
          <p:cNvSpPr/>
          <p:nvPr/>
        </p:nvSpPr>
        <p:spPr>
          <a:xfrm>
            <a:off x="54864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提问</a:t>
            </a:r>
            <a:endParaRPr lang="en-US" sz="1350" dirty="0"/>
          </a:p>
        </p:txBody>
      </p:sp>
      <p:sp>
        <p:nvSpPr>
          <p:cNvPr id="6" name="label-99"/>
          <p:cNvSpPr txBox="1"/>
          <p:nvPr/>
        </p:nvSpPr>
        <p:spPr>
          <a:xfrm>
            <a:off x="50292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研究问题</a:t>
            </a:r>
            <a:endParaRPr lang="en-US" sz="1150" dirty="0"/>
          </a:p>
        </p:txBody>
      </p:sp>
      <p:sp>
        <p:nvSpPr>
          <p:cNvPr id="7" name="arrow-100"/>
          <p:cNvSpPr/>
          <p:nvPr/>
        </p:nvSpPr>
        <p:spPr>
          <a:xfrm>
            <a:off x="1793710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badge-101"/>
          <p:cNvSpPr/>
          <p:nvPr/>
        </p:nvSpPr>
        <p:spPr>
          <a:xfrm>
            <a:off x="2397957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box-102"/>
          <p:cNvSpPr/>
          <p:nvPr/>
        </p:nvSpPr>
        <p:spPr>
          <a:xfrm>
            <a:off x="1958302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规划分工</a:t>
            </a:r>
            <a:endParaRPr lang="en-US" sz="1350" dirty="0"/>
          </a:p>
        </p:txBody>
      </p:sp>
      <p:sp>
        <p:nvSpPr>
          <p:cNvPr id="10" name="label-103"/>
          <p:cNvSpPr txBox="1"/>
          <p:nvPr/>
        </p:nvSpPr>
        <p:spPr>
          <a:xfrm>
            <a:off x="1912582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任务清单</a:t>
            </a:r>
            <a:endParaRPr lang="en-US" sz="1150" dirty="0"/>
          </a:p>
        </p:txBody>
      </p:sp>
      <p:sp>
        <p:nvSpPr>
          <p:cNvPr id="11" name="arrow-104"/>
          <p:cNvSpPr/>
          <p:nvPr/>
        </p:nvSpPr>
        <p:spPr>
          <a:xfrm>
            <a:off x="3203372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badge-105"/>
          <p:cNvSpPr/>
          <p:nvPr/>
        </p:nvSpPr>
        <p:spPr>
          <a:xfrm>
            <a:off x="3807619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box-106"/>
          <p:cNvSpPr/>
          <p:nvPr/>
        </p:nvSpPr>
        <p:spPr>
          <a:xfrm>
            <a:off x="3367964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按收益取证</a:t>
            </a:r>
            <a:endParaRPr lang="en-US" sz="1350" dirty="0"/>
          </a:p>
        </p:txBody>
      </p:sp>
      <p:sp>
        <p:nvSpPr>
          <p:cNvPr id="14" name="label-107"/>
          <p:cNvSpPr txBox="1"/>
          <p:nvPr/>
        </p:nvSpPr>
        <p:spPr>
          <a:xfrm>
            <a:off x="3322244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工具结果</a:t>
            </a:r>
            <a:endParaRPr lang="en-US" sz="1150" dirty="0"/>
          </a:p>
        </p:txBody>
      </p:sp>
      <p:sp>
        <p:nvSpPr>
          <p:cNvPr id="15" name="arrow-108"/>
          <p:cNvSpPr/>
          <p:nvPr/>
        </p:nvSpPr>
        <p:spPr>
          <a:xfrm>
            <a:off x="4613034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badge-109"/>
          <p:cNvSpPr/>
          <p:nvPr/>
        </p:nvSpPr>
        <p:spPr>
          <a:xfrm>
            <a:off x="5217281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box-110"/>
          <p:cNvSpPr/>
          <p:nvPr/>
        </p:nvSpPr>
        <p:spPr>
          <a:xfrm>
            <a:off x="4777626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数值核验</a:t>
            </a:r>
            <a:endParaRPr lang="en-US" sz="1350" dirty="0"/>
          </a:p>
        </p:txBody>
      </p:sp>
      <p:sp>
        <p:nvSpPr>
          <p:cNvPr id="18" name="label-111"/>
          <p:cNvSpPr txBox="1"/>
          <p:nvPr/>
        </p:nvSpPr>
        <p:spPr>
          <a:xfrm>
            <a:off x="4731906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会话证据 EV-n</a:t>
            </a:r>
            <a:endParaRPr lang="en-US" sz="1150" dirty="0"/>
          </a:p>
        </p:txBody>
      </p:sp>
      <p:sp>
        <p:nvSpPr>
          <p:cNvPr id="19" name="arrow-112"/>
          <p:cNvSpPr/>
          <p:nvPr/>
        </p:nvSpPr>
        <p:spPr>
          <a:xfrm>
            <a:off x="6022696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badge-113"/>
          <p:cNvSpPr/>
          <p:nvPr/>
        </p:nvSpPr>
        <p:spPr>
          <a:xfrm>
            <a:off x="6626943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box-114"/>
          <p:cNvSpPr/>
          <p:nvPr/>
        </p:nvSpPr>
        <p:spPr>
          <a:xfrm>
            <a:off x="6187288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准入门禁</a:t>
            </a:r>
            <a:endParaRPr lang="en-US" sz="1350" dirty="0"/>
          </a:p>
        </p:txBody>
      </p:sp>
      <p:sp>
        <p:nvSpPr>
          <p:cNvPr id="22" name="label-115"/>
          <p:cNvSpPr txBox="1"/>
          <p:nvPr/>
        </p:nvSpPr>
        <p:spPr>
          <a:xfrm>
            <a:off x="6141568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候选证据</a:t>
            </a:r>
            <a:endParaRPr lang="en-US" sz="1150" dirty="0"/>
          </a:p>
        </p:txBody>
      </p:sp>
      <p:sp>
        <p:nvSpPr>
          <p:cNvPr id="23" name="arrow-116"/>
          <p:cNvSpPr/>
          <p:nvPr/>
        </p:nvSpPr>
        <p:spPr>
          <a:xfrm>
            <a:off x="7432357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4" name="badge-117"/>
          <p:cNvSpPr/>
          <p:nvPr/>
        </p:nvSpPr>
        <p:spPr>
          <a:xfrm>
            <a:off x="8036604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box-118"/>
          <p:cNvSpPr/>
          <p:nvPr/>
        </p:nvSpPr>
        <p:spPr>
          <a:xfrm>
            <a:off x="759695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证据账本</a:t>
            </a:r>
            <a:endParaRPr lang="en-US" sz="1350" dirty="0"/>
          </a:p>
        </p:txBody>
      </p:sp>
      <p:sp>
        <p:nvSpPr>
          <p:cNvPr id="26" name="label-119"/>
          <p:cNvSpPr txBox="1"/>
          <p:nvPr/>
        </p:nvSpPr>
        <p:spPr>
          <a:xfrm>
            <a:off x="755123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已验证 / 已隔离</a:t>
            </a:r>
            <a:endParaRPr lang="en-US" sz="1150" dirty="0"/>
          </a:p>
        </p:txBody>
      </p:sp>
      <p:sp>
        <p:nvSpPr>
          <p:cNvPr id="27" name="arrow-120"/>
          <p:cNvSpPr/>
          <p:nvPr/>
        </p:nvSpPr>
        <p:spPr>
          <a:xfrm>
            <a:off x="8842019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adge-121"/>
          <p:cNvSpPr/>
          <p:nvPr/>
        </p:nvSpPr>
        <p:spPr>
          <a:xfrm>
            <a:off x="9446266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box-122"/>
          <p:cNvSpPr/>
          <p:nvPr/>
        </p:nvSpPr>
        <p:spPr>
          <a:xfrm>
            <a:off x="9006611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共形判定</a:t>
            </a:r>
            <a:endParaRPr lang="en-US" sz="1350" dirty="0"/>
          </a:p>
        </p:txBody>
      </p:sp>
      <p:sp>
        <p:nvSpPr>
          <p:cNvPr id="30" name="label-123"/>
          <p:cNvSpPr txBox="1"/>
          <p:nvPr/>
        </p:nvSpPr>
        <p:spPr>
          <a:xfrm>
            <a:off x="8960891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预测集</a:t>
            </a:r>
            <a:endParaRPr lang="en-US" sz="1150" dirty="0"/>
          </a:p>
        </p:txBody>
      </p:sp>
      <p:sp>
        <p:nvSpPr>
          <p:cNvPr id="31" name="arrow-124"/>
          <p:cNvSpPr/>
          <p:nvPr/>
        </p:nvSpPr>
        <p:spPr>
          <a:xfrm>
            <a:off x="10251681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badge-125"/>
          <p:cNvSpPr/>
          <p:nvPr/>
        </p:nvSpPr>
        <p:spPr>
          <a:xfrm>
            <a:off x="10855928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33" name="box-126"/>
          <p:cNvSpPr/>
          <p:nvPr/>
        </p:nvSpPr>
        <p:spPr>
          <a:xfrm>
            <a:off x="10416273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输出结论</a:t>
            </a:r>
            <a:endParaRPr lang="en-US" sz="1350" dirty="0"/>
          </a:p>
        </p:txBody>
      </p:sp>
      <p:sp>
        <p:nvSpPr>
          <p:cNvPr id="34" name="label-127"/>
          <p:cNvSpPr txBox="1"/>
          <p:nvPr/>
        </p:nvSpPr>
        <p:spPr>
          <a:xfrm>
            <a:off x="10370553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结论 + 证据编号</a:t>
            </a:r>
            <a:endParaRPr lang="en-US" sz="1150" dirty="0"/>
          </a:p>
        </p:txBody>
      </p:sp>
      <p:sp>
        <p:nvSpPr>
          <p:cNvPr id="35" name="legend-128"/>
          <p:cNvSpPr/>
          <p:nvPr/>
        </p:nvSpPr>
        <p:spPr>
          <a:xfrm>
            <a:off x="548640" y="3566160"/>
            <a:ext cx="274320" cy="182880"/>
          </a:xfrm>
          <a:prstGeom prst="roundRect">
            <a:avLst>
              <a:gd name="adj" fmla="val 15000"/>
            </a:avLst>
          </a:prstGeom>
          <a:solidFill>
            <a:srgbClr val="E3F3F1"/>
          </a:solidFill>
          <a:ln w="12700">
            <a:solidFill>
              <a:srgbClr val="0E8A7E"/>
            </a:solidFill>
            <a:prstDash val="solid"/>
          </a:ln>
        </p:spPr>
      </p:sp>
      <p:sp>
        <p:nvSpPr>
          <p:cNvPr id="36" name="label-129"/>
          <p:cNvSpPr txBox="1"/>
          <p:nvPr/>
        </p:nvSpPr>
        <p:spPr>
          <a:xfrm>
            <a:off x="914400" y="3520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绿色：证据治理层（3.0 新增）负责的步骤</a:t>
            </a:r>
            <a:endParaRPr lang="en-US" sz="1150" dirty="0"/>
          </a:p>
        </p:txBody>
      </p:sp>
      <p:sp>
        <p:nvSpPr>
          <p:cNvPr id="37" name="loop-panel-130"/>
          <p:cNvSpPr/>
          <p:nvPr/>
        </p:nvSpPr>
        <p:spPr>
          <a:xfrm>
            <a:off x="548640" y="4160520"/>
            <a:ext cx="11094415" cy="1965960"/>
          </a:xfrm>
          <a:prstGeom prst="roundRect">
            <a:avLst>
              <a:gd name="adj" fmla="val 4651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38" name="label-131"/>
          <p:cNvSpPr txBox="1"/>
          <p:nvPr/>
        </p:nvSpPr>
        <p:spPr>
          <a:xfrm>
            <a:off x="82296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依据失效时的回路（撤稿 / 关注声明）</a:t>
            </a:r>
            <a:endParaRPr lang="en-US" sz="1500" dirty="0"/>
          </a:p>
        </p:txBody>
      </p:sp>
      <p:sp>
        <p:nvSpPr>
          <p:cNvPr id="39" name="box-132"/>
          <p:cNvSpPr/>
          <p:nvPr/>
        </p:nvSpPr>
        <p:spPr>
          <a:xfrm>
            <a:off x="822960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导入撤稿数据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（Retraction Watch 等）</a:t>
            </a:r>
            <a:endParaRPr lang="en-US" sz="1300" dirty="0"/>
          </a:p>
        </p:txBody>
      </p:sp>
      <p:sp>
        <p:nvSpPr>
          <p:cNvPr id="40" name="arrow-133"/>
          <p:cNvSpPr/>
          <p:nvPr/>
        </p:nvSpPr>
        <p:spPr>
          <a:xfrm>
            <a:off x="3178226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1" name="box-134"/>
          <p:cNvSpPr/>
          <p:nvPr/>
        </p:nvSpPr>
        <p:spPr>
          <a:xfrm>
            <a:off x="3562274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扫描整个证据账本</a:t>
            </a:r>
            <a:endParaRPr lang="en-US" sz="1300" dirty="0"/>
          </a:p>
        </p:txBody>
      </p:sp>
      <p:sp>
        <p:nvSpPr>
          <p:cNvPr id="42" name="arrow-135"/>
          <p:cNvSpPr/>
          <p:nvPr/>
        </p:nvSpPr>
        <p:spPr>
          <a:xfrm>
            <a:off x="5917540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3" name="box-136"/>
          <p:cNvSpPr/>
          <p:nvPr/>
        </p:nvSpPr>
        <p:spPr>
          <a:xfrm>
            <a:off x="6301588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相关证据：撤销 / 标为有争议</a:t>
            </a:r>
            <a:endParaRPr lang="en-US" sz="1300" dirty="0"/>
          </a:p>
        </p:txBody>
      </p:sp>
      <p:sp>
        <p:nvSpPr>
          <p:cNvPr id="44" name="arrow-137"/>
          <p:cNvSpPr/>
          <p:nvPr/>
        </p:nvSpPr>
        <p:spPr>
          <a:xfrm>
            <a:off x="8656853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5" name="box-138"/>
          <p:cNvSpPr/>
          <p:nvPr/>
        </p:nvSpPr>
        <p:spPr>
          <a:xfrm>
            <a:off x="9040901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依赖它的结论：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自动转为“有争议”</a:t>
            </a:r>
            <a:endParaRPr lang="en-US" sz="1300" dirty="0"/>
          </a:p>
        </p:txBody>
      </p:sp>
      <p:sp>
        <p:nvSpPr>
          <p:cNvPr id="46" name="label-139"/>
          <p:cNvSpPr txBox="1"/>
          <p:nvPr/>
        </p:nvSpPr>
        <p:spPr>
          <a:xfrm>
            <a:off x="822960" y="57607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同一次操作完成，并写入哈希链记录原因；恢复证据不会自动恢复结论，需要重新核验。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设计点 ①  证据账本：结论必须有据可查、可以撤回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每条证据经准入门禁才算数；依据失效，结论自动降级。</a:t>
            </a:r>
            <a:endParaRPr lang="en-US" sz="1500" dirty="0"/>
          </a:p>
        </p:txBody>
      </p:sp>
      <p:sp>
        <p:nvSpPr>
          <p:cNvPr id="4" name="box-140"/>
          <p:cNvSpPr/>
          <p:nvPr/>
        </p:nvSpPr>
        <p:spPr>
          <a:xfrm>
            <a:off x="54864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5B6B7C"/>
          </a:solidFill>
          <a:ln w="6350">
            <a:solidFill>
              <a:srgbClr val="5B6B7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候选</a:t>
            </a:r>
            <a:endParaRPr lang="en-US" sz="1500" dirty="0"/>
          </a:p>
        </p:txBody>
      </p:sp>
      <p:sp>
        <p:nvSpPr>
          <p:cNvPr id="5" name="box-141"/>
          <p:cNvSpPr/>
          <p:nvPr/>
        </p:nvSpPr>
        <p:spPr>
          <a:xfrm>
            <a:off x="278892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E8A7E"/>
          </a:solidFill>
          <a:ln w="635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已验证</a:t>
            </a:r>
            <a:endParaRPr lang="en-US" sz="1500" dirty="0"/>
          </a:p>
        </p:txBody>
      </p:sp>
      <p:sp>
        <p:nvSpPr>
          <p:cNvPr id="6" name="box-142"/>
          <p:cNvSpPr/>
          <p:nvPr/>
        </p:nvSpPr>
        <p:spPr>
          <a:xfrm>
            <a:off x="4892040" y="16002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C9792A"/>
          </a:solidFill>
          <a:ln w="635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有争议</a:t>
            </a:r>
            <a:endParaRPr lang="en-US" sz="1500" dirty="0"/>
          </a:p>
        </p:txBody>
      </p:sp>
      <p:sp>
        <p:nvSpPr>
          <p:cNvPr id="7" name="label-143"/>
          <p:cNvSpPr txBox="1"/>
          <p:nvPr/>
        </p:nvSpPr>
        <p:spPr>
          <a:xfrm>
            <a:off x="6400800" y="160020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被反驳</a:t>
            </a:r>
            <a:endParaRPr lang="en-US" sz="1100" dirty="0"/>
          </a:p>
        </p:txBody>
      </p:sp>
      <p:sp>
        <p:nvSpPr>
          <p:cNvPr id="8" name="box-144"/>
          <p:cNvSpPr/>
          <p:nvPr/>
        </p:nvSpPr>
        <p:spPr>
          <a:xfrm>
            <a:off x="489204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1F5F99"/>
          </a:solidFill>
          <a:ln w="6350">
            <a:solidFill>
              <a:srgbClr val="1F5F99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已取代</a:t>
            </a:r>
            <a:endParaRPr lang="en-US" sz="1500" dirty="0"/>
          </a:p>
        </p:txBody>
      </p:sp>
      <p:sp>
        <p:nvSpPr>
          <p:cNvPr id="9" name="label-145"/>
          <p:cNvSpPr txBox="1"/>
          <p:nvPr/>
        </p:nvSpPr>
        <p:spPr>
          <a:xfrm>
            <a:off x="6400800" y="233172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被取代</a:t>
            </a:r>
            <a:endParaRPr lang="en-US" sz="1100" dirty="0"/>
          </a:p>
        </p:txBody>
      </p:sp>
      <p:sp>
        <p:nvSpPr>
          <p:cNvPr id="10" name="box-146"/>
          <p:cNvSpPr/>
          <p:nvPr/>
        </p:nvSpPr>
        <p:spPr>
          <a:xfrm>
            <a:off x="4892040" y="306324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B4233A"/>
          </a:solidFill>
          <a:ln w="6350">
            <a:solidFill>
              <a:srgbClr val="B4233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已撤销</a:t>
            </a:r>
            <a:endParaRPr lang="en-US" sz="1500" dirty="0"/>
          </a:p>
        </p:txBody>
      </p:sp>
      <p:sp>
        <p:nvSpPr>
          <p:cNvPr id="11" name="label-147"/>
          <p:cNvSpPr txBox="1"/>
          <p:nvPr/>
        </p:nvSpPr>
        <p:spPr>
          <a:xfrm>
            <a:off x="6400800" y="306324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来源撤稿</a:t>
            </a:r>
            <a:endParaRPr lang="en-US" sz="1100" dirty="0"/>
          </a:p>
        </p:txBody>
      </p:sp>
      <p:sp>
        <p:nvSpPr>
          <p:cNvPr id="12" name="box-148"/>
          <p:cNvSpPr/>
          <p:nvPr/>
        </p:nvSpPr>
        <p:spPr>
          <a:xfrm>
            <a:off x="548640" y="39319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A0522D"/>
          </a:solidFill>
          <a:ln w="6350">
            <a:solidFill>
              <a:srgbClr val="A0522D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已隔离</a:t>
            </a:r>
            <a:endParaRPr lang="en-US" sz="1500" dirty="0"/>
          </a:p>
        </p:txBody>
      </p:sp>
      <p:sp>
        <p:nvSpPr>
          <p:cNvPr id="13" name="arrow-149"/>
          <p:cNvSpPr/>
          <p:nvPr/>
        </p:nvSpPr>
        <p:spPr>
          <a:xfrm>
            <a:off x="1965960" y="2615184"/>
            <a:ext cx="8229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label-150"/>
          <p:cNvSpPr txBox="1"/>
          <p:nvPr/>
        </p:nvSpPr>
        <p:spPr>
          <a:xfrm>
            <a:off x="1965960" y="1965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通过门禁</a:t>
            </a:r>
            <a:endParaRPr lang="en-US" sz="1100" dirty="0"/>
          </a:p>
        </p:txBody>
      </p:sp>
      <p:sp>
        <p:nvSpPr>
          <p:cNvPr id="15" name="arrow-151"/>
          <p:cNvSpPr/>
          <p:nvPr/>
        </p:nvSpPr>
        <p:spPr>
          <a:xfrm flipV="1">
            <a:off x="4206240" y="1883664"/>
            <a:ext cx="685800" cy="7315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arrow-152"/>
          <p:cNvSpPr/>
          <p:nvPr/>
        </p:nvSpPr>
        <p:spPr>
          <a:xfrm>
            <a:off x="4206240" y="2615184"/>
            <a:ext cx="68580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arrow-153"/>
          <p:cNvSpPr/>
          <p:nvPr/>
        </p:nvSpPr>
        <p:spPr>
          <a:xfrm>
            <a:off x="4206240" y="2615184"/>
            <a:ext cx="685800" cy="7315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arrow-154"/>
          <p:cNvSpPr/>
          <p:nvPr/>
        </p:nvSpPr>
        <p:spPr>
          <a:xfrm>
            <a:off x="1257300" y="2898648"/>
            <a:ext cx="0" cy="103327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label-155"/>
          <p:cNvSpPr txBox="1"/>
          <p:nvPr/>
        </p:nvSpPr>
        <p:spPr>
          <a:xfrm>
            <a:off x="1348740" y="3200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未通过门禁</a:t>
            </a:r>
            <a:endParaRPr lang="en-US" sz="1100" dirty="0"/>
          </a:p>
        </p:txBody>
      </p:sp>
      <p:sp>
        <p:nvSpPr>
          <p:cNvPr id="20" name="arrow-156"/>
          <p:cNvSpPr/>
          <p:nvPr/>
        </p:nvSpPr>
        <p:spPr>
          <a:xfrm flipV="1">
            <a:off x="1965960" y="3630168"/>
            <a:ext cx="2926080" cy="585216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21" name="label-157"/>
          <p:cNvSpPr txBox="1"/>
          <p:nvPr/>
        </p:nvSpPr>
        <p:spPr>
          <a:xfrm>
            <a:off x="260604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确认无效</a:t>
            </a:r>
            <a:endParaRPr lang="en-US" sz="1050" dirty="0"/>
          </a:p>
        </p:txBody>
      </p:sp>
      <p:sp>
        <p:nvSpPr>
          <p:cNvPr id="22" name="example-158"/>
          <p:cNvSpPr/>
          <p:nvPr/>
        </p:nvSpPr>
        <p:spPr>
          <a:xfrm>
            <a:off x="548640" y="4800600"/>
            <a:ext cx="6400800" cy="1188720"/>
          </a:xfrm>
          <a:prstGeom prst="roundRect">
            <a:avLst>
              <a:gd name="adj" fmla="val 7692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23" name="label-159"/>
          <p:cNvSpPr txBox="1"/>
          <p:nvPr/>
        </p:nvSpPr>
        <p:spPr>
          <a:xfrm>
            <a:off x="777240" y="491947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举例：一篇论文被撤稿</a:t>
            </a:r>
            <a:endParaRPr lang="en-US" sz="1400" dirty="0"/>
          </a:p>
        </p:txBody>
      </p:sp>
      <p:sp>
        <p:nvSpPr>
          <p:cNvPr id="24" name="label-160"/>
          <p:cNvSpPr txBox="1"/>
          <p:nvPr/>
        </p:nvSpPr>
        <p:spPr>
          <a:xfrm>
            <a:off x="777240" y="5285232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该证据转为“已撤销” → 引用它的所有已验证结论，在同一次操作中转为“有争议”，并记录原因。测试用例中，受影响的已验证结论由 2 条降为 0 条。</a:t>
            </a:r>
            <a:endParaRPr lang="en-US" sz="1300" dirty="0"/>
          </a:p>
        </p:txBody>
      </p:sp>
      <p:sp>
        <p:nvSpPr>
          <p:cNvPr id="25" name="badge-161"/>
          <p:cNvSpPr/>
          <p:nvPr/>
        </p:nvSpPr>
        <p:spPr>
          <a:xfrm>
            <a:off x="7498080" y="16459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6" name="label-162"/>
          <p:cNvSpPr txBox="1"/>
          <p:nvPr/>
        </p:nvSpPr>
        <p:spPr>
          <a:xfrm>
            <a:off x="8046720" y="162763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准入门禁</a:t>
            </a:r>
            <a:endParaRPr lang="en-US" sz="1700" dirty="0"/>
          </a:p>
        </p:txBody>
      </p:sp>
      <p:sp>
        <p:nvSpPr>
          <p:cNvPr id="27" name="label-163"/>
          <p:cNvSpPr txBox="1"/>
          <p:nvPr/>
        </p:nvSpPr>
        <p:spPr>
          <a:xfrm>
            <a:off x="8046720" y="208483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来源、时效、隐私、数值合理性、撤稿五项检查；不通过即隔离，原因可查。</a:t>
            </a:r>
            <a:endParaRPr lang="en-US" sz="1400" dirty="0"/>
          </a:p>
        </p:txBody>
      </p:sp>
      <p:sp>
        <p:nvSpPr>
          <p:cNvPr id="28" name="badge-164"/>
          <p:cNvSpPr/>
          <p:nvPr/>
        </p:nvSpPr>
        <p:spPr>
          <a:xfrm>
            <a:off x="7498080" y="31089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9" name="label-165"/>
          <p:cNvSpPr txBox="1"/>
          <p:nvPr/>
        </p:nvSpPr>
        <p:spPr>
          <a:xfrm>
            <a:off x="8046720" y="309067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依赖级联</a:t>
            </a:r>
            <a:endParaRPr lang="en-US" sz="1700" dirty="0"/>
          </a:p>
        </p:txBody>
      </p:sp>
      <p:sp>
        <p:nvSpPr>
          <p:cNvPr id="30" name="label-166"/>
          <p:cNvSpPr txBox="1"/>
          <p:nvPr/>
        </p:nvSpPr>
        <p:spPr>
          <a:xfrm>
            <a:off x="8046720" y="354787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证据失效时，依赖它的结论自动降级；恢复证据不会自动恢复结论。</a:t>
            </a:r>
            <a:endParaRPr lang="en-US" sz="1400" dirty="0"/>
          </a:p>
        </p:txBody>
      </p:sp>
      <p:sp>
        <p:nvSpPr>
          <p:cNvPr id="31" name="badge-167"/>
          <p:cNvSpPr/>
          <p:nvPr/>
        </p:nvSpPr>
        <p:spPr>
          <a:xfrm>
            <a:off x="7498080" y="457200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2" name="label-168"/>
          <p:cNvSpPr txBox="1"/>
          <p:nvPr/>
        </p:nvSpPr>
        <p:spPr>
          <a:xfrm>
            <a:off x="8046720" y="455371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防篡改</a:t>
            </a:r>
            <a:endParaRPr lang="en-US" sz="1700" dirty="0"/>
          </a:p>
        </p:txBody>
      </p:sp>
      <p:sp>
        <p:nvSpPr>
          <p:cNvPr id="33" name="label-169"/>
          <p:cNvSpPr txBox="1"/>
          <p:nvPr/>
        </p:nvSpPr>
        <p:spPr>
          <a:xfrm>
            <a:off x="8046720" y="501091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每次变更追加写入哈希链；文件被改动会被发现，账本随即锁为只读。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设计点 ②  信息增益取证：意见分歧时，先查最能分出高下的证据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不再靠多轮辩论“说服”对方，而是在预算内选择最有价值的下一次查询。</a:t>
            </a:r>
            <a:endParaRPr lang="en-US" sz="1500" dirty="0"/>
          </a:p>
        </p:txBody>
      </p:sp>
      <p:sp>
        <p:nvSpPr>
          <p:cNvPr id="4" name="badge-170"/>
          <p:cNvSpPr/>
          <p:nvPr/>
        </p:nvSpPr>
        <p:spPr>
          <a:xfrm>
            <a:off x="548640" y="1755648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box-171"/>
          <p:cNvSpPr/>
          <p:nvPr/>
        </p:nvSpPr>
        <p:spPr>
          <a:xfrm>
            <a:off x="1097280" y="1645920"/>
            <a:ext cx="457200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6350">
            <a:solidFill>
              <a:schemeClr val="bg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6" name="label-172"/>
          <p:cNvSpPr txBox="1"/>
          <p:nvPr/>
        </p:nvSpPr>
        <p:spPr>
          <a:xfrm>
            <a:off x="1280160" y="16824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汇总专家意见</a:t>
            </a:r>
            <a:endParaRPr lang="en-US" sz="1500" dirty="0"/>
          </a:p>
        </p:txBody>
      </p:sp>
      <p:sp>
        <p:nvSpPr>
          <p:cNvPr id="7" name="label-173"/>
          <p:cNvSpPr txBox="1"/>
          <p:nvPr/>
        </p:nvSpPr>
        <p:spPr>
          <a:xfrm>
            <a:off x="1280160" y="19751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各专家的立场与把握程度</a:t>
            </a:r>
            <a:endParaRPr lang="en-US" sz="1200" dirty="0"/>
          </a:p>
        </p:txBody>
      </p:sp>
      <p:sp>
        <p:nvSpPr>
          <p:cNvPr id="8" name="arrow-174"/>
          <p:cNvSpPr/>
          <p:nvPr/>
        </p:nvSpPr>
        <p:spPr>
          <a:xfrm>
            <a:off x="740664" y="2157984"/>
            <a:ext cx="0" cy="47548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badge-175"/>
          <p:cNvSpPr/>
          <p:nvPr/>
        </p:nvSpPr>
        <p:spPr>
          <a:xfrm>
            <a:off x="548640" y="26517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box-176"/>
          <p:cNvSpPr/>
          <p:nvPr/>
        </p:nvSpPr>
        <p:spPr>
          <a:xfrm>
            <a:off x="1097280" y="2542032"/>
            <a:ext cx="457200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6350">
            <a:solidFill>
              <a:schemeClr val="bg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11" name="label-177"/>
          <p:cNvSpPr txBox="1"/>
          <p:nvPr/>
        </p:nvSpPr>
        <p:spPr>
          <a:xfrm>
            <a:off x="1280160" y="25786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计算分歧度</a:t>
            </a:r>
            <a:endParaRPr lang="en-US" sz="1500" dirty="0"/>
          </a:p>
        </p:txBody>
      </p:sp>
      <p:sp>
        <p:nvSpPr>
          <p:cNvPr id="12" name="label-178"/>
          <p:cNvSpPr txBox="1"/>
          <p:nvPr/>
        </p:nvSpPr>
        <p:spPr>
          <a:xfrm>
            <a:off x="1280160" y="28712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意见越分散，越需要取证</a:t>
            </a:r>
            <a:endParaRPr lang="en-US" sz="1200" dirty="0"/>
          </a:p>
        </p:txBody>
      </p:sp>
      <p:sp>
        <p:nvSpPr>
          <p:cNvPr id="13" name="arrow-179"/>
          <p:cNvSpPr/>
          <p:nvPr/>
        </p:nvSpPr>
        <p:spPr>
          <a:xfrm>
            <a:off x="740664" y="3054096"/>
            <a:ext cx="0" cy="47548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badge-180"/>
          <p:cNvSpPr/>
          <p:nvPr/>
        </p:nvSpPr>
        <p:spPr>
          <a:xfrm>
            <a:off x="548640" y="3547872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box-181"/>
          <p:cNvSpPr/>
          <p:nvPr/>
        </p:nvSpPr>
        <p:spPr>
          <a:xfrm>
            <a:off x="1097280" y="3438144"/>
            <a:ext cx="457200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6350">
            <a:solidFill>
              <a:schemeClr val="bg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16" name="label-182"/>
          <p:cNvSpPr txBox="1"/>
          <p:nvPr/>
        </p:nvSpPr>
        <p:spPr>
          <a:xfrm>
            <a:off x="1280160" y="34747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选择下一次查询</a:t>
            </a:r>
            <a:endParaRPr lang="en-US" sz="1500" dirty="0"/>
          </a:p>
        </p:txBody>
      </p:sp>
      <p:sp>
        <p:nvSpPr>
          <p:cNvPr id="17" name="label-183"/>
          <p:cNvSpPr txBox="1"/>
          <p:nvPr/>
        </p:nvSpPr>
        <p:spPr>
          <a:xfrm>
            <a:off x="1280160" y="37673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预期信息增益 ÷ 成本 最高者</a:t>
            </a:r>
            <a:endParaRPr lang="en-US" sz="1200" dirty="0"/>
          </a:p>
        </p:txBody>
      </p:sp>
      <p:sp>
        <p:nvSpPr>
          <p:cNvPr id="18" name="arrow-184"/>
          <p:cNvSpPr/>
          <p:nvPr/>
        </p:nvSpPr>
        <p:spPr>
          <a:xfrm>
            <a:off x="740664" y="3950208"/>
            <a:ext cx="0" cy="47548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9" name="badge-185"/>
          <p:cNvSpPr/>
          <p:nvPr/>
        </p:nvSpPr>
        <p:spPr>
          <a:xfrm>
            <a:off x="548640" y="444398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box-186"/>
          <p:cNvSpPr/>
          <p:nvPr/>
        </p:nvSpPr>
        <p:spPr>
          <a:xfrm>
            <a:off x="1097280" y="4334256"/>
            <a:ext cx="457200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6350">
            <a:solidFill>
              <a:schemeClr val="bg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1" name="label-187"/>
          <p:cNvSpPr txBox="1"/>
          <p:nvPr/>
        </p:nvSpPr>
        <p:spPr>
          <a:xfrm>
            <a:off x="1280160" y="437083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执行并更新判断</a:t>
            </a:r>
            <a:endParaRPr lang="en-US" sz="1500" dirty="0"/>
          </a:p>
        </p:txBody>
      </p:sp>
      <p:sp>
        <p:nvSpPr>
          <p:cNvPr id="22" name="label-188"/>
          <p:cNvSpPr txBox="1"/>
          <p:nvPr/>
        </p:nvSpPr>
        <p:spPr>
          <a:xfrm>
            <a:off x="1280160" y="4663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用查询结果更新各假设的可能性</a:t>
            </a:r>
            <a:endParaRPr lang="en-US" sz="1200" dirty="0"/>
          </a:p>
        </p:txBody>
      </p:sp>
      <p:sp>
        <p:nvSpPr>
          <p:cNvPr id="23" name="arrow-189"/>
          <p:cNvSpPr/>
          <p:nvPr/>
        </p:nvSpPr>
        <p:spPr>
          <a:xfrm>
            <a:off x="740664" y="4846320"/>
            <a:ext cx="0" cy="47548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4" name="badge-190"/>
          <p:cNvSpPr/>
          <p:nvPr/>
        </p:nvSpPr>
        <p:spPr>
          <a:xfrm>
            <a:off x="548640" y="5340096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5" name="box-191"/>
          <p:cNvSpPr/>
          <p:nvPr/>
        </p:nvSpPr>
        <p:spPr>
          <a:xfrm>
            <a:off x="1097280" y="5230368"/>
            <a:ext cx="457200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6350">
            <a:solidFill>
              <a:schemeClr val="bg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6" name="label-192"/>
          <p:cNvSpPr txBox="1"/>
          <p:nvPr/>
        </p:nvSpPr>
        <p:spPr>
          <a:xfrm>
            <a:off x="1280160" y="52669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停止或升级</a:t>
            </a:r>
            <a:endParaRPr lang="en-US" sz="1500" dirty="0"/>
          </a:p>
        </p:txBody>
      </p:sp>
      <p:sp>
        <p:nvSpPr>
          <p:cNvPr id="27" name="label-193"/>
          <p:cNvSpPr txBox="1"/>
          <p:nvPr/>
        </p:nvSpPr>
        <p:spPr>
          <a:xfrm>
            <a:off x="1280160" y="55595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足够确定即停；分歧仍大则请跨领域专家</a:t>
            </a:r>
            <a:endParaRPr lang="en-US" sz="1200" dirty="0"/>
          </a:p>
        </p:txBody>
      </p:sp>
      <p:sp>
        <p:nvSpPr>
          <p:cNvPr id="28" name="label-194"/>
          <p:cNvSpPr txBox="1"/>
          <p:nvPr/>
        </p:nvSpPr>
        <p:spPr>
          <a:xfrm>
            <a:off x="6126480" y="1600200"/>
            <a:ext cx="5516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同一问题下，三类查询的预期信息增益（比特）</a:t>
            </a:r>
            <a:endParaRPr lang="en-US" sz="1500" dirty="0"/>
          </a:p>
        </p:txBody>
      </p:sp>
      <p:graphicFrame>
        <p:nvGraphicFramePr>
          <p:cNvPr id="29" name="chart-195" descr=""/>
          <p:cNvGraphicFramePr/>
          <p:nvPr/>
        </p:nvGraphicFramePr>
        <p:xfrm>
          <a:off x="6126480" y="2011680"/>
          <a:ext cx="5516575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label-196"/>
          <p:cNvSpPr txBox="1"/>
          <p:nvPr/>
        </p:nvSpPr>
        <p:spPr>
          <a:xfrm>
            <a:off x="6126480" y="4434840"/>
            <a:ext cx="5516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默认参数下的示例：先查 ChEMBL 活性数据最能区分“支持 / 反驳”。参数可用真实运行数据重新估计。</a:t>
            </a:r>
            <a:endParaRPr lang="en-US" sz="1150" dirty="0"/>
          </a:p>
        </p:txBody>
      </p:sp>
      <p:sp>
        <p:nvSpPr>
          <p:cNvPr id="31" name="callout-197"/>
          <p:cNvSpPr/>
          <p:nvPr/>
        </p:nvSpPr>
        <p:spPr>
          <a:xfrm>
            <a:off x="6126480" y="5074920"/>
            <a:ext cx="5516575" cy="1097280"/>
          </a:xfrm>
          <a:prstGeom prst="roundRect">
            <a:avLst>
              <a:gd name="adj" fmla="val 8333"/>
            </a:avLst>
          </a:prstGeom>
          <a:solidFill>
            <a:srgbClr val="E3F3F1"/>
          </a:solidFill>
          <a:ln w="12700">
            <a:solidFill>
              <a:srgbClr val="E3F3F1"/>
            </a:solidFill>
            <a:prstDash val="solid"/>
          </a:ln>
        </p:spPr>
      </p:sp>
      <p:sp>
        <p:nvSpPr>
          <p:cNvPr id="32" name="label-198"/>
          <p:cNvSpPr txBox="1"/>
          <p:nvPr/>
        </p:nvSpPr>
        <p:spPr>
          <a:xfrm>
            <a:off x="6355080" y="516636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安全约定：工具调用失败（如网络中断）只消耗预算，绝不会被当作“反证”。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设计点 ③  共形三分判定：“不确定”有明确的统计含义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给出的是一个“可能结果的集合”；集合里只有一个答案时才下结论。</a:t>
            </a:r>
            <a:endParaRPr lang="en-US" sz="1500" dirty="0"/>
          </a:p>
        </p:txBody>
      </p:sp>
      <p:sp>
        <p:nvSpPr>
          <p:cNvPr id="4" name="box-199"/>
          <p:cNvSpPr/>
          <p:nvPr/>
        </p:nvSpPr>
        <p:spPr>
          <a:xfrm>
            <a:off x="548640" y="1645920"/>
            <a:ext cx="2533574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证据特征</a:t>
            </a:r>
            <a:endParaRPr lang="en-US" sz="1500" dirty="0"/>
          </a:p>
        </p:txBody>
      </p:sp>
      <p:sp>
        <p:nvSpPr>
          <p:cNvPr id="5" name="label-200"/>
          <p:cNvSpPr txBox="1"/>
          <p:nvPr/>
        </p:nvSpPr>
        <p:spPr>
          <a:xfrm>
            <a:off x="548640" y="2221992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序列 · 活性 · 临床 · 文献 · 矛盾</a:t>
            </a:r>
            <a:endParaRPr lang="en-US" sz="1200" dirty="0"/>
          </a:p>
        </p:txBody>
      </p:sp>
      <p:sp>
        <p:nvSpPr>
          <p:cNvPr id="6" name="arrow-201"/>
          <p:cNvSpPr/>
          <p:nvPr/>
        </p:nvSpPr>
        <p:spPr>
          <a:xfrm>
            <a:off x="3118790" y="1897380"/>
            <a:ext cx="246888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7" name="box-202"/>
          <p:cNvSpPr/>
          <p:nvPr/>
        </p:nvSpPr>
        <p:spPr>
          <a:xfrm>
            <a:off x="3402254" y="1645920"/>
            <a:ext cx="2533574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打分器</a:t>
            </a:r>
            <a:endParaRPr lang="en-US" sz="1500" dirty="0"/>
          </a:p>
        </p:txBody>
      </p:sp>
      <p:sp>
        <p:nvSpPr>
          <p:cNvPr id="8" name="label-203"/>
          <p:cNvSpPr txBox="1"/>
          <p:nvPr/>
        </p:nvSpPr>
        <p:spPr>
          <a:xfrm>
            <a:off x="3402254" y="2221992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估计“支持”的可能性</a:t>
            </a:r>
            <a:endParaRPr lang="en-US" sz="1200" dirty="0"/>
          </a:p>
        </p:txBody>
      </p:sp>
      <p:sp>
        <p:nvSpPr>
          <p:cNvPr id="9" name="arrow-204"/>
          <p:cNvSpPr/>
          <p:nvPr/>
        </p:nvSpPr>
        <p:spPr>
          <a:xfrm>
            <a:off x="5972404" y="1897380"/>
            <a:ext cx="246888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0" name="box-205"/>
          <p:cNvSpPr/>
          <p:nvPr/>
        </p:nvSpPr>
        <p:spPr>
          <a:xfrm>
            <a:off x="6255868" y="1645920"/>
            <a:ext cx="2533574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校准阈值</a:t>
            </a:r>
            <a:endParaRPr lang="en-US" sz="1500" dirty="0"/>
          </a:p>
        </p:txBody>
      </p:sp>
      <p:sp>
        <p:nvSpPr>
          <p:cNvPr id="11" name="label-206"/>
          <p:cNvSpPr txBox="1"/>
          <p:nvPr/>
        </p:nvSpPr>
        <p:spPr>
          <a:xfrm>
            <a:off x="6255868" y="2221992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由已标注样本按类别确定</a:t>
            </a:r>
            <a:endParaRPr lang="en-US" sz="1200" dirty="0"/>
          </a:p>
        </p:txBody>
      </p:sp>
      <p:sp>
        <p:nvSpPr>
          <p:cNvPr id="12" name="arrow-207"/>
          <p:cNvSpPr/>
          <p:nvPr/>
        </p:nvSpPr>
        <p:spPr>
          <a:xfrm>
            <a:off x="8826017" y="1897380"/>
            <a:ext cx="246888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3" name="box-208"/>
          <p:cNvSpPr/>
          <p:nvPr/>
        </p:nvSpPr>
        <p:spPr>
          <a:xfrm>
            <a:off x="9109481" y="1645920"/>
            <a:ext cx="253357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预测集</a:t>
            </a:r>
            <a:endParaRPr lang="en-US" sz="1500" dirty="0"/>
          </a:p>
        </p:txBody>
      </p:sp>
      <p:sp>
        <p:nvSpPr>
          <p:cNvPr id="14" name="label-209"/>
          <p:cNvSpPr txBox="1"/>
          <p:nvPr/>
        </p:nvSpPr>
        <p:spPr>
          <a:xfrm>
            <a:off x="9109481" y="2221992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在错误率 α 下可能的结果</a:t>
            </a:r>
            <a:endParaRPr lang="en-US" sz="1200" dirty="0"/>
          </a:p>
        </p:txBody>
      </p:sp>
      <p:graphicFrame>
        <p:nvGraphicFramePr>
          <p:cNvPr id="11" name="table-2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88920"/>
          <a:ext cx="6675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3566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预测集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判定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支持 }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只有“支持”与校准数据相符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反驳 }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反驳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只有“反驳”与校准数据相符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支持，反驳 }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不确定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现有证据无法区分两种结果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}（空）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不确定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情况罕见、不像任何已知样本，需人工复核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badge-211"/>
          <p:cNvSpPr/>
          <p:nvPr/>
        </p:nvSpPr>
        <p:spPr>
          <a:xfrm>
            <a:off x="7589520" y="27889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7" name="label-212"/>
          <p:cNvSpPr txBox="1"/>
          <p:nvPr/>
        </p:nvSpPr>
        <p:spPr>
          <a:xfrm>
            <a:off x="8138160" y="2770632"/>
            <a:ext cx="3504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有保证</a:t>
            </a:r>
            <a:endParaRPr lang="en-US" sz="1700" dirty="0"/>
          </a:p>
        </p:txBody>
      </p:sp>
      <p:sp>
        <p:nvSpPr>
          <p:cNvPr id="18" name="label-213"/>
          <p:cNvSpPr txBox="1"/>
          <p:nvPr/>
        </p:nvSpPr>
        <p:spPr>
          <a:xfrm>
            <a:off x="8138160" y="3200400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校准后，每一类的出错率不超过设定的 α（如 10%）。</a:t>
            </a:r>
            <a:endParaRPr lang="en-US" sz="1350" dirty="0"/>
          </a:p>
        </p:txBody>
      </p:sp>
      <p:sp>
        <p:nvSpPr>
          <p:cNvPr id="19" name="badge-214"/>
          <p:cNvSpPr/>
          <p:nvPr/>
        </p:nvSpPr>
        <p:spPr>
          <a:xfrm>
            <a:off x="7589520" y="3904488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0" name="label-215"/>
          <p:cNvSpPr txBox="1"/>
          <p:nvPr/>
        </p:nvSpPr>
        <p:spPr>
          <a:xfrm>
            <a:off x="8138160" y="3886200"/>
            <a:ext cx="3504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不硬猜</a:t>
            </a:r>
            <a:endParaRPr lang="en-US" sz="1700" dirty="0"/>
          </a:p>
        </p:txBody>
      </p:sp>
      <p:sp>
        <p:nvSpPr>
          <p:cNvPr id="21" name="label-216"/>
          <p:cNvSpPr txBox="1"/>
          <p:nvPr/>
        </p:nvSpPr>
        <p:spPr>
          <a:xfrm>
            <a:off x="8138160" y="4315968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没有校准数据时，界面明确显示“未校准”，不声称任何覆盖率。</a:t>
            </a:r>
            <a:endParaRPr lang="en-US" sz="1350" dirty="0"/>
          </a:p>
        </p:txBody>
      </p:sp>
      <p:sp>
        <p:nvSpPr>
          <p:cNvPr id="22" name="badge-217"/>
          <p:cNvSpPr/>
          <p:nvPr/>
        </p:nvSpPr>
        <p:spPr>
          <a:xfrm>
            <a:off x="7589520" y="5020056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label-218"/>
          <p:cNvSpPr txBox="1"/>
          <p:nvPr/>
        </p:nvSpPr>
        <p:spPr>
          <a:xfrm>
            <a:off x="8138160" y="5001768"/>
            <a:ext cx="3504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只看证据</a:t>
            </a:r>
            <a:endParaRPr lang="en-US" sz="1700" dirty="0"/>
          </a:p>
        </p:txBody>
      </p:sp>
      <p:sp>
        <p:nvSpPr>
          <p:cNvPr id="24" name="label-219"/>
          <p:cNvSpPr txBox="1"/>
          <p:nvPr/>
        </p:nvSpPr>
        <p:spPr>
          <a:xfrm>
            <a:off x="8138160" y="5431536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评分只来自工具返回的数据，与靶点名称无关（已有回归测试）。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多智能体协作设计：像课题组一样分工与把关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队长拆解、成员并行、审查员把关、写作专家成文；每条发现都必须附证据编号。</a:t>
            </a:r>
            <a:endParaRPr lang="en-US" sz="1500" dirty="0"/>
          </a:p>
        </p:txBody>
      </p:sp>
      <p:sp>
        <p:nvSpPr>
          <p:cNvPr id="4" name="box-220"/>
          <p:cNvSpPr/>
          <p:nvPr/>
        </p:nvSpPr>
        <p:spPr>
          <a:xfrm>
            <a:off x="548640" y="1600200"/>
            <a:ext cx="475488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6350">
            <a:solidFill>
              <a:schemeClr val="bg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5" name="label-221"/>
          <p:cNvSpPr txBox="1"/>
          <p:nvPr/>
        </p:nvSpPr>
        <p:spPr>
          <a:xfrm>
            <a:off x="731520" y="160020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研究课题</a:t>
            </a:r>
            <a:endParaRPr lang="en-US" sz="1400" dirty="0"/>
          </a:p>
        </p:txBody>
      </p:sp>
      <p:sp>
        <p:nvSpPr>
          <p:cNvPr id="6" name="label-222"/>
          <p:cNvSpPr txBox="1"/>
          <p:nvPr/>
        </p:nvSpPr>
        <p:spPr>
          <a:xfrm>
            <a:off x="2834640" y="160020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用户发给小队</a:t>
            </a:r>
            <a:endParaRPr lang="en-US" sz="1200" dirty="0"/>
          </a:p>
        </p:txBody>
      </p:sp>
      <p:sp>
        <p:nvSpPr>
          <p:cNvPr id="7" name="arrow-223"/>
          <p:cNvSpPr/>
          <p:nvPr/>
        </p:nvSpPr>
        <p:spPr>
          <a:xfrm>
            <a:off x="2926080" y="2112264"/>
            <a:ext cx="0" cy="128016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8" name="box-224"/>
          <p:cNvSpPr/>
          <p:nvPr/>
        </p:nvSpPr>
        <p:spPr>
          <a:xfrm>
            <a:off x="548640" y="2240280"/>
            <a:ext cx="475488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6350">
            <a:solidFill>
              <a:schemeClr val="bg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9" name="label-225"/>
          <p:cNvSpPr txBox="1"/>
          <p:nvPr/>
        </p:nvSpPr>
        <p:spPr>
          <a:xfrm>
            <a:off x="731520" y="224028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队长（PI）规划</a:t>
            </a:r>
            <a:endParaRPr lang="en-US" sz="1400" dirty="0"/>
          </a:p>
        </p:txBody>
      </p:sp>
      <p:sp>
        <p:nvSpPr>
          <p:cNvPr id="10" name="label-226"/>
          <p:cNvSpPr txBox="1"/>
          <p:nvPr/>
        </p:nvSpPr>
        <p:spPr>
          <a:xfrm>
            <a:off x="2834640" y="224028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拆解为有依赖关系的任务</a:t>
            </a:r>
            <a:endParaRPr lang="en-US" sz="1200" dirty="0"/>
          </a:p>
        </p:txBody>
      </p:sp>
      <p:sp>
        <p:nvSpPr>
          <p:cNvPr id="11" name="arrow-227"/>
          <p:cNvSpPr/>
          <p:nvPr/>
        </p:nvSpPr>
        <p:spPr>
          <a:xfrm>
            <a:off x="2926080" y="2752344"/>
            <a:ext cx="0" cy="128016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box-228"/>
          <p:cNvSpPr/>
          <p:nvPr/>
        </p:nvSpPr>
        <p:spPr>
          <a:xfrm>
            <a:off x="548640" y="2880360"/>
            <a:ext cx="475488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6350">
            <a:solidFill>
              <a:schemeClr val="bg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13" name="label-229"/>
          <p:cNvSpPr txBox="1"/>
          <p:nvPr/>
        </p:nvSpPr>
        <p:spPr>
          <a:xfrm>
            <a:off x="731520" y="288036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审批计划（可选）</a:t>
            </a:r>
            <a:endParaRPr lang="en-US" sz="1400" dirty="0"/>
          </a:p>
        </p:txBody>
      </p:sp>
      <p:sp>
        <p:nvSpPr>
          <p:cNvPr id="14" name="label-230"/>
          <p:cNvSpPr txBox="1"/>
          <p:nvPr/>
        </p:nvSpPr>
        <p:spPr>
          <a:xfrm>
            <a:off x="2834640" y="28803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可设为“需队长 / 人工审批”</a:t>
            </a:r>
            <a:endParaRPr lang="en-US" sz="1200" dirty="0"/>
          </a:p>
        </p:txBody>
      </p:sp>
      <p:sp>
        <p:nvSpPr>
          <p:cNvPr id="15" name="arrow-231"/>
          <p:cNvSpPr/>
          <p:nvPr/>
        </p:nvSpPr>
        <p:spPr>
          <a:xfrm>
            <a:off x="2926080" y="3392424"/>
            <a:ext cx="0" cy="128016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box-232"/>
          <p:cNvSpPr/>
          <p:nvPr/>
        </p:nvSpPr>
        <p:spPr>
          <a:xfrm>
            <a:off x="548640" y="3520440"/>
            <a:ext cx="475488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6350">
            <a:solidFill>
              <a:schemeClr val="bg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17" name="label-233"/>
          <p:cNvSpPr txBox="1"/>
          <p:nvPr/>
        </p:nvSpPr>
        <p:spPr>
          <a:xfrm>
            <a:off x="731520" y="352044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成员并行执行</a:t>
            </a:r>
            <a:endParaRPr lang="en-US" sz="1400" dirty="0"/>
          </a:p>
        </p:txBody>
      </p:sp>
      <p:sp>
        <p:nvSpPr>
          <p:cNvPr id="18" name="label-234"/>
          <p:cNvSpPr txBox="1"/>
          <p:nvPr/>
        </p:nvSpPr>
        <p:spPr>
          <a:xfrm>
            <a:off x="2834640" y="3520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按依赖调度，并发数有上限</a:t>
            </a:r>
            <a:endParaRPr lang="en-US" sz="1200" dirty="0"/>
          </a:p>
        </p:txBody>
      </p:sp>
      <p:sp>
        <p:nvSpPr>
          <p:cNvPr id="19" name="arrow-235"/>
          <p:cNvSpPr/>
          <p:nvPr/>
        </p:nvSpPr>
        <p:spPr>
          <a:xfrm>
            <a:off x="2926080" y="4032504"/>
            <a:ext cx="0" cy="128016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0" name="box-236"/>
          <p:cNvSpPr/>
          <p:nvPr/>
        </p:nvSpPr>
        <p:spPr>
          <a:xfrm>
            <a:off x="548640" y="4160520"/>
            <a:ext cx="475488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6350">
            <a:solidFill>
              <a:schemeClr val="bg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1" name="label-237"/>
          <p:cNvSpPr txBox="1"/>
          <p:nvPr/>
        </p:nvSpPr>
        <p:spPr>
          <a:xfrm>
            <a:off x="731520" y="416052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交接成果</a:t>
            </a:r>
            <a:endParaRPr lang="en-US" sz="1400" dirty="0"/>
          </a:p>
        </p:txBody>
      </p:sp>
      <p:sp>
        <p:nvSpPr>
          <p:cNvPr id="22" name="label-238"/>
          <p:cNvSpPr txBox="1"/>
          <p:nvPr/>
        </p:nvSpPr>
        <p:spPr>
          <a:xfrm>
            <a:off x="2834640" y="416052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每条发现须附证据编号</a:t>
            </a:r>
            <a:endParaRPr lang="en-US" sz="1200" dirty="0"/>
          </a:p>
        </p:txBody>
      </p:sp>
      <p:sp>
        <p:nvSpPr>
          <p:cNvPr id="23" name="arrow-239"/>
          <p:cNvSpPr/>
          <p:nvPr/>
        </p:nvSpPr>
        <p:spPr>
          <a:xfrm>
            <a:off x="2926080" y="4672584"/>
            <a:ext cx="0" cy="128016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box-240"/>
          <p:cNvSpPr/>
          <p:nvPr/>
        </p:nvSpPr>
        <p:spPr>
          <a:xfrm>
            <a:off x="548640" y="4800600"/>
            <a:ext cx="4754880" cy="512064"/>
          </a:xfrm>
          <a:prstGeom prst="roundRect">
            <a:avLst>
              <a:gd name="adj" fmla="val 14286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5" name="label-241"/>
          <p:cNvSpPr txBox="1"/>
          <p:nvPr/>
        </p:nvSpPr>
        <p:spPr>
          <a:xfrm>
            <a:off x="731520" y="480060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质量门</a:t>
            </a:r>
            <a:endParaRPr lang="en-US" sz="1400" dirty="0"/>
          </a:p>
        </p:txBody>
      </p:sp>
      <p:sp>
        <p:nvSpPr>
          <p:cNvPr id="26" name="label-242"/>
          <p:cNvSpPr txBox="1"/>
          <p:nvPr/>
        </p:nvSpPr>
        <p:spPr>
          <a:xfrm>
            <a:off x="2834640" y="480060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规则检查 + 科研审查员</a:t>
            </a:r>
            <a:endParaRPr lang="en-US" sz="1200" dirty="0"/>
          </a:p>
        </p:txBody>
      </p:sp>
      <p:sp>
        <p:nvSpPr>
          <p:cNvPr id="27" name="arrow-243"/>
          <p:cNvSpPr/>
          <p:nvPr/>
        </p:nvSpPr>
        <p:spPr>
          <a:xfrm>
            <a:off x="2926080" y="5312664"/>
            <a:ext cx="0" cy="128016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8" name="box-244"/>
          <p:cNvSpPr/>
          <p:nvPr/>
        </p:nvSpPr>
        <p:spPr>
          <a:xfrm>
            <a:off x="548640" y="5440680"/>
            <a:ext cx="4754880" cy="512064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6350">
            <a:solidFill>
              <a:schemeClr val="bg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9" name="label-245"/>
          <p:cNvSpPr txBox="1"/>
          <p:nvPr/>
        </p:nvSpPr>
        <p:spPr>
          <a:xfrm>
            <a:off x="731520" y="544068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综合成报告</a:t>
            </a:r>
            <a:endParaRPr lang="en-US" sz="1400" dirty="0"/>
          </a:p>
        </p:txBody>
      </p:sp>
      <p:sp>
        <p:nvSpPr>
          <p:cNvPr id="30" name="label-246"/>
          <p:cNvSpPr txBox="1"/>
          <p:nvPr/>
        </p:nvSpPr>
        <p:spPr>
          <a:xfrm>
            <a:off x="2834640" y="544068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写作专家撰写，附证据索引</a:t>
            </a:r>
            <a:endParaRPr lang="en-US" sz="1200" dirty="0"/>
          </a:p>
        </p:txBody>
      </p:sp>
      <p:pic>
        <p:nvPicPr>
          <p:cNvPr id="31" name="screenshot-247" descr="小队详情：成员、队长与小队约定（群公告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691640"/>
            <a:ext cx="5973775" cy="2960337"/>
          </a:xfrm>
          <a:prstGeom prst="rect">
            <a:avLst/>
          </a:prstGeom>
        </p:spPr>
      </p:pic>
      <p:sp>
        <p:nvSpPr>
          <p:cNvPr id="32" name="frame-248"/>
          <p:cNvSpPr/>
          <p:nvPr/>
        </p:nvSpPr>
        <p:spPr>
          <a:xfrm>
            <a:off x="5669280" y="1691640"/>
            <a:ext cx="5973775" cy="2960337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33" name="label-249"/>
          <p:cNvSpPr txBox="1"/>
          <p:nvPr/>
        </p:nvSpPr>
        <p:spPr>
          <a:xfrm>
            <a:off x="5669280" y="4725129"/>
            <a:ext cx="5973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小队详情：成员、队长与小队约定（群公告）</a:t>
            </a:r>
            <a:endParaRPr lang="en-US" sz="1100" dirty="0"/>
          </a:p>
        </p:txBody>
      </p:sp>
      <p:sp>
        <p:nvSpPr>
          <p:cNvPr id="34" name="label-250"/>
          <p:cNvSpPr txBox="1"/>
          <p:nvPr/>
        </p:nvSpPr>
        <p:spPr>
          <a:xfrm>
            <a:off x="5669280" y="5760720"/>
            <a:ext cx="1991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26 位</a:t>
            </a:r>
            <a:endParaRPr lang="en-US" sz="2000" dirty="0"/>
          </a:p>
        </p:txBody>
      </p:sp>
      <p:sp>
        <p:nvSpPr>
          <p:cNvPr id="35" name="label-251"/>
          <p:cNvSpPr txBox="1"/>
          <p:nvPr/>
        </p:nvSpPr>
        <p:spPr>
          <a:xfrm>
            <a:off x="5669280" y="6126480"/>
            <a:ext cx="1991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领域专家</a:t>
            </a:r>
            <a:endParaRPr lang="en-US" sz="1150" dirty="0"/>
          </a:p>
        </p:txBody>
      </p:sp>
      <p:sp>
        <p:nvSpPr>
          <p:cNvPr id="36" name="label-252"/>
          <p:cNvSpPr txBox="1"/>
          <p:nvPr/>
        </p:nvSpPr>
        <p:spPr>
          <a:xfrm>
            <a:off x="7660538" y="5760720"/>
            <a:ext cx="1991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15 个</a:t>
            </a:r>
            <a:endParaRPr lang="en-US" sz="2000" dirty="0"/>
          </a:p>
        </p:txBody>
      </p:sp>
      <p:sp>
        <p:nvSpPr>
          <p:cNvPr id="37" name="label-253"/>
          <p:cNvSpPr txBox="1"/>
          <p:nvPr/>
        </p:nvSpPr>
        <p:spPr>
          <a:xfrm>
            <a:off x="7660538" y="6126480"/>
            <a:ext cx="1991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团队模板</a:t>
            </a:r>
            <a:endParaRPr lang="en-US" sz="1150" dirty="0"/>
          </a:p>
        </p:txBody>
      </p:sp>
      <p:sp>
        <p:nvSpPr>
          <p:cNvPr id="38" name="label-254"/>
          <p:cNvSpPr txBox="1"/>
          <p:nvPr/>
        </p:nvSpPr>
        <p:spPr>
          <a:xfrm>
            <a:off x="9651797" y="5760720"/>
            <a:ext cx="1991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严格区分</a:t>
            </a:r>
            <a:endParaRPr lang="en-US" sz="2000" dirty="0"/>
          </a:p>
        </p:txBody>
      </p:sp>
      <p:sp>
        <p:nvSpPr>
          <p:cNvPr id="39" name="label-255"/>
          <p:cNvSpPr txBox="1"/>
          <p:nvPr/>
        </p:nvSpPr>
        <p:spPr>
          <a:xfrm>
            <a:off x="9651797" y="6126480"/>
            <a:ext cx="1991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工具失败 ≠ 阴性结果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运行时设计：直接使用本机已有的 AI 订阅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同一个研究请求，可以走模型 API，也可以交给本机已登录的 AI 命令行工具。</a:t>
            </a:r>
            <a:endParaRPr lang="en-US" sz="1500" dirty="0"/>
          </a:p>
        </p:txBody>
      </p:sp>
      <p:sp>
        <p:nvSpPr>
          <p:cNvPr id="4" name="box-256"/>
          <p:cNvSpPr/>
          <p:nvPr/>
        </p:nvSpPr>
        <p:spPr>
          <a:xfrm>
            <a:off x="548640" y="1691640"/>
            <a:ext cx="182880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研究请求</a:t>
            </a:r>
            <a:endParaRPr lang="en-US" sz="1500" dirty="0"/>
          </a:p>
        </p:txBody>
      </p:sp>
      <p:sp>
        <p:nvSpPr>
          <p:cNvPr id="5" name="arrow-257"/>
          <p:cNvSpPr/>
          <p:nvPr/>
        </p:nvSpPr>
        <p:spPr>
          <a:xfrm>
            <a:off x="2377440" y="2034540"/>
            <a:ext cx="45720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box-258"/>
          <p:cNvSpPr/>
          <p:nvPr/>
        </p:nvSpPr>
        <p:spPr>
          <a:xfrm>
            <a:off x="2834640" y="1691640"/>
            <a:ext cx="173736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6350">
            <a:solidFill>
              <a:schemeClr val="accent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执行路由</a:t>
            </a:r>
            <a:endParaRPr lang="en-US" sz="1500" dirty="0"/>
          </a:p>
        </p:txBody>
      </p:sp>
      <p:sp>
        <p:nvSpPr>
          <p:cNvPr id="7" name="arrow-259"/>
          <p:cNvSpPr/>
          <p:nvPr/>
        </p:nvSpPr>
        <p:spPr>
          <a:xfrm flipV="1">
            <a:off x="4572000" y="1783080"/>
            <a:ext cx="457200" cy="137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arrow-260"/>
          <p:cNvSpPr/>
          <p:nvPr/>
        </p:nvSpPr>
        <p:spPr>
          <a:xfrm>
            <a:off x="4572000" y="2148840"/>
            <a:ext cx="457200" cy="9144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9" name="box-261"/>
          <p:cNvSpPr/>
          <p:nvPr/>
        </p:nvSpPr>
        <p:spPr>
          <a:xfrm>
            <a:off x="5029200" y="1463040"/>
            <a:ext cx="237744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模型 API</a:t>
            </a:r>
            <a:endParaRPr lang="en-US" sz="1500" dirty="0"/>
          </a:p>
        </p:txBody>
      </p:sp>
      <p:sp>
        <p:nvSpPr>
          <p:cNvPr id="10" name="label-262"/>
          <p:cNvSpPr txBox="1"/>
          <p:nvPr/>
        </p:nvSpPr>
        <p:spPr>
          <a:xfrm>
            <a:off x="5029200" y="21762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按调用计费，需要 API 密钥</a:t>
            </a:r>
            <a:endParaRPr lang="en-US" sz="1200" dirty="0"/>
          </a:p>
        </p:txBody>
      </p:sp>
      <p:sp>
        <p:nvSpPr>
          <p:cNvPr id="11" name="box-263"/>
          <p:cNvSpPr/>
          <p:nvPr/>
        </p:nvSpPr>
        <p:spPr>
          <a:xfrm>
            <a:off x="5029200" y="2743200"/>
            <a:ext cx="2377440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本地 CLI 运行时</a:t>
            </a:r>
            <a:endParaRPr lang="en-US" sz="1500" dirty="0"/>
          </a:p>
        </p:txBody>
      </p:sp>
      <p:sp>
        <p:nvSpPr>
          <p:cNvPr id="12" name="label-264"/>
          <p:cNvSpPr txBox="1"/>
          <p:nvPr/>
        </p:nvSpPr>
        <p:spPr>
          <a:xfrm>
            <a:off x="4754880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沿用已有订阅，无需 API 密钥</a:t>
            </a:r>
            <a:endParaRPr lang="en-US" sz="1200" dirty="0"/>
          </a:p>
        </p:txBody>
      </p:sp>
      <p:sp>
        <p:nvSpPr>
          <p:cNvPr id="13" name="bullets-265"/>
          <p:cNvSpPr txBox="1"/>
          <p:nvPr/>
        </p:nvSpPr>
        <p:spPr>
          <a:xfrm>
            <a:off x="548640" y="4069080"/>
            <a:ext cx="6812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自动检测本机已安装的工具：Codex、Claude Code、Cursor Agent、Qwen Code 等 26 种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每个会话使用独立配置目录，不混入日常使用记录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执行命令前先征得用户同意（Codex 全流程支持）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进程统一管理，会话结束即回收</a:t>
            </a:r>
            <a:endParaRPr lang="en-US" sz="1350" dirty="0"/>
          </a:p>
        </p:txBody>
      </p:sp>
      <p:pic>
        <p:nvPicPr>
          <p:cNvPr id="14" name="screenshot-266" descr="本机实测：自动检测到 Claude Code v2.1.28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508760"/>
            <a:ext cx="3916375" cy="4071932"/>
          </a:xfrm>
          <a:prstGeom prst="rect">
            <a:avLst/>
          </a:prstGeom>
        </p:spPr>
      </p:pic>
      <p:sp>
        <p:nvSpPr>
          <p:cNvPr id="15" name="frame-267"/>
          <p:cNvSpPr/>
          <p:nvPr/>
        </p:nvSpPr>
        <p:spPr>
          <a:xfrm>
            <a:off x="7726680" y="1508760"/>
            <a:ext cx="3916375" cy="40719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6" name="label-268"/>
          <p:cNvSpPr txBox="1"/>
          <p:nvPr/>
        </p:nvSpPr>
        <p:spPr>
          <a:xfrm>
            <a:off x="7726680" y="5653844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本机实测：自动检测到 Claude Code v2.1.288</a:t>
            </a:r>
            <a:endParaRPr lang="en-US" sz="1100" dirty="0"/>
          </a:p>
        </p:txBody>
      </p:sp>
      <p:sp>
        <p:nvSpPr>
          <p:cNvPr id="17" name="label-269"/>
          <p:cNvSpPr txBox="1"/>
          <p:nvPr/>
        </p:nvSpPr>
        <p:spPr>
          <a:xfrm>
            <a:off x="548640" y="6053328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说明：Codex 走完整协议并支持审批；Claude Code 已验证会话隔离；其余工具为通用接入，按实际使用逐步验证。使用前请确认相应订阅的服务条款允许此类用法。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使用说明（一）：三步开始一次研究</a:t>
            </a:r>
            <a:endParaRPr lang="en-US" sz="2800" dirty="0"/>
          </a:p>
        </p:txBody>
      </p:sp>
      <p:sp>
        <p:nvSpPr>
          <p:cNvPr id="3" name="badge-270"/>
          <p:cNvSpPr/>
          <p:nvPr/>
        </p:nvSpPr>
        <p:spPr>
          <a:xfrm>
            <a:off x="548640" y="105156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4" name="label-271"/>
          <p:cNvSpPr txBox="1"/>
          <p:nvPr/>
        </p:nvSpPr>
        <p:spPr>
          <a:xfrm>
            <a:off x="1051560" y="105156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安装</a:t>
            </a:r>
            <a:endParaRPr lang="en-US" sz="1700" dirty="0"/>
          </a:p>
        </p:txBody>
      </p:sp>
      <p:sp>
        <p:nvSpPr>
          <p:cNvPr id="5" name="label-272"/>
          <p:cNvSpPr txBox="1"/>
          <p:nvPr/>
        </p:nvSpPr>
        <p:spPr>
          <a:xfrm>
            <a:off x="1051560" y="146304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从 GitHub Releases 下载对应平台的安装包；或在源码目录运行 npm run web，用浏览器打开。</a:t>
            </a:r>
            <a:endParaRPr lang="en-US" sz="1250" dirty="0"/>
          </a:p>
        </p:txBody>
      </p:sp>
      <p:sp>
        <p:nvSpPr>
          <p:cNvPr id="6" name="badge-273"/>
          <p:cNvSpPr/>
          <p:nvPr/>
        </p:nvSpPr>
        <p:spPr>
          <a:xfrm>
            <a:off x="4338218" y="105156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7" name="label-274"/>
          <p:cNvSpPr txBox="1"/>
          <p:nvPr/>
        </p:nvSpPr>
        <p:spPr>
          <a:xfrm>
            <a:off x="4841138" y="105156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配置运行时</a:t>
            </a:r>
            <a:endParaRPr lang="en-US" sz="1700" dirty="0"/>
          </a:p>
        </p:txBody>
      </p:sp>
      <p:sp>
        <p:nvSpPr>
          <p:cNvPr id="8" name="label-275"/>
          <p:cNvSpPr txBox="1"/>
          <p:nvPr/>
        </p:nvSpPr>
        <p:spPr>
          <a:xfrm>
            <a:off x="4841138" y="146304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在“运行时（模型配置）”中绑定本机 AI 命令行工具，或填写一个模型 API。</a:t>
            </a:r>
            <a:endParaRPr lang="en-US" sz="1250" dirty="0"/>
          </a:p>
        </p:txBody>
      </p:sp>
      <p:sp>
        <p:nvSpPr>
          <p:cNvPr id="9" name="badge-276"/>
          <p:cNvSpPr/>
          <p:nvPr/>
        </p:nvSpPr>
        <p:spPr>
          <a:xfrm>
            <a:off x="8127797" y="105156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0" name="label-277"/>
          <p:cNvSpPr txBox="1"/>
          <p:nvPr/>
        </p:nvSpPr>
        <p:spPr>
          <a:xfrm>
            <a:off x="8630717" y="105156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提问</a:t>
            </a:r>
            <a:endParaRPr lang="en-US" sz="1700" dirty="0"/>
          </a:p>
        </p:txBody>
      </p:sp>
      <p:sp>
        <p:nvSpPr>
          <p:cNvPr id="11" name="label-278"/>
          <p:cNvSpPr txBox="1"/>
          <p:nvPr/>
        </p:nvSpPr>
        <p:spPr>
          <a:xfrm>
            <a:off x="8630717" y="146304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在输入框直接提问；输入 @ 可点名某位专家，或把课题交给科研小队。</a:t>
            </a:r>
            <a:endParaRPr lang="en-US" sz="1250" dirty="0"/>
          </a:p>
        </p:txBody>
      </p:sp>
      <p:pic>
        <p:nvPicPr>
          <p:cNvPr id="12" name="screenshot-279" descr="输入 @ 点名专家（此处为“药理学专家”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14600"/>
            <a:ext cx="5364328" cy="1335122"/>
          </a:xfrm>
          <a:prstGeom prst="rect">
            <a:avLst/>
          </a:prstGeom>
        </p:spPr>
      </p:pic>
      <p:sp>
        <p:nvSpPr>
          <p:cNvPr id="13" name="frame-280"/>
          <p:cNvSpPr/>
          <p:nvPr/>
        </p:nvSpPr>
        <p:spPr>
          <a:xfrm>
            <a:off x="548640" y="2514600"/>
            <a:ext cx="5364328" cy="133512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label-281"/>
          <p:cNvSpPr txBox="1"/>
          <p:nvPr/>
        </p:nvSpPr>
        <p:spPr>
          <a:xfrm>
            <a:off x="548640" y="3922874"/>
            <a:ext cx="536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输入 @ 点名专家（此处为“药理学专家”）</a:t>
            </a:r>
            <a:endParaRPr lang="en-US" sz="1100" dirty="0"/>
          </a:p>
        </p:txBody>
      </p:sp>
      <p:pic>
        <p:nvPicPr>
          <p:cNvPr id="15" name="screenshot-282" descr="智能体调用科研工具，每一步都有记录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514600"/>
            <a:ext cx="5364328" cy="1823871"/>
          </a:xfrm>
          <a:prstGeom prst="rect">
            <a:avLst/>
          </a:prstGeom>
        </p:spPr>
      </p:pic>
      <p:sp>
        <p:nvSpPr>
          <p:cNvPr id="16" name="frame-283"/>
          <p:cNvSpPr/>
          <p:nvPr/>
        </p:nvSpPr>
        <p:spPr>
          <a:xfrm>
            <a:off x="6278728" y="2514600"/>
            <a:ext cx="5364328" cy="182387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7" name="label-284"/>
          <p:cNvSpPr txBox="1"/>
          <p:nvPr/>
        </p:nvSpPr>
        <p:spPr>
          <a:xfrm>
            <a:off x="6278728" y="4411623"/>
            <a:ext cx="536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智能体调用科研工具，每一步都有记录</a:t>
            </a:r>
            <a:endParaRPr lang="en-US" sz="1100" dirty="0"/>
          </a:p>
        </p:txBody>
      </p:sp>
      <p:sp>
        <p:nvSpPr>
          <p:cNvPr id="18" name="tip-285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label-286"/>
          <p:cNvSpPr txBox="1"/>
          <p:nvPr/>
        </p:nvSpPr>
        <p:spPr>
          <a:xfrm>
            <a:off x="822960" y="516636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四种用法共用同一套本机数据：在桌面端开始的研究，打开本地 Web 版也能看到；数据只保存在本机 ~/.medscience 目录。</a:t>
            </a:r>
            <a:endParaRPr lang="en-US" sz="14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使用说明（二）：查看证据，追溯结论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每个结论都能追到原始文献与证据记录。</a:t>
            </a:r>
            <a:endParaRPr lang="en-US" sz="1500" dirty="0"/>
          </a:p>
        </p:txBody>
      </p:sp>
      <p:pic>
        <p:nvPicPr>
          <p:cNvPr id="4" name="screenshot-287" descr="① 结论下方列出证据与原始文献，可一键打开原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069080" cy="4050995"/>
          </a:xfrm>
          <a:prstGeom prst="rect">
            <a:avLst/>
          </a:prstGeom>
        </p:spPr>
      </p:pic>
      <p:sp>
        <p:nvSpPr>
          <p:cNvPr id="5" name="frame-288"/>
          <p:cNvSpPr/>
          <p:nvPr/>
        </p:nvSpPr>
        <p:spPr>
          <a:xfrm>
            <a:off x="548640" y="1600200"/>
            <a:ext cx="4069080" cy="405099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label-289"/>
          <p:cNvSpPr txBox="1"/>
          <p:nvPr/>
        </p:nvSpPr>
        <p:spPr>
          <a:xfrm>
            <a:off x="548640" y="5724347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① 结论下方列出证据与原始文献，可一键打开原文</a:t>
            </a:r>
            <a:endParaRPr lang="en-US" sz="1100" dirty="0"/>
          </a:p>
        </p:txBody>
      </p:sp>
      <p:pic>
        <p:nvPicPr>
          <p:cNvPr id="7" name="screenshot-290" descr="② 证据账本：状态、来源、完整历史；可导入撤稿数据批量核查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1342" y="1600200"/>
            <a:ext cx="5758132" cy="4069080"/>
          </a:xfrm>
          <a:prstGeom prst="rect">
            <a:avLst/>
          </a:prstGeom>
        </p:spPr>
      </p:pic>
      <p:sp>
        <p:nvSpPr>
          <p:cNvPr id="8" name="frame-291"/>
          <p:cNvSpPr/>
          <p:nvPr/>
        </p:nvSpPr>
        <p:spPr>
          <a:xfrm>
            <a:off x="5411342" y="1600200"/>
            <a:ext cx="5758132" cy="40690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9" name="label-292"/>
          <p:cNvSpPr txBox="1"/>
          <p:nvPr/>
        </p:nvSpPr>
        <p:spPr>
          <a:xfrm>
            <a:off x="5411342" y="5742432"/>
            <a:ext cx="5758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② 证据账本：状态、来源、完整历史；可导入撤稿数据批量核查</a:t>
            </a:r>
            <a:endParaRPr lang="en-US" sz="1100" dirty="0"/>
          </a:p>
        </p:txBody>
      </p:sp>
      <p:sp>
        <p:nvSpPr>
          <p:cNvPr id="10" name="label-293"/>
          <p:cNvSpPr txBox="1"/>
          <p:nvPr/>
        </p:nvSpPr>
        <p:spPr>
          <a:xfrm>
            <a:off x="548640" y="61081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截图来自真实运行的 v3.0 应用。演示环境使用离线示例模型生成文字；文献列表为 PubMed 实时检索结果。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当前进展与下一步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设计已全部落地并可下载使用；有效性还需要真实任务上的对照实验来证明。</a:t>
            </a:r>
            <a:endParaRPr lang="en-US" sz="1500" dirty="0"/>
          </a:p>
        </p:txBody>
      </p:sp>
      <p:sp>
        <p:nvSpPr>
          <p:cNvPr id="4" name="card-294"/>
          <p:cNvSpPr/>
          <p:nvPr/>
        </p:nvSpPr>
        <p:spPr>
          <a:xfrm>
            <a:off x="548640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295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296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已完成</a:t>
            </a:r>
            <a:endParaRPr lang="en-US" sz="1800" dirty="0"/>
          </a:p>
        </p:txBody>
      </p:sp>
      <p:sp>
        <p:nvSpPr>
          <p:cNvPr id="7" name="bullets-297"/>
          <p:cNvSpPr txBox="1"/>
          <p:nvPr/>
        </p:nvSpPr>
        <p:spPr>
          <a:xfrm>
            <a:off x="822960" y="251460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v3.0.0 已发布：macOS、Windows、Linux 安装包和本地 Web 版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三类设计全部落地，并接入桌面端界面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26 套自动化测试在三个平台持续通过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修正旧版“按靶点名称打分”的问题，评分只看证据</a:t>
            </a:r>
            <a:endParaRPr lang="en-US" sz="1500" dirty="0"/>
          </a:p>
        </p:txBody>
      </p:sp>
      <p:sp>
        <p:nvSpPr>
          <p:cNvPr id="8" name="card-298"/>
          <p:cNvSpPr/>
          <p:nvPr/>
        </p:nvSpPr>
        <p:spPr>
          <a:xfrm>
            <a:off x="4338218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99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300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尚待验证</a:t>
            </a:r>
            <a:endParaRPr lang="en-US" sz="1800" dirty="0"/>
          </a:p>
        </p:txBody>
      </p:sp>
      <p:sp>
        <p:nvSpPr>
          <p:cNvPr id="11" name="bullets-301"/>
          <p:cNvSpPr txBox="1"/>
          <p:nvPr/>
        </p:nvSpPr>
        <p:spPr>
          <a:xfrm>
            <a:off x="4612538" y="251460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尚未在真实科研任务上做对照实验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判定目前处于“未校准”状态，尚无覆盖率保证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部分本地命令行工具仅为通用接入，待逐一验证</a:t>
            </a:r>
            <a:endParaRPr lang="en-US" sz="1500" dirty="0"/>
          </a:p>
        </p:txBody>
      </p:sp>
      <p:sp>
        <p:nvSpPr>
          <p:cNvPr id="12" name="card-302"/>
          <p:cNvSpPr/>
          <p:nvPr/>
        </p:nvSpPr>
        <p:spPr>
          <a:xfrm>
            <a:off x="8127797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303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304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下一步 · 需要的支持</a:t>
            </a:r>
            <a:endParaRPr lang="en-US" sz="1800" dirty="0"/>
          </a:p>
        </p:txBody>
      </p:sp>
      <p:sp>
        <p:nvSpPr>
          <p:cNvPr id="15" name="bullets-305"/>
          <p:cNvSpPr txBox="1"/>
          <p:nvPr/>
        </p:nvSpPr>
        <p:spPr>
          <a:xfrm>
            <a:off x="8402117" y="251460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组织领域专家标注一批真实假设（支持 / 反驳），用于校准与评测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开展同等预算的对照实验：与扁平记忆、多智能体辩论比较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结果稳定后合入主分支发布正式版，并整理成论文</a:t>
            </a:r>
            <a:endParaRPr lang="en-US" sz="1500" dirty="0"/>
          </a:p>
        </p:txBody>
      </p:sp>
      <p:sp>
        <p:nvSpPr>
          <p:cNvPr id="16" name="ask-306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label-307"/>
          <p:cNvSpPr txBox="1"/>
          <p:nvPr/>
        </p:nvSpPr>
        <p:spPr>
          <a:xfrm>
            <a:off x="822960" y="57607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请审阅：是否支持开展专家标注与同等预算对照实验（下一步第 1、2 项）。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Science Report">
  <a:themeElements>
    <a:clrScheme name="MedScience Report">
      <a:dk1>
        <a:srgbClr val="1B2533"/>
      </a:dk1>
      <a:lt1>
        <a:srgbClr val="FFFFFF"/>
      </a:lt1>
      <a:dk2>
        <a:srgbClr val="0F2A44"/>
      </a:dk2>
      <a:lt2>
        <a:srgbClr val="F2F5F8"/>
      </a:lt2>
      <a:accent1>
        <a:srgbClr val="0E8A7E"/>
      </a:accent1>
      <a:accent2>
        <a:srgbClr val="1F5F99"/>
      </a:accent2>
      <a:accent3>
        <a:srgbClr val="C9792A"/>
      </a:accent3>
      <a:accent4>
        <a:srgbClr val="6B4FA0"/>
      </a:accent4>
      <a:accent5>
        <a:srgbClr val="B4233A"/>
      </a:accent5>
      <a:accent6>
        <a:srgbClr val="5B6B7C"/>
      </a:accent6>
      <a:hlink>
        <a:srgbClr val="1F5F99"/>
      </a:hlink>
      <a:folHlink>
        <a:srgbClr val="6B4FA0"/>
      </a:folHlink>
    </a:clrScheme>
    <a:fontScheme name="MedScience Report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MedScience 3.0 设计汇报</dc:title>
  <dc:subject>可信科研智能体工作站：设计动机、架构与使用说明</dc:subject>
  <dc:creator>MedScience</dc:creator>
  <cp:lastModifiedBy>MedScience</cp:lastModifiedBy>
  <cp:revision>1</cp:revision>
  <dcterms:created xsi:type="dcterms:W3CDTF">2026-10-04T02:10:38Z</dcterms:created>
  <dcterms:modified xsi:type="dcterms:W3CDTF">2026-10-04T02:10:38Z</dcterms:modified>
</cp:coreProperties>
</file>