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篇" id="{3f689fd5-f1cc-3779-25ae-a44d73958973}">
          <p14:sldIdLst>
            <p14:sldId id="256"/>
          </p14:sldIdLst>
        </p14:section>
        <p14:section name="为什么" id="{1fd3a710-1749-6ff3-86f9-17bb2fc6e2cc}">
          <p14:sldIdLst>
            <p14:sldId id="257"/>
            <p14:sldId id="258"/>
          </p14:sldIdLst>
        </p14:section>
        <p14:section name="怎么设计" id="{018758b2-bfc9-b330-5da2-59b652a220b2}">
          <p14:sldIdLst>
            <p14:sldId id="259"/>
            <p14:sldId id="260"/>
            <p14:sldId id="261"/>
            <p14:sldId id="262"/>
            <p14:sldId id="263"/>
          </p14:sldIdLst>
        </p14:section>
        <p14:section name="怎么用" id="{3c21cfa5-f4a0-8386-490b-d371cb2bcddb}">
          <p14:sldIdLst>
            <p14:sldId id="264"/>
          </p14:sldIdLst>
        </p14:section>
        <p14:section name="下一步" id="{d36b21c3-b3a8-62f3-2654-5ccb5dcc592b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预期信息增益</c:v>
                </c:pt>
              </c:strCache>
            </c:strRef>
          </c:tx>
          <c:spPr>
            <a:solidFill>
              <a:srgbClr val="0E8A7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5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UniProt 序列信息</c:v>
                  </c:pt>
                  <c:pt idx="1">
                    <c:v>临床试验登记</c:v>
                  </c:pt>
                  <c:pt idx="2">
                    <c:v>ChEMBL 活性数据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0.039</c:v>
                </c:pt>
                <c:pt idx="1">
                  <c:v>0.105</c:v>
                </c:pt>
                <c:pt idx="2">
                  <c:v>0.259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1B25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5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开场一句话：MedScience 是一个面向生物医学的科研智能体工作站。3.0 的重点不是让 AI 说得更多，而是让它的结论站得住：有证据、能撤回、可信度说得清，并且数据留在本机。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这一页给出全貌：问题是什么、我们怎么做、做到哪一步。后面按“为什么、怎么设计、怎么用、下一步”的顺序展开，共 10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左列是四个痛点，中间是同类方案通常怎么做，右列是我们的回应。前三个对应 3.0 新增的证据治理设计，第四个对应本地运行时。同类方案只引用公开资料，不评价其未公开能力。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这一页同时回答“有哪几类设计”和“它们在系统里的位置”。A 类证据治理是 3.0 新增的一层（绿色框），属于智能体的推理架构；B 类是协作层，即科研小队的组织方式；C 类是运行与部署，包括使用入口、执行层和本机数据层，在 2.x 已具备。右侧防护钩子贯穿每一次工具调用。需要强调：这些都是智能体系统层面的设计，没有训练或修改大模型本身。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上排是一次提问的完整路径，每一步下面的小字是这一步产生的数据。绿色四步由 3.0 新增的证据治理层完成。下方是回路：导入撤稿数据后扫描账本，被撤稿的证据被撤销，依赖它的结论在同一操作里自动转为“有争议”，原因写入哈希链，可以审计。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 3.0 的核心。证据和结论有六种状态，只能沿箭头迁移：新证据先是候选，通过准入门禁才算已验证，否则隔离。关键是依赖级联：一篇论文被撤稿，依赖它的结论自动转为“有争议”，不需要人工排查。所有变更写入哈希链，可审计、防篡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左边：意见分歧时，不靠多轮辩论说服对方，而是挑“最能分出高下”的下一次查询。图里是一个例子，先查 ChEMBL 活性数据信息量最大；工具失败只扣预算，不会被当成反对意见。右边：结论以“可能结果的集合”给出，集合里只有一个答案才下结论；两个都可能就是证据不足，空集说明情况罕见。校准后错误率有理论保证，没校准时系统会明确说明，不给虚假的可信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左边是多智能体协作：队长拆解任务，成员并行，交接时每条发现都要附证据编号，再过质量门，最后成文。内置 26 位专家、15 个团队模板。右边是本地运行时：很多团队已经买了 ChatGPT（Codex）或 Claude 的订阅，MedScience 可以直接调用本机已登录的命令行工具，沿用现有额度，不需要 API 密钥。注意除 Codex 和 Claude Code 外其他工具是通用接入，并请确认订阅条款允许这样使用。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四步即可：安装、配置运行时、提问、查看证据。左图是运行时自动检测到本机的 Claude Code；中间是用 @ 点名专家，以及智能体调用工具的记录；右图是证据账本，每条证据的状态、来源和完整历史都能查到。截图都来自真实运行的 3.0 应用。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是进展和请求。设计已全部落地并发布，可以下载试用；尚待验证的是有效性。最需要的支持是领域专家标注一批真实假设，用于校准和评测，然后做同等预算的对照实验，结果稳定后发布正式版并整理论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29184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MedScience 3.0 · 设计汇报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MedScience 3.0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2918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可信科研智能体工作站 · 设计汇报</a:t>
            </a:r>
            <a:endParaRPr lang="en-US" sz="22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B9C7D6"/>
                </a:solidFill>
              </a:rPr>
              <a:t>让每一个科研结论都有据可查、可以撤回、说得清可信度</a:t>
            </a:r>
            <a:endParaRPr lang="en-US" sz="2200" dirty="0"/>
          </a:p>
        </p:txBody>
      </p:sp>
      <p:sp>
        <p:nvSpPr>
          <p:cNvPr id="4" name="label-1"/>
          <p:cNvSpPr txBox="1"/>
          <p:nvPr/>
        </p:nvSpPr>
        <p:spPr>
          <a:xfrm>
            <a:off x="54864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B9C7D6"/>
                </a:solidFill>
              </a:rPr>
              <a:t>2026 年 10 月  ·  版本 v3.0.0（预发布）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一页概要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一句话：让 AI 科研助手的结论有证据、能撤回、说得清可信度，并且数据不出本机。</a:t>
            </a:r>
            <a:endParaRPr lang="en-US" sz="1500" dirty="0"/>
          </a:p>
        </p:txBody>
      </p:sp>
      <p:sp>
        <p:nvSpPr>
          <p:cNvPr id="4" name="card-2"/>
          <p:cNvSpPr/>
          <p:nvPr/>
        </p:nvSpPr>
        <p:spPr>
          <a:xfrm>
            <a:off x="548640" y="1645920"/>
            <a:ext cx="3515258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3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label-4"/>
          <p:cNvSpPr txBox="1"/>
          <p:nvPr/>
        </p:nvSpPr>
        <p:spPr>
          <a:xfrm>
            <a:off x="1325880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要解决的问题</a:t>
            </a:r>
            <a:endParaRPr lang="en-US" sz="1800" dirty="0"/>
          </a:p>
        </p:txBody>
      </p:sp>
      <p:sp>
        <p:nvSpPr>
          <p:cNvPr id="7" name="label-5"/>
          <p:cNvSpPr txBox="1"/>
          <p:nvPr/>
        </p:nvSpPr>
        <p:spPr>
          <a:xfrm>
            <a:off x="822960" y="2468880"/>
            <a:ext cx="296661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科研助手能很快给出结论，但结论依据什么、依据失效后怎么办、可信度到底多高，往往说不清。</a:t>
            </a:r>
            <a:endParaRPr lang="en-US" sz="1500" dirty="0"/>
          </a:p>
        </p:txBody>
      </p:sp>
      <p:sp>
        <p:nvSpPr>
          <p:cNvPr id="8" name="card-6"/>
          <p:cNvSpPr/>
          <p:nvPr/>
        </p:nvSpPr>
        <p:spPr>
          <a:xfrm>
            <a:off x="4338218" y="1645920"/>
            <a:ext cx="3515258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-7"/>
          <p:cNvSpPr/>
          <p:nvPr/>
        </p:nvSpPr>
        <p:spPr>
          <a:xfrm>
            <a:off x="4612538" y="187452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label-8"/>
          <p:cNvSpPr txBox="1"/>
          <p:nvPr/>
        </p:nvSpPr>
        <p:spPr>
          <a:xfrm>
            <a:off x="5115458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我们的做法</a:t>
            </a:r>
            <a:endParaRPr lang="en-US" sz="1800" dirty="0"/>
          </a:p>
        </p:txBody>
      </p:sp>
      <p:sp>
        <p:nvSpPr>
          <p:cNvPr id="11" name="label-9"/>
          <p:cNvSpPr txBox="1"/>
          <p:nvPr/>
        </p:nvSpPr>
        <p:spPr>
          <a:xfrm>
            <a:off x="4612538" y="2468880"/>
            <a:ext cx="296661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三类设计：证据治理（结论必须挂靠已验证的证据）、多智能体协作（专家分工、审查把关）、本地运行（数据在本机，复用已有 AI 订阅）。</a:t>
            </a:r>
            <a:endParaRPr lang="en-US" sz="1500" dirty="0"/>
          </a:p>
        </p:txBody>
      </p:sp>
      <p:sp>
        <p:nvSpPr>
          <p:cNvPr id="12" name="card-10"/>
          <p:cNvSpPr/>
          <p:nvPr/>
        </p:nvSpPr>
        <p:spPr>
          <a:xfrm>
            <a:off x="8127797" y="1645920"/>
            <a:ext cx="3515258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badge-11"/>
          <p:cNvSpPr/>
          <p:nvPr/>
        </p:nvSpPr>
        <p:spPr>
          <a:xfrm>
            <a:off x="8402117" y="1874520"/>
            <a:ext cx="384048" cy="38404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label-12"/>
          <p:cNvSpPr txBox="1"/>
          <p:nvPr/>
        </p:nvSpPr>
        <p:spPr>
          <a:xfrm>
            <a:off x="8905037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当前进展</a:t>
            </a:r>
            <a:endParaRPr lang="en-US" sz="1800" dirty="0"/>
          </a:p>
        </p:txBody>
      </p:sp>
      <p:sp>
        <p:nvSpPr>
          <p:cNvPr id="15" name="label-13"/>
          <p:cNvSpPr txBox="1"/>
          <p:nvPr/>
        </p:nvSpPr>
        <p:spPr>
          <a:xfrm>
            <a:off x="8402117" y="2468880"/>
            <a:ext cx="296661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v3.0.0 已发布：macOS、Windows、Linux 安装包和本地 Web 版，自动化测试在三个平台通过。真实任务上的对照实验尚待开展。</a:t>
            </a:r>
            <a:endParaRPr lang="en-US" sz="1500" dirty="0"/>
          </a:p>
        </p:txBody>
      </p:sp>
      <p:sp>
        <p:nvSpPr>
          <p:cNvPr id="16" name="label-14"/>
          <p:cNvSpPr txBox="1"/>
          <p:nvPr/>
        </p:nvSpPr>
        <p:spPr>
          <a:xfrm>
            <a:off x="548640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3 类</a:t>
            </a:r>
            <a:endParaRPr lang="en-US" sz="3400" dirty="0"/>
          </a:p>
        </p:txBody>
      </p:sp>
      <p:sp>
        <p:nvSpPr>
          <p:cNvPr id="17" name="label-15"/>
          <p:cNvSpPr txBox="1"/>
          <p:nvPr/>
        </p:nvSpPr>
        <p:spPr>
          <a:xfrm>
            <a:off x="548640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系统设计</a:t>
            </a:r>
            <a:endParaRPr lang="en-US" sz="1300" dirty="0"/>
          </a:p>
        </p:txBody>
      </p:sp>
      <p:sp>
        <p:nvSpPr>
          <p:cNvPr id="18" name="label-16"/>
          <p:cNvSpPr txBox="1"/>
          <p:nvPr/>
        </p:nvSpPr>
        <p:spPr>
          <a:xfrm>
            <a:off x="3322244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26 位</a:t>
            </a:r>
            <a:endParaRPr lang="en-US" sz="3400" dirty="0"/>
          </a:p>
        </p:txBody>
      </p:sp>
      <p:sp>
        <p:nvSpPr>
          <p:cNvPr id="19" name="label-17"/>
          <p:cNvSpPr txBox="1"/>
          <p:nvPr/>
        </p:nvSpPr>
        <p:spPr>
          <a:xfrm>
            <a:off x="3322244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领域专家角色</a:t>
            </a:r>
            <a:endParaRPr lang="en-US" sz="1300" dirty="0"/>
          </a:p>
        </p:txBody>
      </p:sp>
      <p:sp>
        <p:nvSpPr>
          <p:cNvPr id="20" name="label-18"/>
          <p:cNvSpPr txBox="1"/>
          <p:nvPr/>
        </p:nvSpPr>
        <p:spPr>
          <a:xfrm>
            <a:off x="6095848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26 种</a:t>
            </a:r>
            <a:endParaRPr lang="en-US" sz="3400" dirty="0"/>
          </a:p>
        </p:txBody>
      </p:sp>
      <p:sp>
        <p:nvSpPr>
          <p:cNvPr id="21" name="label-19"/>
          <p:cNvSpPr txBox="1"/>
          <p:nvPr/>
        </p:nvSpPr>
        <p:spPr>
          <a:xfrm>
            <a:off x="6095848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本地 AI 命令行工具可接入</a:t>
            </a:r>
            <a:endParaRPr lang="en-US" sz="1300" dirty="0"/>
          </a:p>
        </p:txBody>
      </p:sp>
      <p:sp>
        <p:nvSpPr>
          <p:cNvPr id="22" name="label-20"/>
          <p:cNvSpPr txBox="1"/>
          <p:nvPr/>
        </p:nvSpPr>
        <p:spPr>
          <a:xfrm>
            <a:off x="8869451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4 种</a:t>
            </a:r>
            <a:endParaRPr lang="en-US" sz="3400" dirty="0"/>
          </a:p>
        </p:txBody>
      </p:sp>
      <p:sp>
        <p:nvSpPr>
          <p:cNvPr id="23" name="label-21"/>
          <p:cNvSpPr txBox="1"/>
          <p:nvPr/>
        </p:nvSpPr>
        <p:spPr>
          <a:xfrm>
            <a:off x="8869451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使用方式（三平台 + Web）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问题与定位：四个痛点，同类方案与我们的不同回应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同类系统各有所长；MedScience 的差异在于“结论治理”与“本地可用”。</a:t>
            </a:r>
            <a:endParaRPr lang="en-US" sz="1500" dirty="0"/>
          </a:p>
        </p:txBody>
      </p:sp>
      <p:graphicFrame>
        <p:nvGraphicFramePr>
          <p:cNvPr id="4" name="table-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383280"/>
                <a:gridCol w="387065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痛点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同类方案的常见做法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MedScience 的回应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结论难追溯，错误会固化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引用的论文后来被撤稿，结论仍被反复使用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检索后生成带引用的报告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（如 OpenAI Deep Research）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证据账本：证据持久保存；依据失效，相关结论自动降级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“多问几个 AI”不等于更可靠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智能体易互相附和，多轮讨论耗算力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多智能体生成、辩论、排序假设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（如 Google AI co-scientist）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信息增益取证：把分歧变成“下一步最该查什么”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可信度说不清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“80% 可信”从何而来，无法核验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自动打分或排名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（分数本身缺少统计口径）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共形三分判定：支持 / 反驳 / 不确定，各有统计含义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数据与成本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临床数据不应出本机；已有订阅仍要另付 API 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以云端服务为主，按 API 调用计费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本地运行：数据留本机，复用已订阅的 AI 命令行工具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label-23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注：同类方案仅依据其公开发布的资料概括，不推断未公开的内部能力。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总体架构：三类设计落在五层结构中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均为智能体系统层面的架构设计，不修改基础大模型；底层模型可以随时替换。</a:t>
            </a:r>
            <a:endParaRPr lang="en-US" sz="1500" dirty="0"/>
          </a:p>
        </p:txBody>
      </p:sp>
      <p:sp>
        <p:nvSpPr>
          <p:cNvPr id="4" name="tag-24"/>
          <p:cNvSpPr/>
          <p:nvPr/>
        </p:nvSpPr>
        <p:spPr>
          <a:xfrm>
            <a:off x="548640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</a:t>
            </a:r>
            <a:endParaRPr lang="en-US" sz="1500" dirty="0"/>
          </a:p>
        </p:txBody>
      </p:sp>
      <p:sp>
        <p:nvSpPr>
          <p:cNvPr id="5" name="label-25"/>
          <p:cNvSpPr txBox="1"/>
          <p:nvPr/>
        </p:nvSpPr>
        <p:spPr>
          <a:xfrm>
            <a:off x="1051560" y="1517904"/>
            <a:ext cx="31494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证据治理设计</a:t>
            </a:r>
            <a:endParaRPr lang="en-US" sz="1400" dirty="0"/>
          </a:p>
        </p:txBody>
      </p:sp>
      <p:sp>
        <p:nvSpPr>
          <p:cNvPr id="6" name="label-26"/>
          <p:cNvSpPr txBox="1"/>
          <p:nvPr/>
        </p:nvSpPr>
        <p:spPr>
          <a:xfrm>
            <a:off x="1051560" y="1764792"/>
            <a:ext cx="3149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管“结论凭什么成立”（3.0 新增）</a:t>
            </a:r>
            <a:endParaRPr lang="en-US" sz="1150" dirty="0"/>
          </a:p>
        </p:txBody>
      </p:sp>
      <p:sp>
        <p:nvSpPr>
          <p:cNvPr id="7" name="tag-27"/>
          <p:cNvSpPr/>
          <p:nvPr/>
        </p:nvSpPr>
        <p:spPr>
          <a:xfrm>
            <a:off x="4246778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</a:t>
            </a:r>
            <a:endParaRPr lang="en-US" sz="1500" dirty="0"/>
          </a:p>
        </p:txBody>
      </p:sp>
      <p:sp>
        <p:nvSpPr>
          <p:cNvPr id="8" name="label-28"/>
          <p:cNvSpPr txBox="1"/>
          <p:nvPr/>
        </p:nvSpPr>
        <p:spPr>
          <a:xfrm>
            <a:off x="4749698" y="1517904"/>
            <a:ext cx="31494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多智能体协作设计</a:t>
            </a:r>
            <a:endParaRPr lang="en-US" sz="1400" dirty="0"/>
          </a:p>
        </p:txBody>
      </p:sp>
      <p:sp>
        <p:nvSpPr>
          <p:cNvPr id="9" name="label-29"/>
          <p:cNvSpPr txBox="1"/>
          <p:nvPr/>
        </p:nvSpPr>
        <p:spPr>
          <a:xfrm>
            <a:off x="4749698" y="1764792"/>
            <a:ext cx="3149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管“谁来做、谁把关”</a:t>
            </a:r>
            <a:endParaRPr lang="en-US" sz="1150" dirty="0"/>
          </a:p>
        </p:txBody>
      </p:sp>
      <p:sp>
        <p:nvSpPr>
          <p:cNvPr id="10" name="tag-30"/>
          <p:cNvSpPr/>
          <p:nvPr/>
        </p:nvSpPr>
        <p:spPr>
          <a:xfrm>
            <a:off x="7944917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</a:t>
            </a:r>
            <a:endParaRPr lang="en-US" sz="1500" dirty="0"/>
          </a:p>
        </p:txBody>
      </p:sp>
      <p:sp>
        <p:nvSpPr>
          <p:cNvPr id="11" name="label-31"/>
          <p:cNvSpPr txBox="1"/>
          <p:nvPr/>
        </p:nvSpPr>
        <p:spPr>
          <a:xfrm>
            <a:off x="8447837" y="1517904"/>
            <a:ext cx="31494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运行时与部署设计</a:t>
            </a:r>
            <a:endParaRPr lang="en-US" sz="1400" dirty="0"/>
          </a:p>
        </p:txBody>
      </p:sp>
      <p:sp>
        <p:nvSpPr>
          <p:cNvPr id="12" name="label-32"/>
          <p:cNvSpPr txBox="1"/>
          <p:nvPr/>
        </p:nvSpPr>
        <p:spPr>
          <a:xfrm>
            <a:off x="8447837" y="1764792"/>
            <a:ext cx="3149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管“在哪里跑、用谁的额度”</a:t>
            </a:r>
            <a:endParaRPr lang="en-US" sz="1150" dirty="0"/>
          </a:p>
        </p:txBody>
      </p:sp>
      <p:sp>
        <p:nvSpPr>
          <p:cNvPr id="13" name="box-33"/>
          <p:cNvSpPr/>
          <p:nvPr/>
        </p:nvSpPr>
        <p:spPr>
          <a:xfrm>
            <a:off x="548640" y="224028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 · 使用入口</a:t>
            </a:r>
            <a:endParaRPr lang="en-US" sz="1400" dirty="0"/>
          </a:p>
        </p:txBody>
      </p:sp>
      <p:sp>
        <p:nvSpPr>
          <p:cNvPr id="14" name="layer-34"/>
          <p:cNvSpPr/>
          <p:nvPr/>
        </p:nvSpPr>
        <p:spPr>
          <a:xfrm>
            <a:off x="2286000" y="224028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15" name="box-35"/>
          <p:cNvSpPr/>
          <p:nvPr/>
        </p:nvSpPr>
        <p:spPr>
          <a:xfrm>
            <a:off x="2423160" y="2350008"/>
            <a:ext cx="361188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桌面端（macOS / Windows / Linux）</a:t>
            </a:r>
            <a:endParaRPr lang="en-US" sz="1250" dirty="0"/>
          </a:p>
        </p:txBody>
      </p:sp>
      <p:sp>
        <p:nvSpPr>
          <p:cNvPr id="16" name="box-36"/>
          <p:cNvSpPr/>
          <p:nvPr/>
        </p:nvSpPr>
        <p:spPr>
          <a:xfrm>
            <a:off x="6172200" y="2350008"/>
            <a:ext cx="361188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本地 Web（仅本机可访问）</a:t>
            </a:r>
            <a:endParaRPr lang="en-US" sz="1250" dirty="0"/>
          </a:p>
        </p:txBody>
      </p:sp>
      <p:sp>
        <p:nvSpPr>
          <p:cNvPr id="17" name="box-37"/>
          <p:cNvSpPr/>
          <p:nvPr/>
        </p:nvSpPr>
        <p:spPr>
          <a:xfrm>
            <a:off x="548640" y="301752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 · 协作层</a:t>
            </a:r>
            <a:endParaRPr lang="en-US" sz="1400" dirty="0"/>
          </a:p>
        </p:txBody>
      </p:sp>
      <p:sp>
        <p:nvSpPr>
          <p:cNvPr id="18" name="layer-38"/>
          <p:cNvSpPr/>
          <p:nvPr/>
        </p:nvSpPr>
        <p:spPr>
          <a:xfrm>
            <a:off x="2286000" y="301752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19" name="box-39"/>
          <p:cNvSpPr/>
          <p:nvPr/>
        </p:nvSpPr>
        <p:spPr>
          <a:xfrm>
            <a:off x="242316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队长规划</a:t>
            </a:r>
            <a:endParaRPr lang="en-US" sz="1250" dirty="0"/>
          </a:p>
        </p:txBody>
      </p:sp>
      <p:sp>
        <p:nvSpPr>
          <p:cNvPr id="20" name="box-40"/>
          <p:cNvSpPr/>
          <p:nvPr/>
        </p:nvSpPr>
        <p:spPr>
          <a:xfrm>
            <a:off x="429768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成员并行执行</a:t>
            </a:r>
            <a:endParaRPr lang="en-US" sz="1250" dirty="0"/>
          </a:p>
        </p:txBody>
      </p:sp>
      <p:sp>
        <p:nvSpPr>
          <p:cNvPr id="21" name="box-41"/>
          <p:cNvSpPr/>
          <p:nvPr/>
        </p:nvSpPr>
        <p:spPr>
          <a:xfrm>
            <a:off x="617220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审查员质量门</a:t>
            </a:r>
            <a:endParaRPr lang="en-US" sz="1250" dirty="0"/>
          </a:p>
        </p:txBody>
      </p:sp>
      <p:sp>
        <p:nvSpPr>
          <p:cNvPr id="22" name="box-42"/>
          <p:cNvSpPr/>
          <p:nvPr/>
        </p:nvSpPr>
        <p:spPr>
          <a:xfrm>
            <a:off x="804672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写作专家综合</a:t>
            </a:r>
            <a:endParaRPr lang="en-US" sz="1250" dirty="0"/>
          </a:p>
        </p:txBody>
      </p:sp>
      <p:sp>
        <p:nvSpPr>
          <p:cNvPr id="23" name="box-43"/>
          <p:cNvSpPr/>
          <p:nvPr/>
        </p:nvSpPr>
        <p:spPr>
          <a:xfrm>
            <a:off x="548640" y="379476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 · 证据治理层</a:t>
            </a:r>
            <a:endParaRPr lang="en-US" sz="1400" dirty="0"/>
          </a:p>
        </p:txBody>
      </p:sp>
      <p:sp>
        <p:nvSpPr>
          <p:cNvPr id="24" name="layer-44"/>
          <p:cNvSpPr/>
          <p:nvPr/>
        </p:nvSpPr>
        <p:spPr>
          <a:xfrm>
            <a:off x="2286000" y="379476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E3F3F1"/>
          </a:solidFill>
          <a:ln w="19050">
            <a:solidFill>
              <a:srgbClr val="0E8A7E"/>
            </a:solidFill>
            <a:prstDash val="solid"/>
          </a:ln>
        </p:spPr>
      </p:sp>
      <p:sp>
        <p:nvSpPr>
          <p:cNvPr id="25" name="box-45"/>
          <p:cNvSpPr/>
          <p:nvPr/>
        </p:nvSpPr>
        <p:spPr>
          <a:xfrm>
            <a:off x="2423160" y="390448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信息增益取证</a:t>
            </a:r>
            <a:endParaRPr lang="en-US" sz="1250" dirty="0"/>
          </a:p>
        </p:txBody>
      </p:sp>
      <p:sp>
        <p:nvSpPr>
          <p:cNvPr id="26" name="box-46"/>
          <p:cNvSpPr/>
          <p:nvPr/>
        </p:nvSpPr>
        <p:spPr>
          <a:xfrm>
            <a:off x="4297680" y="390448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共形三分判定</a:t>
            </a:r>
            <a:endParaRPr lang="en-US" sz="1250" dirty="0"/>
          </a:p>
        </p:txBody>
      </p:sp>
      <p:sp>
        <p:nvSpPr>
          <p:cNvPr id="27" name="box-47"/>
          <p:cNvSpPr/>
          <p:nvPr/>
        </p:nvSpPr>
        <p:spPr>
          <a:xfrm>
            <a:off x="6172200" y="390448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准入门禁</a:t>
            </a:r>
            <a:endParaRPr lang="en-US" sz="1250" dirty="0"/>
          </a:p>
        </p:txBody>
      </p:sp>
      <p:sp>
        <p:nvSpPr>
          <p:cNvPr id="28" name="box-48"/>
          <p:cNvSpPr/>
          <p:nvPr/>
        </p:nvSpPr>
        <p:spPr>
          <a:xfrm>
            <a:off x="8046720" y="390448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证据账本</a:t>
            </a:r>
            <a:endParaRPr lang="en-US" sz="1250" dirty="0"/>
          </a:p>
        </p:txBody>
      </p:sp>
      <p:sp>
        <p:nvSpPr>
          <p:cNvPr id="29" name="box-49"/>
          <p:cNvSpPr/>
          <p:nvPr/>
        </p:nvSpPr>
        <p:spPr>
          <a:xfrm>
            <a:off x="548640" y="457200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 · 执行层</a:t>
            </a:r>
            <a:endParaRPr lang="en-US" sz="1400" dirty="0"/>
          </a:p>
        </p:txBody>
      </p:sp>
      <p:sp>
        <p:nvSpPr>
          <p:cNvPr id="30" name="layer-50"/>
          <p:cNvSpPr/>
          <p:nvPr/>
        </p:nvSpPr>
        <p:spPr>
          <a:xfrm>
            <a:off x="2286000" y="457200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31" name="box-51"/>
          <p:cNvSpPr/>
          <p:nvPr/>
        </p:nvSpPr>
        <p:spPr>
          <a:xfrm>
            <a:off x="242316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模型 API</a:t>
            </a:r>
            <a:endParaRPr lang="en-US" sz="1250" dirty="0"/>
          </a:p>
        </p:txBody>
      </p:sp>
      <p:sp>
        <p:nvSpPr>
          <p:cNvPr id="32" name="box-52"/>
          <p:cNvSpPr/>
          <p:nvPr/>
        </p:nvSpPr>
        <p:spPr>
          <a:xfrm>
            <a:off x="429768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本地 CLI 运行时</a:t>
            </a:r>
            <a:endParaRPr lang="en-US" sz="1250" dirty="0"/>
          </a:p>
        </p:txBody>
      </p:sp>
      <p:sp>
        <p:nvSpPr>
          <p:cNvPr id="33" name="box-53"/>
          <p:cNvSpPr/>
          <p:nvPr/>
        </p:nvSpPr>
        <p:spPr>
          <a:xfrm>
            <a:off x="617220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科研工具连接器</a:t>
            </a:r>
            <a:endParaRPr lang="en-US" sz="1250" dirty="0"/>
          </a:p>
        </p:txBody>
      </p:sp>
      <p:sp>
        <p:nvSpPr>
          <p:cNvPr id="34" name="box-54"/>
          <p:cNvSpPr/>
          <p:nvPr/>
        </p:nvSpPr>
        <p:spPr>
          <a:xfrm>
            <a:off x="804672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内核级沙盒</a:t>
            </a:r>
            <a:endParaRPr lang="en-US" sz="1250" dirty="0"/>
          </a:p>
        </p:txBody>
      </p:sp>
      <p:sp>
        <p:nvSpPr>
          <p:cNvPr id="35" name="box-55"/>
          <p:cNvSpPr/>
          <p:nvPr/>
        </p:nvSpPr>
        <p:spPr>
          <a:xfrm>
            <a:off x="548640" y="534924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 · 数据层</a:t>
            </a:r>
            <a:endParaRPr lang="en-US" sz="1400" dirty="0"/>
          </a:p>
        </p:txBody>
      </p:sp>
      <p:sp>
        <p:nvSpPr>
          <p:cNvPr id="36" name="layer-56"/>
          <p:cNvSpPr/>
          <p:nvPr/>
        </p:nvSpPr>
        <p:spPr>
          <a:xfrm>
            <a:off x="2286000" y="534924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37" name="box-57"/>
          <p:cNvSpPr/>
          <p:nvPr/>
        </p:nvSpPr>
        <p:spPr>
          <a:xfrm>
            <a:off x="2423160" y="5458968"/>
            <a:ext cx="736092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本机 ~/.medscience：会话 · 证据账本 · 加密密钥库 · 配置</a:t>
            </a:r>
            <a:endParaRPr lang="en-US" sz="1250" dirty="0"/>
          </a:p>
        </p:txBody>
      </p:sp>
      <p:sp>
        <p:nvSpPr>
          <p:cNvPr id="38" name="hooks-58"/>
          <p:cNvSpPr/>
          <p:nvPr/>
        </p:nvSpPr>
        <p:spPr>
          <a:xfrm>
            <a:off x="10104120" y="2240280"/>
            <a:ext cx="1538935" cy="3767328"/>
          </a:xfrm>
          <a:prstGeom prst="roundRect">
            <a:avLst>
              <a:gd name="adj" fmla="val 47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9" name="label-59"/>
          <p:cNvSpPr txBox="1"/>
          <p:nvPr/>
        </p:nvSpPr>
        <p:spPr>
          <a:xfrm>
            <a:off x="10195560" y="2377440"/>
            <a:ext cx="1356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防护钩子</a:t>
            </a:r>
            <a:endParaRPr lang="en-US" sz="1500" dirty="0"/>
          </a:p>
        </p:txBody>
      </p:sp>
      <p:sp>
        <p:nvSpPr>
          <p:cNvPr id="40" name="label-60"/>
          <p:cNvSpPr txBox="1"/>
          <p:nvPr/>
        </p:nvSpPr>
        <p:spPr>
          <a:xfrm>
            <a:off x="10195560" y="2715768"/>
            <a:ext cx="1356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9C7D6"/>
                </a:solidFill>
              </a:rPr>
              <a:t>贯穿每次工具调用</a:t>
            </a:r>
            <a:endParaRPr lang="en-US" sz="1050" dirty="0"/>
          </a:p>
        </p:txBody>
      </p:sp>
      <p:sp>
        <p:nvSpPr>
          <p:cNvPr id="41" name="box-61"/>
          <p:cNvSpPr/>
          <p:nvPr/>
        </p:nvSpPr>
        <p:spPr>
          <a:xfrm>
            <a:off x="10268712" y="3108960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密钥脱敏</a:t>
            </a:r>
            <a:endParaRPr lang="en-US" sz="1200" dirty="0"/>
          </a:p>
        </p:txBody>
      </p:sp>
      <p:sp>
        <p:nvSpPr>
          <p:cNvPr id="42" name="box-62"/>
          <p:cNvSpPr/>
          <p:nvPr/>
        </p:nvSpPr>
        <p:spPr>
          <a:xfrm>
            <a:off x="10268712" y="3767328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临床数据门</a:t>
            </a:r>
            <a:endParaRPr lang="en-US" sz="1200" dirty="0"/>
          </a:p>
        </p:txBody>
      </p:sp>
      <p:sp>
        <p:nvSpPr>
          <p:cNvPr id="43" name="box-63"/>
          <p:cNvSpPr/>
          <p:nvPr/>
        </p:nvSpPr>
        <p:spPr>
          <a:xfrm>
            <a:off x="10268712" y="4425696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证据数值核验</a:t>
            </a:r>
            <a:endParaRPr lang="en-US" sz="1200" dirty="0"/>
          </a:p>
        </p:txBody>
      </p:sp>
      <p:sp>
        <p:nvSpPr>
          <p:cNvPr id="44" name="box-64"/>
          <p:cNvSpPr/>
          <p:nvPr/>
        </p:nvSpPr>
        <p:spPr>
          <a:xfrm>
            <a:off x="10268712" y="5084064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引用完整性检查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一次研究提问的数据流转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每一步都留下记录；依据失效时，结论会被“追回”。</a:t>
            </a:r>
            <a:endParaRPr lang="en-US" sz="1500" dirty="0"/>
          </a:p>
        </p:txBody>
      </p:sp>
      <p:sp>
        <p:nvSpPr>
          <p:cNvPr id="4" name="badge-65"/>
          <p:cNvSpPr/>
          <p:nvPr/>
        </p:nvSpPr>
        <p:spPr>
          <a:xfrm>
            <a:off x="988295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box-66"/>
          <p:cNvSpPr/>
          <p:nvPr/>
        </p:nvSpPr>
        <p:spPr>
          <a:xfrm>
            <a:off x="548640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提问</a:t>
            </a:r>
            <a:endParaRPr lang="en-US" sz="1350" dirty="0"/>
          </a:p>
        </p:txBody>
      </p:sp>
      <p:sp>
        <p:nvSpPr>
          <p:cNvPr id="6" name="label-67"/>
          <p:cNvSpPr txBox="1"/>
          <p:nvPr/>
        </p:nvSpPr>
        <p:spPr>
          <a:xfrm>
            <a:off x="502920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研究问题</a:t>
            </a:r>
            <a:endParaRPr lang="en-US" sz="1150" dirty="0"/>
          </a:p>
        </p:txBody>
      </p:sp>
      <p:sp>
        <p:nvSpPr>
          <p:cNvPr id="7" name="arrow-68"/>
          <p:cNvSpPr/>
          <p:nvPr/>
        </p:nvSpPr>
        <p:spPr>
          <a:xfrm>
            <a:off x="1793710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8" name="badge-69"/>
          <p:cNvSpPr/>
          <p:nvPr/>
        </p:nvSpPr>
        <p:spPr>
          <a:xfrm>
            <a:off x="2397957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9" name="box-70"/>
          <p:cNvSpPr/>
          <p:nvPr/>
        </p:nvSpPr>
        <p:spPr>
          <a:xfrm>
            <a:off x="1958302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规划分工</a:t>
            </a:r>
            <a:endParaRPr lang="en-US" sz="1350" dirty="0"/>
          </a:p>
        </p:txBody>
      </p:sp>
      <p:sp>
        <p:nvSpPr>
          <p:cNvPr id="10" name="label-71"/>
          <p:cNvSpPr txBox="1"/>
          <p:nvPr/>
        </p:nvSpPr>
        <p:spPr>
          <a:xfrm>
            <a:off x="1912582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任务清单</a:t>
            </a:r>
            <a:endParaRPr lang="en-US" sz="1150" dirty="0"/>
          </a:p>
        </p:txBody>
      </p:sp>
      <p:sp>
        <p:nvSpPr>
          <p:cNvPr id="11" name="arrow-72"/>
          <p:cNvSpPr/>
          <p:nvPr/>
        </p:nvSpPr>
        <p:spPr>
          <a:xfrm>
            <a:off x="3203372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2" name="badge-73"/>
          <p:cNvSpPr/>
          <p:nvPr/>
        </p:nvSpPr>
        <p:spPr>
          <a:xfrm>
            <a:off x="3807619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box-74"/>
          <p:cNvSpPr/>
          <p:nvPr/>
        </p:nvSpPr>
        <p:spPr>
          <a:xfrm>
            <a:off x="3367964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按收益取证</a:t>
            </a:r>
            <a:endParaRPr lang="en-US" sz="1350" dirty="0"/>
          </a:p>
        </p:txBody>
      </p:sp>
      <p:sp>
        <p:nvSpPr>
          <p:cNvPr id="14" name="label-75"/>
          <p:cNvSpPr txBox="1"/>
          <p:nvPr/>
        </p:nvSpPr>
        <p:spPr>
          <a:xfrm>
            <a:off x="3322244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工具结果</a:t>
            </a:r>
            <a:endParaRPr lang="en-US" sz="1150" dirty="0"/>
          </a:p>
        </p:txBody>
      </p:sp>
      <p:sp>
        <p:nvSpPr>
          <p:cNvPr id="15" name="arrow-76"/>
          <p:cNvSpPr/>
          <p:nvPr/>
        </p:nvSpPr>
        <p:spPr>
          <a:xfrm>
            <a:off x="4613034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6" name="badge-77"/>
          <p:cNvSpPr/>
          <p:nvPr/>
        </p:nvSpPr>
        <p:spPr>
          <a:xfrm>
            <a:off x="5217281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7" name="box-78"/>
          <p:cNvSpPr/>
          <p:nvPr/>
        </p:nvSpPr>
        <p:spPr>
          <a:xfrm>
            <a:off x="4777626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数值核验</a:t>
            </a:r>
            <a:endParaRPr lang="en-US" sz="1350" dirty="0"/>
          </a:p>
        </p:txBody>
      </p:sp>
      <p:sp>
        <p:nvSpPr>
          <p:cNvPr id="18" name="label-79"/>
          <p:cNvSpPr txBox="1"/>
          <p:nvPr/>
        </p:nvSpPr>
        <p:spPr>
          <a:xfrm>
            <a:off x="4731906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会话证据 EV-n</a:t>
            </a:r>
            <a:endParaRPr lang="en-US" sz="1150" dirty="0"/>
          </a:p>
        </p:txBody>
      </p:sp>
      <p:sp>
        <p:nvSpPr>
          <p:cNvPr id="19" name="arrow-80"/>
          <p:cNvSpPr/>
          <p:nvPr/>
        </p:nvSpPr>
        <p:spPr>
          <a:xfrm>
            <a:off x="6022696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0" name="badge-81"/>
          <p:cNvSpPr/>
          <p:nvPr/>
        </p:nvSpPr>
        <p:spPr>
          <a:xfrm>
            <a:off x="6626943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1" name="box-82"/>
          <p:cNvSpPr/>
          <p:nvPr/>
        </p:nvSpPr>
        <p:spPr>
          <a:xfrm>
            <a:off x="6187288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准入门禁</a:t>
            </a:r>
            <a:endParaRPr lang="en-US" sz="1350" dirty="0"/>
          </a:p>
        </p:txBody>
      </p:sp>
      <p:sp>
        <p:nvSpPr>
          <p:cNvPr id="22" name="label-83"/>
          <p:cNvSpPr txBox="1"/>
          <p:nvPr/>
        </p:nvSpPr>
        <p:spPr>
          <a:xfrm>
            <a:off x="6141568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候选证据</a:t>
            </a:r>
            <a:endParaRPr lang="en-US" sz="1150" dirty="0"/>
          </a:p>
        </p:txBody>
      </p:sp>
      <p:sp>
        <p:nvSpPr>
          <p:cNvPr id="23" name="arrow-84"/>
          <p:cNvSpPr/>
          <p:nvPr/>
        </p:nvSpPr>
        <p:spPr>
          <a:xfrm>
            <a:off x="7432357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4" name="badge-85"/>
          <p:cNvSpPr/>
          <p:nvPr/>
        </p:nvSpPr>
        <p:spPr>
          <a:xfrm>
            <a:off x="8036604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5" name="box-86"/>
          <p:cNvSpPr/>
          <p:nvPr/>
        </p:nvSpPr>
        <p:spPr>
          <a:xfrm>
            <a:off x="7596950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证据账本</a:t>
            </a:r>
            <a:endParaRPr lang="en-US" sz="1350" dirty="0"/>
          </a:p>
        </p:txBody>
      </p:sp>
      <p:sp>
        <p:nvSpPr>
          <p:cNvPr id="26" name="label-87"/>
          <p:cNvSpPr txBox="1"/>
          <p:nvPr/>
        </p:nvSpPr>
        <p:spPr>
          <a:xfrm>
            <a:off x="7551230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已验证 / 已隔离</a:t>
            </a:r>
            <a:endParaRPr lang="en-US" sz="1150" dirty="0"/>
          </a:p>
        </p:txBody>
      </p:sp>
      <p:sp>
        <p:nvSpPr>
          <p:cNvPr id="27" name="arrow-88"/>
          <p:cNvSpPr/>
          <p:nvPr/>
        </p:nvSpPr>
        <p:spPr>
          <a:xfrm>
            <a:off x="8842019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8" name="badge-89"/>
          <p:cNvSpPr/>
          <p:nvPr/>
        </p:nvSpPr>
        <p:spPr>
          <a:xfrm>
            <a:off x="9446266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29" name="box-90"/>
          <p:cNvSpPr/>
          <p:nvPr/>
        </p:nvSpPr>
        <p:spPr>
          <a:xfrm>
            <a:off x="9006611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共形判定</a:t>
            </a:r>
            <a:endParaRPr lang="en-US" sz="1350" dirty="0"/>
          </a:p>
        </p:txBody>
      </p:sp>
      <p:sp>
        <p:nvSpPr>
          <p:cNvPr id="30" name="label-91"/>
          <p:cNvSpPr txBox="1"/>
          <p:nvPr/>
        </p:nvSpPr>
        <p:spPr>
          <a:xfrm>
            <a:off x="8960891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预测集</a:t>
            </a:r>
            <a:endParaRPr lang="en-US" sz="1150" dirty="0"/>
          </a:p>
        </p:txBody>
      </p:sp>
      <p:sp>
        <p:nvSpPr>
          <p:cNvPr id="31" name="arrow-92"/>
          <p:cNvSpPr/>
          <p:nvPr/>
        </p:nvSpPr>
        <p:spPr>
          <a:xfrm>
            <a:off x="10251681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2" name="badge-93"/>
          <p:cNvSpPr/>
          <p:nvPr/>
        </p:nvSpPr>
        <p:spPr>
          <a:xfrm>
            <a:off x="10855928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33" name="box-94"/>
          <p:cNvSpPr/>
          <p:nvPr/>
        </p:nvSpPr>
        <p:spPr>
          <a:xfrm>
            <a:off x="10416273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输出结论</a:t>
            </a:r>
            <a:endParaRPr lang="en-US" sz="1350" dirty="0"/>
          </a:p>
        </p:txBody>
      </p:sp>
      <p:sp>
        <p:nvSpPr>
          <p:cNvPr id="34" name="label-95"/>
          <p:cNvSpPr txBox="1"/>
          <p:nvPr/>
        </p:nvSpPr>
        <p:spPr>
          <a:xfrm>
            <a:off x="10370553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结论 + 证据编号</a:t>
            </a:r>
            <a:endParaRPr lang="en-US" sz="1150" dirty="0"/>
          </a:p>
        </p:txBody>
      </p:sp>
      <p:sp>
        <p:nvSpPr>
          <p:cNvPr id="35" name="legend-96"/>
          <p:cNvSpPr/>
          <p:nvPr/>
        </p:nvSpPr>
        <p:spPr>
          <a:xfrm>
            <a:off x="548640" y="3566160"/>
            <a:ext cx="274320" cy="182880"/>
          </a:xfrm>
          <a:prstGeom prst="roundRect">
            <a:avLst>
              <a:gd name="adj" fmla="val 15000"/>
            </a:avLst>
          </a:prstGeom>
          <a:solidFill>
            <a:srgbClr val="E3F3F1"/>
          </a:solidFill>
          <a:ln w="12700">
            <a:solidFill>
              <a:srgbClr val="0E8A7E"/>
            </a:solidFill>
            <a:prstDash val="solid"/>
          </a:ln>
        </p:spPr>
      </p:sp>
      <p:sp>
        <p:nvSpPr>
          <p:cNvPr id="36" name="label-97"/>
          <p:cNvSpPr txBox="1"/>
          <p:nvPr/>
        </p:nvSpPr>
        <p:spPr>
          <a:xfrm>
            <a:off x="91440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绿色：由证据治理层（A 类，3.0 新增）完成的步骤</a:t>
            </a:r>
            <a:endParaRPr lang="en-US" sz="1150" dirty="0"/>
          </a:p>
        </p:txBody>
      </p:sp>
      <p:sp>
        <p:nvSpPr>
          <p:cNvPr id="37" name="card-98"/>
          <p:cNvSpPr/>
          <p:nvPr/>
        </p:nvSpPr>
        <p:spPr>
          <a:xfrm>
            <a:off x="548640" y="4160520"/>
            <a:ext cx="11094415" cy="1965960"/>
          </a:xfrm>
          <a:prstGeom prst="roundRect">
            <a:avLst>
              <a:gd name="adj" fmla="val 4651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38" name="label-99"/>
          <p:cNvSpPr txBox="1"/>
          <p:nvPr/>
        </p:nvSpPr>
        <p:spPr>
          <a:xfrm>
            <a:off x="82296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依据失效时的回路（撤稿 / 关注声明）</a:t>
            </a:r>
            <a:endParaRPr lang="en-US" sz="1500" dirty="0"/>
          </a:p>
        </p:txBody>
      </p:sp>
      <p:sp>
        <p:nvSpPr>
          <p:cNvPr id="39" name="box-100"/>
          <p:cNvSpPr/>
          <p:nvPr/>
        </p:nvSpPr>
        <p:spPr>
          <a:xfrm>
            <a:off x="822960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导入撤稿数据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（Retraction Watch 等）</a:t>
            </a:r>
            <a:endParaRPr lang="en-US" sz="1300" dirty="0"/>
          </a:p>
        </p:txBody>
      </p:sp>
      <p:sp>
        <p:nvSpPr>
          <p:cNvPr id="40" name="arrow-101"/>
          <p:cNvSpPr/>
          <p:nvPr/>
        </p:nvSpPr>
        <p:spPr>
          <a:xfrm>
            <a:off x="3178226" y="5257800"/>
            <a:ext cx="35661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1" name="box-102"/>
          <p:cNvSpPr/>
          <p:nvPr/>
        </p:nvSpPr>
        <p:spPr>
          <a:xfrm>
            <a:off x="3562274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扫描整个证据账本</a:t>
            </a:r>
            <a:endParaRPr lang="en-US" sz="1300" dirty="0"/>
          </a:p>
        </p:txBody>
      </p:sp>
      <p:sp>
        <p:nvSpPr>
          <p:cNvPr id="42" name="arrow-103"/>
          <p:cNvSpPr/>
          <p:nvPr/>
        </p:nvSpPr>
        <p:spPr>
          <a:xfrm>
            <a:off x="5917540" y="5257800"/>
            <a:ext cx="35661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3" name="box-104"/>
          <p:cNvSpPr/>
          <p:nvPr/>
        </p:nvSpPr>
        <p:spPr>
          <a:xfrm>
            <a:off x="6301588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相关证据：撤销 / 标为有争议</a:t>
            </a:r>
            <a:endParaRPr lang="en-US" sz="1300" dirty="0"/>
          </a:p>
        </p:txBody>
      </p:sp>
      <p:sp>
        <p:nvSpPr>
          <p:cNvPr id="44" name="arrow-105"/>
          <p:cNvSpPr/>
          <p:nvPr/>
        </p:nvSpPr>
        <p:spPr>
          <a:xfrm>
            <a:off x="8656853" y="5257800"/>
            <a:ext cx="35661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5" name="box-106"/>
          <p:cNvSpPr/>
          <p:nvPr/>
        </p:nvSpPr>
        <p:spPr>
          <a:xfrm>
            <a:off x="9040901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依赖它的结论：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自动转为“有争议”</a:t>
            </a:r>
            <a:endParaRPr lang="en-US" sz="1300" dirty="0"/>
          </a:p>
        </p:txBody>
      </p:sp>
      <p:sp>
        <p:nvSpPr>
          <p:cNvPr id="46" name="label-107"/>
          <p:cNvSpPr txBox="1"/>
          <p:nvPr/>
        </p:nvSpPr>
        <p:spPr>
          <a:xfrm>
            <a:off x="822960" y="576072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同一次操作完成，并写入哈希链记录原因；恢复证据不会自动恢复结论，需要重新核验。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核心设计：证据账本——结论必须有据可查、可以撤回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 类设计点 ①：每条证据经准入门禁才算数；依据失效，结论自动降级。</a:t>
            </a:r>
            <a:endParaRPr lang="en-US" sz="1500" dirty="0"/>
          </a:p>
        </p:txBody>
      </p:sp>
      <p:sp>
        <p:nvSpPr>
          <p:cNvPr id="4" name="box-108"/>
          <p:cNvSpPr/>
          <p:nvPr/>
        </p:nvSpPr>
        <p:spPr>
          <a:xfrm>
            <a:off x="548640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5B6B7C"/>
          </a:solidFill>
          <a:ln w="6350">
            <a:solidFill>
              <a:srgbClr val="5B6B7C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候选</a:t>
            </a:r>
            <a:endParaRPr lang="en-US" sz="1500" dirty="0"/>
          </a:p>
        </p:txBody>
      </p:sp>
      <p:sp>
        <p:nvSpPr>
          <p:cNvPr id="5" name="box-109"/>
          <p:cNvSpPr/>
          <p:nvPr/>
        </p:nvSpPr>
        <p:spPr>
          <a:xfrm>
            <a:off x="2788920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0E8A7E"/>
          </a:solidFill>
          <a:ln w="635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已验证</a:t>
            </a:r>
            <a:endParaRPr lang="en-US" sz="1500" dirty="0"/>
          </a:p>
        </p:txBody>
      </p:sp>
      <p:sp>
        <p:nvSpPr>
          <p:cNvPr id="6" name="box-110"/>
          <p:cNvSpPr/>
          <p:nvPr/>
        </p:nvSpPr>
        <p:spPr>
          <a:xfrm>
            <a:off x="4892040" y="160020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C9792A"/>
          </a:solidFill>
          <a:ln w="635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有争议</a:t>
            </a:r>
            <a:endParaRPr lang="en-US" sz="1500" dirty="0"/>
          </a:p>
        </p:txBody>
      </p:sp>
      <p:sp>
        <p:nvSpPr>
          <p:cNvPr id="7" name="label-111"/>
          <p:cNvSpPr txBox="1"/>
          <p:nvPr/>
        </p:nvSpPr>
        <p:spPr>
          <a:xfrm>
            <a:off x="6400800" y="160020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被反驳</a:t>
            </a:r>
            <a:endParaRPr lang="en-US" sz="1100" dirty="0"/>
          </a:p>
        </p:txBody>
      </p:sp>
      <p:sp>
        <p:nvSpPr>
          <p:cNvPr id="8" name="box-112"/>
          <p:cNvSpPr/>
          <p:nvPr/>
        </p:nvSpPr>
        <p:spPr>
          <a:xfrm>
            <a:off x="4892040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1F5F99"/>
          </a:solidFill>
          <a:ln w="6350">
            <a:solidFill>
              <a:srgbClr val="1F5F99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已取代</a:t>
            </a:r>
            <a:endParaRPr lang="en-US" sz="1500" dirty="0"/>
          </a:p>
        </p:txBody>
      </p:sp>
      <p:sp>
        <p:nvSpPr>
          <p:cNvPr id="9" name="label-113"/>
          <p:cNvSpPr txBox="1"/>
          <p:nvPr/>
        </p:nvSpPr>
        <p:spPr>
          <a:xfrm>
            <a:off x="6400800" y="233172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被取代</a:t>
            </a:r>
            <a:endParaRPr lang="en-US" sz="1100" dirty="0"/>
          </a:p>
        </p:txBody>
      </p:sp>
      <p:sp>
        <p:nvSpPr>
          <p:cNvPr id="10" name="box-114"/>
          <p:cNvSpPr/>
          <p:nvPr/>
        </p:nvSpPr>
        <p:spPr>
          <a:xfrm>
            <a:off x="4892040" y="306324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B4233A"/>
          </a:solidFill>
          <a:ln w="6350">
            <a:solidFill>
              <a:srgbClr val="B4233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已撤销</a:t>
            </a:r>
            <a:endParaRPr lang="en-US" sz="1500" dirty="0"/>
          </a:p>
        </p:txBody>
      </p:sp>
      <p:sp>
        <p:nvSpPr>
          <p:cNvPr id="11" name="label-115"/>
          <p:cNvSpPr txBox="1"/>
          <p:nvPr/>
        </p:nvSpPr>
        <p:spPr>
          <a:xfrm>
            <a:off x="6400800" y="306324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来源撤稿</a:t>
            </a:r>
            <a:endParaRPr lang="en-US" sz="1100" dirty="0"/>
          </a:p>
        </p:txBody>
      </p:sp>
      <p:sp>
        <p:nvSpPr>
          <p:cNvPr id="12" name="box-116"/>
          <p:cNvSpPr/>
          <p:nvPr/>
        </p:nvSpPr>
        <p:spPr>
          <a:xfrm>
            <a:off x="548640" y="39319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A0522D"/>
          </a:solidFill>
          <a:ln w="6350">
            <a:solidFill>
              <a:srgbClr val="A0522D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已隔离</a:t>
            </a:r>
            <a:endParaRPr lang="en-US" sz="1500" dirty="0"/>
          </a:p>
        </p:txBody>
      </p:sp>
      <p:sp>
        <p:nvSpPr>
          <p:cNvPr id="13" name="arrow-117"/>
          <p:cNvSpPr/>
          <p:nvPr/>
        </p:nvSpPr>
        <p:spPr>
          <a:xfrm>
            <a:off x="1965960" y="2615184"/>
            <a:ext cx="82296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4" name="label-118"/>
          <p:cNvSpPr txBox="1"/>
          <p:nvPr/>
        </p:nvSpPr>
        <p:spPr>
          <a:xfrm>
            <a:off x="1965960" y="19659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通过门禁</a:t>
            </a:r>
            <a:endParaRPr lang="en-US" sz="1100" dirty="0"/>
          </a:p>
        </p:txBody>
      </p:sp>
      <p:sp>
        <p:nvSpPr>
          <p:cNvPr id="15" name="arrow-119"/>
          <p:cNvSpPr/>
          <p:nvPr/>
        </p:nvSpPr>
        <p:spPr>
          <a:xfrm flipV="1">
            <a:off x="4206240" y="1883664"/>
            <a:ext cx="685800" cy="73152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6" name="arrow-120"/>
          <p:cNvSpPr/>
          <p:nvPr/>
        </p:nvSpPr>
        <p:spPr>
          <a:xfrm>
            <a:off x="4206240" y="2615184"/>
            <a:ext cx="68580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arrow-121"/>
          <p:cNvSpPr/>
          <p:nvPr/>
        </p:nvSpPr>
        <p:spPr>
          <a:xfrm>
            <a:off x="4206240" y="2615184"/>
            <a:ext cx="685800" cy="73152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arrow-122"/>
          <p:cNvSpPr/>
          <p:nvPr/>
        </p:nvSpPr>
        <p:spPr>
          <a:xfrm>
            <a:off x="1257300" y="2898648"/>
            <a:ext cx="0" cy="1033272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9" name="label-123"/>
          <p:cNvSpPr txBox="1"/>
          <p:nvPr/>
        </p:nvSpPr>
        <p:spPr>
          <a:xfrm>
            <a:off x="1348740" y="32004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未通过门禁</a:t>
            </a:r>
            <a:endParaRPr lang="en-US" sz="1100" dirty="0"/>
          </a:p>
        </p:txBody>
      </p:sp>
      <p:sp>
        <p:nvSpPr>
          <p:cNvPr id="20" name="arrow-124"/>
          <p:cNvSpPr/>
          <p:nvPr/>
        </p:nvSpPr>
        <p:spPr>
          <a:xfrm flipV="1">
            <a:off x="1965960" y="3630168"/>
            <a:ext cx="2926080" cy="585216"/>
          </a:xfrm>
          <a:prstGeom prst="line">
            <a:avLst/>
          </a:prstGeom>
          <a:noFill/>
          <a:ln w="19050">
            <a:solidFill>
              <a:schemeClr val="tx2"/>
            </a:solidFill>
            <a:prstDash val="dash"/>
            <a:tailEnd type="triangle"/>
          </a:ln>
        </p:spPr>
      </p:sp>
      <p:sp>
        <p:nvSpPr>
          <p:cNvPr id="21" name="label-125"/>
          <p:cNvSpPr txBox="1"/>
          <p:nvPr/>
        </p:nvSpPr>
        <p:spPr>
          <a:xfrm>
            <a:off x="2606040" y="4069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确认无效</a:t>
            </a:r>
            <a:endParaRPr lang="en-US" sz="1050" dirty="0"/>
          </a:p>
        </p:txBody>
      </p:sp>
      <p:sp>
        <p:nvSpPr>
          <p:cNvPr id="22" name="card-126"/>
          <p:cNvSpPr/>
          <p:nvPr/>
        </p:nvSpPr>
        <p:spPr>
          <a:xfrm>
            <a:off x="548640" y="4800600"/>
            <a:ext cx="6400800" cy="1188720"/>
          </a:xfrm>
          <a:prstGeom prst="roundRect">
            <a:avLst>
              <a:gd name="adj" fmla="val 7692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23" name="label-127"/>
          <p:cNvSpPr txBox="1"/>
          <p:nvPr/>
        </p:nvSpPr>
        <p:spPr>
          <a:xfrm>
            <a:off x="777240" y="491947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举例：一篇论文被撤稿</a:t>
            </a:r>
            <a:endParaRPr lang="en-US" sz="1400" dirty="0"/>
          </a:p>
        </p:txBody>
      </p:sp>
      <p:sp>
        <p:nvSpPr>
          <p:cNvPr id="24" name="label-128"/>
          <p:cNvSpPr txBox="1"/>
          <p:nvPr/>
        </p:nvSpPr>
        <p:spPr>
          <a:xfrm>
            <a:off x="777240" y="5285232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该证据转为“已撤销” → 引用它的所有已验证结论，在同一次操作中转为“有争议”，并记录原因。测试用例中，受影响的已验证结论由 2 条降为 0 条。</a:t>
            </a:r>
            <a:endParaRPr lang="en-US" sz="1300" dirty="0"/>
          </a:p>
        </p:txBody>
      </p:sp>
      <p:sp>
        <p:nvSpPr>
          <p:cNvPr id="25" name="badge-129"/>
          <p:cNvSpPr/>
          <p:nvPr/>
        </p:nvSpPr>
        <p:spPr>
          <a:xfrm>
            <a:off x="7498080" y="164592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6" name="label-130"/>
          <p:cNvSpPr txBox="1"/>
          <p:nvPr/>
        </p:nvSpPr>
        <p:spPr>
          <a:xfrm>
            <a:off x="8046720" y="1627632"/>
            <a:ext cx="3596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准入门禁</a:t>
            </a:r>
            <a:endParaRPr lang="en-US" sz="1700" dirty="0"/>
          </a:p>
        </p:txBody>
      </p:sp>
      <p:sp>
        <p:nvSpPr>
          <p:cNvPr id="27" name="label-131"/>
          <p:cNvSpPr txBox="1"/>
          <p:nvPr/>
        </p:nvSpPr>
        <p:spPr>
          <a:xfrm>
            <a:off x="8046720" y="2084832"/>
            <a:ext cx="3596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来源、时效、隐私、数值合理性、撤稿五项检查；不通过即隔离，原因可查。</a:t>
            </a:r>
            <a:endParaRPr lang="en-US" sz="1400" dirty="0"/>
          </a:p>
        </p:txBody>
      </p:sp>
      <p:sp>
        <p:nvSpPr>
          <p:cNvPr id="28" name="badge-132"/>
          <p:cNvSpPr/>
          <p:nvPr/>
        </p:nvSpPr>
        <p:spPr>
          <a:xfrm>
            <a:off x="7498080" y="310896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29" name="label-133"/>
          <p:cNvSpPr txBox="1"/>
          <p:nvPr/>
        </p:nvSpPr>
        <p:spPr>
          <a:xfrm>
            <a:off x="8046720" y="3090672"/>
            <a:ext cx="3596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依赖级联</a:t>
            </a:r>
            <a:endParaRPr lang="en-US" sz="1700" dirty="0"/>
          </a:p>
        </p:txBody>
      </p:sp>
      <p:sp>
        <p:nvSpPr>
          <p:cNvPr id="30" name="label-134"/>
          <p:cNvSpPr txBox="1"/>
          <p:nvPr/>
        </p:nvSpPr>
        <p:spPr>
          <a:xfrm>
            <a:off x="8046720" y="3547872"/>
            <a:ext cx="3596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证据失效时，依赖它的结论自动降级；恢复证据不会自动恢复结论。</a:t>
            </a:r>
            <a:endParaRPr lang="en-US" sz="1400" dirty="0"/>
          </a:p>
        </p:txBody>
      </p:sp>
      <p:sp>
        <p:nvSpPr>
          <p:cNvPr id="31" name="badge-135"/>
          <p:cNvSpPr/>
          <p:nvPr/>
        </p:nvSpPr>
        <p:spPr>
          <a:xfrm>
            <a:off x="7498080" y="457200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2" name="label-136"/>
          <p:cNvSpPr txBox="1"/>
          <p:nvPr/>
        </p:nvSpPr>
        <p:spPr>
          <a:xfrm>
            <a:off x="8046720" y="4553712"/>
            <a:ext cx="3596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防篡改</a:t>
            </a:r>
            <a:endParaRPr lang="en-US" sz="1700" dirty="0"/>
          </a:p>
        </p:txBody>
      </p:sp>
      <p:sp>
        <p:nvSpPr>
          <p:cNvPr id="33" name="label-137"/>
          <p:cNvSpPr txBox="1"/>
          <p:nvPr/>
        </p:nvSpPr>
        <p:spPr>
          <a:xfrm>
            <a:off x="8046720" y="5010912"/>
            <a:ext cx="3596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每次变更追加写入哈希链；文件被改动会被发现，账本随即锁为只读。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另外两个设计点：分歧时怎么取证，结论怎么下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 类设计点 ② 与 ③：先查最能分出高下的证据；只有证据足够区分时才下结论。</a:t>
            </a:r>
            <a:endParaRPr lang="en-US" sz="1500" dirty="0"/>
          </a:p>
        </p:txBody>
      </p:sp>
      <p:sp>
        <p:nvSpPr>
          <p:cNvPr id="4" name="card-138"/>
          <p:cNvSpPr/>
          <p:nvPr/>
        </p:nvSpPr>
        <p:spPr>
          <a:xfrm>
            <a:off x="548640" y="1600200"/>
            <a:ext cx="5410048" cy="45720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139"/>
          <p:cNvSpPr/>
          <p:nvPr/>
        </p:nvSpPr>
        <p:spPr>
          <a:xfrm>
            <a:off x="822960" y="1810512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6" name="label-140"/>
          <p:cNvSpPr txBox="1"/>
          <p:nvPr/>
        </p:nvSpPr>
        <p:spPr>
          <a:xfrm>
            <a:off x="1325880" y="1783080"/>
            <a:ext cx="440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信息增益取证</a:t>
            </a:r>
            <a:endParaRPr lang="en-US" sz="1800" dirty="0"/>
          </a:p>
        </p:txBody>
      </p:sp>
      <p:sp>
        <p:nvSpPr>
          <p:cNvPr id="7" name="label-141"/>
          <p:cNvSpPr txBox="1"/>
          <p:nvPr/>
        </p:nvSpPr>
        <p:spPr>
          <a:xfrm>
            <a:off x="822960" y="2286000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汇总专家意见 → 计算分歧度 → 选“预期信息增益 ÷ 成本”最高的查询 → 更新判断 → 足够确定即停，分歧大则升级专家</a:t>
            </a:r>
            <a:endParaRPr lang="en-US" sz="1250" dirty="0"/>
          </a:p>
        </p:txBody>
      </p:sp>
      <p:sp>
        <p:nvSpPr>
          <p:cNvPr id="8" name="label-142"/>
          <p:cNvSpPr txBox="1"/>
          <p:nvPr/>
        </p:nvSpPr>
        <p:spPr>
          <a:xfrm>
            <a:off x="822960" y="292608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示例：同一问题下三类查询的预期信息增益（比特）</a:t>
            </a:r>
            <a:endParaRPr lang="en-US" sz="1200" dirty="0"/>
          </a:p>
        </p:txBody>
      </p:sp>
      <p:graphicFrame>
        <p:nvGraphicFramePr>
          <p:cNvPr id="9" name="chart-143" descr=""/>
          <p:cNvGraphicFramePr/>
          <p:nvPr/>
        </p:nvGraphicFramePr>
        <p:xfrm>
          <a:off x="685800" y="3200400"/>
          <a:ext cx="513572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label-144"/>
          <p:cNvSpPr txBox="1"/>
          <p:nvPr/>
        </p:nvSpPr>
        <p:spPr>
          <a:xfrm>
            <a:off x="822960" y="5120640"/>
            <a:ext cx="486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先查 ChEMBL 活性数据最能区分“支持 / 反驳”（默认参数下的数值）。工具调用失败只消耗预算，绝不当作反证。</a:t>
            </a:r>
            <a:endParaRPr lang="en-US" sz="1250" dirty="0"/>
          </a:p>
        </p:txBody>
      </p:sp>
      <p:sp>
        <p:nvSpPr>
          <p:cNvPr id="11" name="card-145"/>
          <p:cNvSpPr/>
          <p:nvPr/>
        </p:nvSpPr>
        <p:spPr>
          <a:xfrm>
            <a:off x="6233008" y="1600200"/>
            <a:ext cx="5410048" cy="45720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badge-146"/>
          <p:cNvSpPr/>
          <p:nvPr/>
        </p:nvSpPr>
        <p:spPr>
          <a:xfrm>
            <a:off x="6507328" y="1810512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label-147"/>
          <p:cNvSpPr txBox="1"/>
          <p:nvPr/>
        </p:nvSpPr>
        <p:spPr>
          <a:xfrm>
            <a:off x="7010248" y="1783080"/>
            <a:ext cx="440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共形三分判定</a:t>
            </a:r>
            <a:endParaRPr lang="en-US" sz="1800" dirty="0"/>
          </a:p>
        </p:txBody>
      </p:sp>
      <p:sp>
        <p:nvSpPr>
          <p:cNvPr id="14" name="label-148"/>
          <p:cNvSpPr txBox="1"/>
          <p:nvPr/>
        </p:nvSpPr>
        <p:spPr>
          <a:xfrm>
            <a:off x="6507328" y="2286000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不给一个拍脑袋的分数，而是给出在错误率 α 下“可能成立的结果集合”：</a:t>
            </a:r>
            <a:endParaRPr lang="en-US" sz="1250" dirty="0"/>
          </a:p>
        </p:txBody>
      </p:sp>
      <p:graphicFrame>
        <p:nvGraphicFramePr>
          <p:cNvPr id="8" name="table-1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07328" y="2926080"/>
          <a:ext cx="4861408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868680"/>
                <a:gridCol w="257540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结果集合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判定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 支持 }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E8A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支持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只有“支持”与校准数据相符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 反驳 }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反驳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只有“反驳”与校准数据相符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 支持，反驳 }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97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不确定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证据无法区分两种结果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 }（空）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97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不确定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情况罕见，需人工复核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label-150"/>
          <p:cNvSpPr txBox="1"/>
          <p:nvPr/>
        </p:nvSpPr>
        <p:spPr>
          <a:xfrm>
            <a:off x="6507328" y="5120640"/>
            <a:ext cx="486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校准后每一类的出错率不超过 α（如 10%）；未校准时界面明确显示“未校准”，不声称覆盖率。评分只看证据，与靶点名称无关。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支撑设计：多智能体协作与本地运行时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B 类管“谁来做、谁把关”，C 类管“在哪里跑、用谁的额度”；两者在 2.x 已具备，3.0 继续完善。</a:t>
            </a:r>
            <a:endParaRPr lang="en-US" sz="1500" dirty="0"/>
          </a:p>
        </p:txBody>
      </p:sp>
      <p:sp>
        <p:nvSpPr>
          <p:cNvPr id="4" name="card-151"/>
          <p:cNvSpPr/>
          <p:nvPr/>
        </p:nvSpPr>
        <p:spPr>
          <a:xfrm>
            <a:off x="548640" y="1600200"/>
            <a:ext cx="5410048" cy="45720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ag-152"/>
          <p:cNvSpPr/>
          <p:nvPr/>
        </p:nvSpPr>
        <p:spPr>
          <a:xfrm>
            <a:off x="822960" y="1810512"/>
            <a:ext cx="411480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6" name="label-153"/>
          <p:cNvSpPr txBox="1"/>
          <p:nvPr/>
        </p:nvSpPr>
        <p:spPr>
          <a:xfrm>
            <a:off x="1371600" y="1810512"/>
            <a:ext cx="431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多智能体协作：像课题组一样分工</a:t>
            </a:r>
            <a:endParaRPr lang="en-US" sz="1700" dirty="0"/>
          </a:p>
        </p:txBody>
      </p:sp>
      <p:sp>
        <p:nvSpPr>
          <p:cNvPr id="7" name="box-154"/>
          <p:cNvSpPr/>
          <p:nvPr/>
        </p:nvSpPr>
        <p:spPr>
          <a:xfrm>
            <a:off x="822960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研究课题</a:t>
            </a:r>
            <a:endParaRPr lang="en-US" sz="1250" dirty="0"/>
          </a:p>
        </p:txBody>
      </p:sp>
      <p:sp>
        <p:nvSpPr>
          <p:cNvPr id="8" name="arrow-155"/>
          <p:cNvSpPr/>
          <p:nvPr/>
        </p:nvSpPr>
        <p:spPr>
          <a:xfrm>
            <a:off x="1652595" y="2798064"/>
            <a:ext cx="164592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9" name="box-156"/>
          <p:cNvSpPr/>
          <p:nvPr/>
        </p:nvSpPr>
        <p:spPr>
          <a:xfrm>
            <a:off x="1835475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队长规划</a:t>
            </a:r>
            <a:endParaRPr lang="en-US" sz="1250" dirty="0"/>
          </a:p>
        </p:txBody>
      </p:sp>
      <p:sp>
        <p:nvSpPr>
          <p:cNvPr id="10" name="arrow-157"/>
          <p:cNvSpPr/>
          <p:nvPr/>
        </p:nvSpPr>
        <p:spPr>
          <a:xfrm>
            <a:off x="2665110" y="2798064"/>
            <a:ext cx="164592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1" name="box-158"/>
          <p:cNvSpPr/>
          <p:nvPr/>
        </p:nvSpPr>
        <p:spPr>
          <a:xfrm>
            <a:off x="2847990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成员并行</a:t>
            </a:r>
            <a:endParaRPr lang="en-US" sz="1250" dirty="0"/>
          </a:p>
        </p:txBody>
      </p:sp>
      <p:sp>
        <p:nvSpPr>
          <p:cNvPr id="12" name="arrow-159"/>
          <p:cNvSpPr/>
          <p:nvPr/>
        </p:nvSpPr>
        <p:spPr>
          <a:xfrm>
            <a:off x="3677625" y="2798064"/>
            <a:ext cx="164592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3" name="box-160"/>
          <p:cNvSpPr/>
          <p:nvPr/>
        </p:nvSpPr>
        <p:spPr>
          <a:xfrm>
            <a:off x="3860505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质量门</a:t>
            </a:r>
            <a:endParaRPr lang="en-US" sz="1250" dirty="0"/>
          </a:p>
        </p:txBody>
      </p:sp>
      <p:sp>
        <p:nvSpPr>
          <p:cNvPr id="14" name="arrow-161"/>
          <p:cNvSpPr/>
          <p:nvPr/>
        </p:nvSpPr>
        <p:spPr>
          <a:xfrm>
            <a:off x="4690140" y="2798064"/>
            <a:ext cx="164592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5" name="box-162"/>
          <p:cNvSpPr/>
          <p:nvPr/>
        </p:nvSpPr>
        <p:spPr>
          <a:xfrm>
            <a:off x="4873020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综合报告</a:t>
            </a:r>
            <a:endParaRPr lang="en-US" sz="1250" dirty="0"/>
          </a:p>
        </p:txBody>
      </p:sp>
      <p:sp>
        <p:nvSpPr>
          <p:cNvPr id="16" name="bullets-163"/>
          <p:cNvSpPr txBox="1"/>
          <p:nvPr/>
        </p:nvSpPr>
        <p:spPr>
          <a:xfrm>
            <a:off x="822960" y="3337560"/>
            <a:ext cx="486140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队长（PI）把课题拆成有依赖的任务，可要求先审批计划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成员交接时，每条发现都必须附证据编号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质量门：规则检查 + 科研审查员；工具失败不算“阴性结果”</a:t>
            </a:r>
            <a:endParaRPr lang="en-US" sz="1300" dirty="0"/>
          </a:p>
        </p:txBody>
      </p:sp>
      <p:sp>
        <p:nvSpPr>
          <p:cNvPr id="17" name="label-164"/>
          <p:cNvSpPr txBox="1"/>
          <p:nvPr/>
        </p:nvSpPr>
        <p:spPr>
          <a:xfrm>
            <a:off x="822960" y="5349240"/>
            <a:ext cx="16204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26 位</a:t>
            </a:r>
            <a:endParaRPr lang="en-US" sz="2000" dirty="0"/>
          </a:p>
        </p:txBody>
      </p:sp>
      <p:sp>
        <p:nvSpPr>
          <p:cNvPr id="18" name="label-165"/>
          <p:cNvSpPr txBox="1"/>
          <p:nvPr/>
        </p:nvSpPr>
        <p:spPr>
          <a:xfrm>
            <a:off x="822960" y="5742432"/>
            <a:ext cx="16204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领域专家</a:t>
            </a:r>
            <a:endParaRPr lang="en-US" sz="1150" dirty="0"/>
          </a:p>
        </p:txBody>
      </p:sp>
      <p:sp>
        <p:nvSpPr>
          <p:cNvPr id="19" name="label-166"/>
          <p:cNvSpPr txBox="1"/>
          <p:nvPr/>
        </p:nvSpPr>
        <p:spPr>
          <a:xfrm>
            <a:off x="2443429" y="5349240"/>
            <a:ext cx="16204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15 个</a:t>
            </a:r>
            <a:endParaRPr lang="en-US" sz="2000" dirty="0"/>
          </a:p>
        </p:txBody>
      </p:sp>
      <p:sp>
        <p:nvSpPr>
          <p:cNvPr id="20" name="label-167"/>
          <p:cNvSpPr txBox="1"/>
          <p:nvPr/>
        </p:nvSpPr>
        <p:spPr>
          <a:xfrm>
            <a:off x="2443429" y="5742432"/>
            <a:ext cx="16204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团队模板</a:t>
            </a:r>
            <a:endParaRPr lang="en-US" sz="1150" dirty="0"/>
          </a:p>
        </p:txBody>
      </p:sp>
      <p:sp>
        <p:nvSpPr>
          <p:cNvPr id="21" name="label-168"/>
          <p:cNvSpPr txBox="1"/>
          <p:nvPr/>
        </p:nvSpPr>
        <p:spPr>
          <a:xfrm>
            <a:off x="4063898" y="5349240"/>
            <a:ext cx="16204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@</a:t>
            </a:r>
            <a:endParaRPr lang="en-US" sz="2000" dirty="0"/>
          </a:p>
        </p:txBody>
      </p:sp>
      <p:sp>
        <p:nvSpPr>
          <p:cNvPr id="22" name="label-169"/>
          <p:cNvSpPr txBox="1"/>
          <p:nvPr/>
        </p:nvSpPr>
        <p:spPr>
          <a:xfrm>
            <a:off x="4063898" y="5742432"/>
            <a:ext cx="16204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直接点名专家</a:t>
            </a:r>
            <a:endParaRPr lang="en-US" sz="1150" dirty="0"/>
          </a:p>
        </p:txBody>
      </p:sp>
      <p:sp>
        <p:nvSpPr>
          <p:cNvPr id="23" name="card-170"/>
          <p:cNvSpPr/>
          <p:nvPr/>
        </p:nvSpPr>
        <p:spPr>
          <a:xfrm>
            <a:off x="6233008" y="1600200"/>
            <a:ext cx="5410048" cy="45720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ag-171"/>
          <p:cNvSpPr/>
          <p:nvPr/>
        </p:nvSpPr>
        <p:spPr>
          <a:xfrm>
            <a:off x="6507328" y="1810512"/>
            <a:ext cx="411480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25" name="label-172"/>
          <p:cNvSpPr txBox="1"/>
          <p:nvPr/>
        </p:nvSpPr>
        <p:spPr>
          <a:xfrm>
            <a:off x="7055968" y="1810512"/>
            <a:ext cx="431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本地运行时：直接用已有 AI 订阅</a:t>
            </a:r>
            <a:endParaRPr lang="en-US" sz="1700" dirty="0"/>
          </a:p>
        </p:txBody>
      </p:sp>
      <p:sp>
        <p:nvSpPr>
          <p:cNvPr id="26" name="box-173"/>
          <p:cNvSpPr/>
          <p:nvPr/>
        </p:nvSpPr>
        <p:spPr>
          <a:xfrm>
            <a:off x="6507328" y="2697480"/>
            <a:ext cx="1325880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6350">
            <a:solidFill>
              <a:schemeClr val="tx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研究请求</a:t>
            </a:r>
            <a:endParaRPr lang="en-US" sz="1300" dirty="0"/>
          </a:p>
        </p:txBody>
      </p:sp>
      <p:sp>
        <p:nvSpPr>
          <p:cNvPr id="27" name="arrow-174"/>
          <p:cNvSpPr/>
          <p:nvPr/>
        </p:nvSpPr>
        <p:spPr>
          <a:xfrm>
            <a:off x="7833208" y="2980944"/>
            <a:ext cx="27432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8" name="box-175"/>
          <p:cNvSpPr/>
          <p:nvPr/>
        </p:nvSpPr>
        <p:spPr>
          <a:xfrm>
            <a:off x="8107528" y="2697480"/>
            <a:ext cx="1143000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6350">
            <a:solidFill>
              <a:schemeClr val="accent6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执行路由</a:t>
            </a:r>
            <a:endParaRPr lang="en-US" sz="1300" dirty="0"/>
          </a:p>
        </p:txBody>
      </p:sp>
      <p:sp>
        <p:nvSpPr>
          <p:cNvPr id="29" name="arrow-176"/>
          <p:cNvSpPr/>
          <p:nvPr/>
        </p:nvSpPr>
        <p:spPr>
          <a:xfrm flipV="1">
            <a:off x="9250528" y="2587752"/>
            <a:ext cx="320040" cy="292608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0" name="arrow-177"/>
          <p:cNvSpPr/>
          <p:nvPr/>
        </p:nvSpPr>
        <p:spPr>
          <a:xfrm>
            <a:off x="9250528" y="3081528"/>
            <a:ext cx="320040" cy="30175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1" name="box-178"/>
          <p:cNvSpPr/>
          <p:nvPr/>
        </p:nvSpPr>
        <p:spPr>
          <a:xfrm>
            <a:off x="9570568" y="2377440"/>
            <a:ext cx="1798168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模型 API · 按调用计费</a:t>
            </a:r>
            <a:endParaRPr lang="en-US" sz="1200" dirty="0"/>
          </a:p>
        </p:txBody>
      </p:sp>
      <p:sp>
        <p:nvSpPr>
          <p:cNvPr id="32" name="box-179"/>
          <p:cNvSpPr/>
          <p:nvPr/>
        </p:nvSpPr>
        <p:spPr>
          <a:xfrm>
            <a:off x="9570568" y="3154680"/>
            <a:ext cx="1798168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本地 CLI · 用已有订阅</a:t>
            </a:r>
            <a:endParaRPr lang="en-US" sz="1200" dirty="0"/>
          </a:p>
        </p:txBody>
      </p:sp>
      <p:sp>
        <p:nvSpPr>
          <p:cNvPr id="33" name="bullets-180"/>
          <p:cNvSpPr txBox="1"/>
          <p:nvPr/>
        </p:nvSpPr>
        <p:spPr>
          <a:xfrm>
            <a:off x="6507328" y="3886200"/>
            <a:ext cx="48614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自动检测本机已登录的 26 种 AI 命令行工具（如 Codex、Claude Code）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每个会话独立配置目录，不混入日常使用记录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执行命令前先征得同意（Codex 全流程支持）；数据留在本机</a:t>
            </a:r>
            <a:endParaRPr lang="en-US" sz="1300" dirty="0"/>
          </a:p>
        </p:txBody>
      </p:sp>
      <p:sp>
        <p:nvSpPr>
          <p:cNvPr id="34" name="label-181"/>
          <p:cNvSpPr txBox="1"/>
          <p:nvPr/>
        </p:nvSpPr>
        <p:spPr>
          <a:xfrm>
            <a:off x="6507328" y="553212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说明：Codex 走完整协议并支持审批；Claude Code 已验证会话隔离；其余工具为通用接入。使用前请确认订阅条款允许此类用法。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使用说明：四步完成一次可追溯的研究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截图来自真实运行的 v3.0 应用。</a:t>
            </a:r>
            <a:endParaRPr lang="en-US" sz="1500" dirty="0"/>
          </a:p>
        </p:txBody>
      </p:sp>
      <p:sp>
        <p:nvSpPr>
          <p:cNvPr id="4" name="label-182"/>
          <p:cNvSpPr txBox="1"/>
          <p:nvPr/>
        </p:nvSpPr>
        <p:spPr>
          <a:xfrm>
            <a:off x="548640" y="14813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① 安装：从 GitHub Releases 下载对应平台安装包；或在源码目录运行 npm run web，用浏览器打开。</a:t>
            </a:r>
            <a:endParaRPr lang="en-US" sz="1300" dirty="0"/>
          </a:p>
        </p:txBody>
      </p:sp>
      <p:sp>
        <p:nvSpPr>
          <p:cNvPr id="5" name="badge-183"/>
          <p:cNvSpPr/>
          <p:nvPr/>
        </p:nvSpPr>
        <p:spPr>
          <a:xfrm>
            <a:off x="548640" y="1901952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" name="label-184"/>
          <p:cNvSpPr txBox="1"/>
          <p:nvPr/>
        </p:nvSpPr>
        <p:spPr>
          <a:xfrm>
            <a:off x="1005840" y="1883664"/>
            <a:ext cx="30275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配置运行时</a:t>
            </a:r>
            <a:endParaRPr lang="en-US" sz="1600" dirty="0"/>
          </a:p>
        </p:txBody>
      </p:sp>
      <p:sp>
        <p:nvSpPr>
          <p:cNvPr id="7" name="label-185"/>
          <p:cNvSpPr txBox="1"/>
          <p:nvPr/>
        </p:nvSpPr>
        <p:spPr>
          <a:xfrm>
            <a:off x="548640" y="2304288"/>
            <a:ext cx="3484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安装后打开“运行时（模型配置）”，绑定本机 AI 命令行工具或填写模型 API。</a:t>
            </a:r>
            <a:endParaRPr lang="en-US" sz="1200" dirty="0"/>
          </a:p>
        </p:txBody>
      </p:sp>
      <p:sp>
        <p:nvSpPr>
          <p:cNvPr id="8" name="badge-186"/>
          <p:cNvSpPr/>
          <p:nvPr/>
        </p:nvSpPr>
        <p:spPr>
          <a:xfrm>
            <a:off x="4353458" y="1901952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9" name="label-187"/>
          <p:cNvSpPr txBox="1"/>
          <p:nvPr/>
        </p:nvSpPr>
        <p:spPr>
          <a:xfrm>
            <a:off x="4810658" y="1883664"/>
            <a:ext cx="30275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提问</a:t>
            </a:r>
            <a:endParaRPr lang="en-US" sz="1600" dirty="0"/>
          </a:p>
        </p:txBody>
      </p:sp>
      <p:sp>
        <p:nvSpPr>
          <p:cNvPr id="10" name="label-188"/>
          <p:cNvSpPr txBox="1"/>
          <p:nvPr/>
        </p:nvSpPr>
        <p:spPr>
          <a:xfrm>
            <a:off x="4353458" y="2304288"/>
            <a:ext cx="3484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直接提问；输入 @ 点名专家，或交给科研小队。</a:t>
            </a:r>
            <a:endParaRPr lang="en-US" sz="1200" dirty="0"/>
          </a:p>
        </p:txBody>
      </p:sp>
      <p:sp>
        <p:nvSpPr>
          <p:cNvPr id="11" name="badge-189"/>
          <p:cNvSpPr/>
          <p:nvPr/>
        </p:nvSpPr>
        <p:spPr>
          <a:xfrm>
            <a:off x="8158277" y="1901952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2" name="label-190"/>
          <p:cNvSpPr txBox="1"/>
          <p:nvPr/>
        </p:nvSpPr>
        <p:spPr>
          <a:xfrm>
            <a:off x="8615477" y="1883664"/>
            <a:ext cx="30275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查看证据</a:t>
            </a:r>
            <a:endParaRPr lang="en-US" sz="1600" dirty="0"/>
          </a:p>
        </p:txBody>
      </p:sp>
      <p:sp>
        <p:nvSpPr>
          <p:cNvPr id="13" name="label-191"/>
          <p:cNvSpPr txBox="1"/>
          <p:nvPr/>
        </p:nvSpPr>
        <p:spPr>
          <a:xfrm>
            <a:off x="8158277" y="2304288"/>
            <a:ext cx="3484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在“证据账本”查看每条证据的状态、来源与历史。</a:t>
            </a:r>
            <a:endParaRPr lang="en-US" sz="1200" dirty="0"/>
          </a:p>
        </p:txBody>
      </p:sp>
      <p:pic>
        <p:nvPicPr>
          <p:cNvPr id="14" name="screenshot-192" descr="自动检测到本机的 Claude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7854" y="2880360"/>
            <a:ext cx="2726350" cy="2834640"/>
          </a:xfrm>
          <a:prstGeom prst="rect">
            <a:avLst/>
          </a:prstGeom>
        </p:spPr>
      </p:pic>
      <p:sp>
        <p:nvSpPr>
          <p:cNvPr id="15" name="frame-193"/>
          <p:cNvSpPr/>
          <p:nvPr/>
        </p:nvSpPr>
        <p:spPr>
          <a:xfrm>
            <a:off x="927854" y="2880360"/>
            <a:ext cx="2726350" cy="28346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6" name="label-194"/>
          <p:cNvSpPr txBox="1"/>
          <p:nvPr/>
        </p:nvSpPr>
        <p:spPr>
          <a:xfrm>
            <a:off x="927854" y="5788152"/>
            <a:ext cx="27263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自动检测到本机的 Claude Code</a:t>
            </a:r>
            <a:endParaRPr lang="en-US" sz="1100" dirty="0"/>
          </a:p>
        </p:txBody>
      </p:sp>
      <p:pic>
        <p:nvPicPr>
          <p:cNvPr id="17" name="screenshot-195" descr="usage-ask-ment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458" y="2880360"/>
            <a:ext cx="3484778" cy="867323"/>
          </a:xfrm>
          <a:prstGeom prst="rect">
            <a:avLst/>
          </a:prstGeom>
        </p:spPr>
      </p:pic>
      <p:sp>
        <p:nvSpPr>
          <p:cNvPr id="18" name="frame-196"/>
          <p:cNvSpPr/>
          <p:nvPr/>
        </p:nvSpPr>
        <p:spPr>
          <a:xfrm>
            <a:off x="4353458" y="2880360"/>
            <a:ext cx="3484778" cy="867323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pic>
        <p:nvPicPr>
          <p:cNvPr id="19" name="screenshot-197" descr="@ 点名专家；工具调用逐步可查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3458" y="3931920"/>
            <a:ext cx="3484778" cy="1184825"/>
          </a:xfrm>
          <a:prstGeom prst="rect">
            <a:avLst/>
          </a:prstGeom>
        </p:spPr>
      </p:pic>
      <p:sp>
        <p:nvSpPr>
          <p:cNvPr id="20" name="frame-198"/>
          <p:cNvSpPr/>
          <p:nvPr/>
        </p:nvSpPr>
        <p:spPr>
          <a:xfrm>
            <a:off x="4353458" y="3931920"/>
            <a:ext cx="3484778" cy="1184825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1" name="label-199"/>
          <p:cNvSpPr txBox="1"/>
          <p:nvPr/>
        </p:nvSpPr>
        <p:spPr>
          <a:xfrm>
            <a:off x="4353458" y="5189897"/>
            <a:ext cx="3484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@ 点名专家；工具调用逐步可查</a:t>
            </a:r>
            <a:endParaRPr lang="en-US" sz="1100" dirty="0"/>
          </a:p>
        </p:txBody>
      </p:sp>
      <p:pic>
        <p:nvPicPr>
          <p:cNvPr id="22" name="screenshot-200" descr="证据账本：状态、来源、完整历史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8277" y="2880360"/>
            <a:ext cx="3484778" cy="2462577"/>
          </a:xfrm>
          <a:prstGeom prst="rect">
            <a:avLst/>
          </a:prstGeom>
        </p:spPr>
      </p:pic>
      <p:sp>
        <p:nvSpPr>
          <p:cNvPr id="23" name="frame-201"/>
          <p:cNvSpPr/>
          <p:nvPr/>
        </p:nvSpPr>
        <p:spPr>
          <a:xfrm>
            <a:off x="8158277" y="2880360"/>
            <a:ext cx="3484778" cy="2462577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4" name="label-202"/>
          <p:cNvSpPr txBox="1"/>
          <p:nvPr/>
        </p:nvSpPr>
        <p:spPr>
          <a:xfrm>
            <a:off x="8158277" y="5416089"/>
            <a:ext cx="3484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证据账本：状态、来源、完整历史</a:t>
            </a:r>
            <a:endParaRPr lang="en-US" sz="1100" dirty="0"/>
          </a:p>
        </p:txBody>
      </p:sp>
      <p:sp>
        <p:nvSpPr>
          <p:cNvPr id="25" name="label-203"/>
          <p:cNvSpPr txBox="1"/>
          <p:nvPr/>
        </p:nvSpPr>
        <p:spPr>
          <a:xfrm>
            <a:off x="548640" y="61722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演示环境使用离线示例模型生成文字；文献为 PubMed 实时检索结果。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当前进展与下一步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设计已全部落地并可下载使用；有效性还需要真实任务上的对照实验来证明。</a:t>
            </a:r>
            <a:endParaRPr lang="en-US" sz="1500" dirty="0"/>
          </a:p>
        </p:txBody>
      </p:sp>
      <p:sp>
        <p:nvSpPr>
          <p:cNvPr id="4" name="card-204"/>
          <p:cNvSpPr/>
          <p:nvPr/>
        </p:nvSpPr>
        <p:spPr>
          <a:xfrm>
            <a:off x="548640" y="164592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205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label-206"/>
          <p:cNvSpPr txBox="1"/>
          <p:nvPr/>
        </p:nvSpPr>
        <p:spPr>
          <a:xfrm>
            <a:off x="1325880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已完成</a:t>
            </a:r>
            <a:endParaRPr lang="en-US" sz="1800" dirty="0"/>
          </a:p>
        </p:txBody>
      </p:sp>
      <p:sp>
        <p:nvSpPr>
          <p:cNvPr id="7" name="bullets-207"/>
          <p:cNvSpPr txBox="1"/>
          <p:nvPr/>
        </p:nvSpPr>
        <p:spPr>
          <a:xfrm>
            <a:off x="822960" y="2514600"/>
            <a:ext cx="301233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v3.0.0 已发布：macOS、Windows、Linux 安装包和本地 Web 版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三类设计全部落地，并接入桌面端界面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自动化测试在三个平台持续通过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评分只看证据，不再受靶点名称影响</a:t>
            </a:r>
            <a:endParaRPr lang="en-US" sz="1500" dirty="0"/>
          </a:p>
        </p:txBody>
      </p:sp>
      <p:sp>
        <p:nvSpPr>
          <p:cNvPr id="8" name="card-208"/>
          <p:cNvSpPr/>
          <p:nvPr/>
        </p:nvSpPr>
        <p:spPr>
          <a:xfrm>
            <a:off x="4338218" y="164592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-209"/>
          <p:cNvSpPr/>
          <p:nvPr/>
        </p:nvSpPr>
        <p:spPr>
          <a:xfrm>
            <a:off x="4612538" y="1874520"/>
            <a:ext cx="384048" cy="384048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label-210"/>
          <p:cNvSpPr txBox="1"/>
          <p:nvPr/>
        </p:nvSpPr>
        <p:spPr>
          <a:xfrm>
            <a:off x="5115458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尚待验证</a:t>
            </a:r>
            <a:endParaRPr lang="en-US" sz="1800" dirty="0"/>
          </a:p>
        </p:txBody>
      </p:sp>
      <p:sp>
        <p:nvSpPr>
          <p:cNvPr id="11" name="bullets-211"/>
          <p:cNvSpPr txBox="1"/>
          <p:nvPr/>
        </p:nvSpPr>
        <p:spPr>
          <a:xfrm>
            <a:off x="4612538" y="2514600"/>
            <a:ext cx="301233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尚未在真实科研任务上做对照实验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判定目前处于“未校准”状态，尚无覆盖率保证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部分本地命令行工具仅为通用接入，待逐一验证</a:t>
            </a:r>
            <a:endParaRPr lang="en-US" sz="1500" dirty="0"/>
          </a:p>
        </p:txBody>
      </p:sp>
      <p:sp>
        <p:nvSpPr>
          <p:cNvPr id="12" name="card-212"/>
          <p:cNvSpPr/>
          <p:nvPr/>
        </p:nvSpPr>
        <p:spPr>
          <a:xfrm>
            <a:off x="8127797" y="164592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badge-213"/>
          <p:cNvSpPr/>
          <p:nvPr/>
        </p:nvSpPr>
        <p:spPr>
          <a:xfrm>
            <a:off x="8402117" y="1874520"/>
            <a:ext cx="384048" cy="38404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label-214"/>
          <p:cNvSpPr txBox="1"/>
          <p:nvPr/>
        </p:nvSpPr>
        <p:spPr>
          <a:xfrm>
            <a:off x="8905037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下一步 · 需要的支持</a:t>
            </a:r>
            <a:endParaRPr lang="en-US" sz="1800" dirty="0"/>
          </a:p>
        </p:txBody>
      </p:sp>
      <p:sp>
        <p:nvSpPr>
          <p:cNvPr id="15" name="bullets-215"/>
          <p:cNvSpPr txBox="1"/>
          <p:nvPr/>
        </p:nvSpPr>
        <p:spPr>
          <a:xfrm>
            <a:off x="8402117" y="2514600"/>
            <a:ext cx="301233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组织领域专家标注一批真实假设（支持 / 反驳），用于校准与评测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开展同等预算的对照实验：与扁平记忆、多智能体辩论比较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结果稳定后发布正式版，并整理成论文</a:t>
            </a:r>
            <a:endParaRPr lang="en-US" sz="1500" dirty="0"/>
          </a:p>
        </p:txBody>
      </p:sp>
      <p:sp>
        <p:nvSpPr>
          <p:cNvPr id="16" name="ask-216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label-217"/>
          <p:cNvSpPr txBox="1"/>
          <p:nvPr/>
        </p:nvSpPr>
        <p:spPr>
          <a:xfrm>
            <a:off x="822960" y="57607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请审阅：是否支持开展专家标注与同等预算对照实验（下一步第 1、2 项）。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dScience Report">
  <a:themeElements>
    <a:clrScheme name="MedScience Report">
      <a:dk1>
        <a:srgbClr val="1B2533"/>
      </a:dk1>
      <a:lt1>
        <a:srgbClr val="FFFFFF"/>
      </a:lt1>
      <a:dk2>
        <a:srgbClr val="0F2A44"/>
      </a:dk2>
      <a:lt2>
        <a:srgbClr val="F2F5F8"/>
      </a:lt2>
      <a:accent1>
        <a:srgbClr val="0E8A7E"/>
      </a:accent1>
      <a:accent2>
        <a:srgbClr val="1F5F99"/>
      </a:accent2>
      <a:accent3>
        <a:srgbClr val="C9792A"/>
      </a:accent3>
      <a:accent4>
        <a:srgbClr val="6B4FA0"/>
      </a:accent4>
      <a:accent5>
        <a:srgbClr val="B4233A"/>
      </a:accent5>
      <a:accent6>
        <a:srgbClr val="5B6B7C"/>
      </a:accent6>
      <a:hlink>
        <a:srgbClr val="1F5F99"/>
      </a:hlink>
      <a:folHlink>
        <a:srgbClr val="6B4FA0"/>
      </a:folHlink>
    </a:clrScheme>
    <a:fontScheme name="MedScience Report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MedScience 3.0 设计汇报</dc:title>
  <dc:subject>可信科研智能体工作站：设计动机、架构与使用说明</dc:subject>
  <dc:creator>MedScience</dc:creator>
  <cp:lastModifiedBy>MedScience</cp:lastModifiedBy>
  <cp:revision>1</cp:revision>
  <dcterms:created xsi:type="dcterms:W3CDTF">2026-10-04T15:33:40Z</dcterms:created>
  <dcterms:modified xsi:type="dcterms:W3CDTF">2026-10-04T15:33:40Z</dcterms:modified>
</cp:coreProperties>
</file>