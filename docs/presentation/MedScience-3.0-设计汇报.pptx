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30cd2282-8c3b-bf45-568b-6976de948efb}">
          <p14:sldIdLst>
            <p14:sldId id="256"/>
          </p14:sldIdLst>
        </p14:section>
        <p14:section name="为什么" id="{e8846e3b-1c05-a9da-fc79-000a8cc82f83}">
          <p14:sldIdLst>
            <p14:sldId id="257"/>
            <p14:sldId id="258"/>
          </p14:sldIdLst>
        </p14:section>
        <p14:section name="怎么设计" id="{6d02e187-1e23-22ea-a2ba-d733955ea61d}">
          <p14:sldIdLst>
            <p14:sldId id="259"/>
            <p14:sldId id="260"/>
            <p14:sldId id="261"/>
            <p14:sldId id="262"/>
            <p14:sldId id="263"/>
          </p14:sldIdLst>
        </p14:section>
        <p14:section name="怎么用" id="{1caef6a9-7ff0-7aaa-f0be-84f2742cf5fe}">
          <p14:sldIdLst>
            <p14:sldId id="264"/>
          </p14:sldIdLst>
        </p14:section>
        <p14:section name="下一步" id="{d3da458c-6392-84e5-e3b3-3f45159ab0b4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预期信息增益</c:v>
                </c:pt>
              </c:strCache>
            </c:strRef>
          </c:tx>
          <c:spPr>
            <a:solidFill>
              <a:srgbClr val="0E8A7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UniProt 序列</c:v>
                  </c:pt>
                  <c:pt idx="1">
                    <c:v>临床试验登记</c:v>
                  </c:pt>
                  <c:pt idx="2">
                    <c:v>ChEMBL 活性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0.039</c:v>
                </c:pt>
                <c:pt idx="1">
                  <c:v>0.105</c:v>
                </c:pt>
                <c:pt idx="2">
                  <c:v>0.259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5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3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开场一句话：MedScience 是一个面向生物医学研究的科研智能体系统，不是通用聊天助手。3.0 的重点不是让 AI 说得更多，而是让它的结论站得住：有证据、能撤回、可信度说得清，并且数据留在本机。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这一页给出全貌：问题是什么、我们怎么做、做到哪一步。后面按“为什么、怎么设计、怎么用、下一步”的顺序展开，共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左列是四个痛点，中间是同类方案通常怎么做，右列是我们的回应。前三个对应 3.0 新增的证据治理设计，第四个对应本地运行时。同类方案只引用公开资料，不评价其未公开能力。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这一页同时回答“有哪几类设计”和“它们在系统里的位置”。A 类证据治理是 3.0 新增的一层（绿色框），属于智能体的推理架构；B 类是协作层，即科研小队的组织方式；C 类是运行与部署，包括使用入口、执行层和本机数据层，在 2.x 已具备。右侧防护钩子贯穿每一次工具调用。需要强调：这些都是智能体系统层面的设计，没有训练或修改大模型本身。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上排是一次科研提问的完整路径，每一步下面的小字是这一步产生的数据。绿色四步由 3.0 新增的证据治理层完成。下方是回路：科研结论的依据会被新研究推翻，比如药品因新的安全性试验撤市。证据在账本里被标记后，依赖它的结论在同一操作里自动转为“有争议”，原因写入哈希链，可以审计；恢复证据不会自动恢复结论，需要重新论证。下一页用罗非昔布的完整例子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3.0 的核心。证据和结论有六种状态，只能沿箭头迁移：新证据先是候选，通过准入门禁才算已验证，否则隔离。关键是依赖级联，用罗非昔布举例：账本里有两条已验证结论，A“可作关节炎长期镇痛”依据上市批准和 VIGOR 试验，B“胃肠道风险低于萘普生”只依据 VIGOR。2004 年 APPROVe 试验显示长期服用心血管风险升高，药品撤市，审查人把“上市批准”证据标为已撤销，A 自动转为有争议，B 不依赖它，保持不变。2005 年期刊对 VIGOR 发布关注声明，导入后自动扫描，B 也转为有争议。整个过程不需要人工逐条排查，每一步的原因都写入哈希链。这个例子已写成自动化测试，文献编号经 PubMed 核实。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左边是信息增益取证。背景：专家意见不一时，与其多轮辩论，不如先做最能分出对错的那次查询，这是贝叶斯实验设计的思路。分歧度：把意见汇成“支持”和“反驳”的概率，用熵除以最大熵，0 是已有定论，1 是五五开。信息增益：每个查询有一张结果概率表，比如 ChEMBL 在假设成立时有 60% 的机会查到强活性，不成立时只有 10%；用它算出查询前后不确定度的预期差值，就是预期信息增益。例子是“TYK2 抑制可用于治疗银屑病”：从五五开出发，ChEMBL 的增益最大，所以先查；查到强活性后支持概率升到 0.86，再查临床试验，升到 0.95，分歧度从 1.0 降到 0.28。UniProt 增益最低，因为无论假设对错靶点几乎都能查到序列。需要说明：概率表目前是人工设定的，正式实验前要用标注数据估计。右边是共形三分判定：用一批已知结果的历史假设校准，结论以“可能成立的结果集合”给出，集合里只有一个答案才下结论；两个都可能就是证据不足。校准后错误率有统计保证，没校准时系统会明确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左边是多智能体协作：队长拆解任务，成员并行，交接时每条发现都要附证据编号，再过质量门，最后成文。内置 26 位专家、15 个团队模板。右边是本地运行时：很多团队已经买了 ChatGPT（Codex）或 Claude 的订阅，MedScience 可以直接调用本机已登录的命令行工具，沿用现有额度，不需要 API 密钥。注意除 Codex 和 Claude Code 外其他工具是通用接入，并请确认订阅条款允许这样使用。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四步即可：安装、配置运行时、提问、查看证据。左图是运行时自动检测到本机的 Claude Code；中间是用 @ 点名专家，以及智能体调用工具的记录；右图是证据账本，每条证据的状态、来源和完整历史都能查到。截图都来自真实运行的 3.0 应用。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是进展和请求。设计已全部落地并发布，可以下载试用；尚待验证的是有效性。最需要的支持是领域专家标注一批真实假设，用于校准和评测，然后做同等预算的对照实验，结果稳定后发布正式版并整理论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83080"/>
            <a:ext cx="1005840" cy="82296"/>
          </a:xfrm>
          <a:prstGeom prst="rect">
            <a:avLst/>
          </a:prstGeom>
          <a:solidFill>
            <a:srgbClr val="0E8A7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8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MedScience 3.0 · 设计汇报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MedScience 3.0</a:t>
            </a:r>
            <a:endParaRPr lang="en-US" sz="48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面向生物医学研究的科研智能体系统 · 设计汇报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5B6B7C"/>
                </a:solidFill>
              </a:rPr>
              <a:t>让每一个科研结论都有据可查、可以撤回、说得清可信度</a:t>
            </a:r>
            <a:endParaRPr lang="en-US" sz="2200" dirty="0"/>
          </a:p>
        </p:txBody>
      </p:sp>
      <p:sp>
        <p:nvSpPr>
          <p:cNvPr id="4" name="label-1"/>
          <p:cNvSpPr txBox="1"/>
          <p:nvPr/>
        </p:nvSpPr>
        <p:spPr>
          <a:xfrm>
            <a:off x="54864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2026 年 10 月  ·  版本 v3.0.0（预发布）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一页概要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一句话：面向生物医学研究——让科研结论有证据、能撤回、说得清可信度，科研数据不出本机。</a:t>
            </a:r>
            <a:endParaRPr lang="en-US" sz="1500" dirty="0"/>
          </a:p>
        </p:txBody>
      </p:sp>
      <p:sp>
        <p:nvSpPr>
          <p:cNvPr id="4" name="card-2"/>
          <p:cNvSpPr/>
          <p:nvPr/>
        </p:nvSpPr>
        <p:spPr>
          <a:xfrm>
            <a:off x="548640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3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4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要解决的问题</a:t>
            </a:r>
            <a:endParaRPr lang="en-US" sz="1800" dirty="0"/>
          </a:p>
        </p:txBody>
      </p:sp>
      <p:sp>
        <p:nvSpPr>
          <p:cNvPr id="7" name="label-5"/>
          <p:cNvSpPr txBox="1"/>
          <p:nvPr/>
        </p:nvSpPr>
        <p:spPr>
          <a:xfrm>
            <a:off x="822960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能很快给出科研结论，但依据哪些文献和数据、依据被新研究推翻后怎么办、可信度多高，往往说不清。</a:t>
            </a:r>
            <a:endParaRPr lang="en-US" sz="1500" dirty="0"/>
          </a:p>
        </p:txBody>
      </p:sp>
      <p:sp>
        <p:nvSpPr>
          <p:cNvPr id="8" name="card-6"/>
          <p:cNvSpPr/>
          <p:nvPr/>
        </p:nvSpPr>
        <p:spPr>
          <a:xfrm>
            <a:off x="4338218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7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8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我们的做法</a:t>
            </a:r>
            <a:endParaRPr lang="en-US" sz="1800" dirty="0"/>
          </a:p>
        </p:txBody>
      </p:sp>
      <p:sp>
        <p:nvSpPr>
          <p:cNvPr id="11" name="label-9"/>
          <p:cNvSpPr txBox="1"/>
          <p:nvPr/>
        </p:nvSpPr>
        <p:spPr>
          <a:xfrm>
            <a:off x="4612538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三类设计：证据治理（结论必须挂靠已验证的文献与数据库证据）、多智能体协作（像课题组一样分工、审查把关）、本地运行（科研与临床数据留在本机）。</a:t>
            </a:r>
            <a:endParaRPr lang="en-US" sz="1500" dirty="0"/>
          </a:p>
        </p:txBody>
      </p:sp>
      <p:sp>
        <p:nvSpPr>
          <p:cNvPr id="12" name="card-10"/>
          <p:cNvSpPr/>
          <p:nvPr/>
        </p:nvSpPr>
        <p:spPr>
          <a:xfrm>
            <a:off x="8127797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11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12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当前进展</a:t>
            </a:r>
            <a:endParaRPr lang="en-US" sz="1800" dirty="0"/>
          </a:p>
        </p:txBody>
      </p:sp>
      <p:sp>
        <p:nvSpPr>
          <p:cNvPr id="15" name="label-13"/>
          <p:cNvSpPr txBox="1"/>
          <p:nvPr/>
        </p:nvSpPr>
        <p:spPr>
          <a:xfrm>
            <a:off x="8402117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v3.0.0 已发布：macOS、Windows、Linux 安装包和本地 Web 版，自动化测试在三个平台通过。真实任务上的对照实验尚待开展。</a:t>
            </a:r>
            <a:endParaRPr lang="en-US" sz="1500" dirty="0"/>
          </a:p>
        </p:txBody>
      </p:sp>
      <p:sp>
        <p:nvSpPr>
          <p:cNvPr id="16" name="label-14"/>
          <p:cNvSpPr txBox="1"/>
          <p:nvPr/>
        </p:nvSpPr>
        <p:spPr>
          <a:xfrm>
            <a:off x="548640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类</a:t>
            </a:r>
            <a:endParaRPr lang="en-US" sz="3400" dirty="0"/>
          </a:p>
        </p:txBody>
      </p:sp>
      <p:sp>
        <p:nvSpPr>
          <p:cNvPr id="17" name="label-15"/>
          <p:cNvSpPr txBox="1"/>
          <p:nvPr/>
        </p:nvSpPr>
        <p:spPr>
          <a:xfrm>
            <a:off x="548640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系统设计</a:t>
            </a:r>
            <a:endParaRPr lang="en-US" sz="1300" dirty="0"/>
          </a:p>
        </p:txBody>
      </p:sp>
      <p:sp>
        <p:nvSpPr>
          <p:cNvPr id="18" name="label-16"/>
          <p:cNvSpPr txBox="1"/>
          <p:nvPr/>
        </p:nvSpPr>
        <p:spPr>
          <a:xfrm>
            <a:off x="3322244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位</a:t>
            </a:r>
            <a:endParaRPr lang="en-US" sz="3400" dirty="0"/>
          </a:p>
        </p:txBody>
      </p:sp>
      <p:sp>
        <p:nvSpPr>
          <p:cNvPr id="19" name="label-17"/>
          <p:cNvSpPr txBox="1"/>
          <p:nvPr/>
        </p:nvSpPr>
        <p:spPr>
          <a:xfrm>
            <a:off x="3322244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科研领域专家角色</a:t>
            </a:r>
            <a:endParaRPr lang="en-US" sz="1300" dirty="0"/>
          </a:p>
        </p:txBody>
      </p:sp>
      <p:sp>
        <p:nvSpPr>
          <p:cNvPr id="20" name="label-18"/>
          <p:cNvSpPr txBox="1"/>
          <p:nvPr/>
        </p:nvSpPr>
        <p:spPr>
          <a:xfrm>
            <a:off x="6095848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种</a:t>
            </a:r>
            <a:endParaRPr lang="en-US" sz="3400" dirty="0"/>
          </a:p>
        </p:txBody>
      </p:sp>
      <p:sp>
        <p:nvSpPr>
          <p:cNvPr id="21" name="label-19"/>
          <p:cNvSpPr txBox="1"/>
          <p:nvPr/>
        </p:nvSpPr>
        <p:spPr>
          <a:xfrm>
            <a:off x="6095848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本地 AI 命令行工具可接入</a:t>
            </a:r>
            <a:endParaRPr lang="en-US" sz="1300" dirty="0"/>
          </a:p>
        </p:txBody>
      </p:sp>
      <p:sp>
        <p:nvSpPr>
          <p:cNvPr id="22" name="label-20"/>
          <p:cNvSpPr txBox="1"/>
          <p:nvPr/>
        </p:nvSpPr>
        <p:spPr>
          <a:xfrm>
            <a:off x="8869451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 种</a:t>
            </a:r>
            <a:endParaRPr lang="en-US" sz="3400" dirty="0"/>
          </a:p>
        </p:txBody>
      </p:sp>
      <p:sp>
        <p:nvSpPr>
          <p:cNvPr id="23" name="label-21"/>
          <p:cNvSpPr txBox="1"/>
          <p:nvPr/>
        </p:nvSpPr>
        <p:spPr>
          <a:xfrm>
            <a:off x="8869451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使用方式（三平台 + Web）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问题与定位：科研场景的四个痛点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同类科研智能体各有所长；MedScience 的差异在于“结论治理”与“本地可用”。</a:t>
            </a:r>
            <a:endParaRPr lang="en-US" sz="1500" dirty="0"/>
          </a:p>
        </p:txBody>
      </p:sp>
      <p:graphicFrame>
        <p:nvGraphicFramePr>
          <p:cNvPr id="4" name="table-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383280"/>
                <a:gridCol w="387065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痛点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同类方案的常见做法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MedScience 的回应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结论难追溯，错误会固化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依据的试验或数据被新研究推翻，结论仍被反复引用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检索后生成带引用的报告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（如 OpenAI Deep Research）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证据账本：证据持久保存；依据失效，相关结论自动降级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专家意见分歧时，下一步查什么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多轮辩论易互相附和，且耗算力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多智能体生成、辩论、排序假设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（如 Google AI co-scientist）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信息增益取证：把分歧变成“下一步最该查什么”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假设成立与否，可信度说不清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“80% 可信”从何而来，无法核验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自动打分或排名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（分数本身缺少统计口径）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共形三分判定：支持 / 反驳 / 不确定，各有统计含义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数据与成本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临床数据不应出本机；已有订阅仍要另付 API 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以云端服务为主，按 API 调用计费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本地运行：数据留本机，复用已订阅的 AI 命令行工具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abel-23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注：同类方案仅依据其公开发布的资料概括，不推断未公开的内部能力。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总体架构：三类设计落在五层结构中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均为科研智能体系统层面的架构设计，不修改基础大模型；底层模型可以随时替换。</a:t>
            </a:r>
            <a:endParaRPr lang="en-US" sz="1500" dirty="0"/>
          </a:p>
        </p:txBody>
      </p:sp>
      <p:sp>
        <p:nvSpPr>
          <p:cNvPr id="4" name="tag-24"/>
          <p:cNvSpPr/>
          <p:nvPr/>
        </p:nvSpPr>
        <p:spPr>
          <a:xfrm>
            <a:off x="548640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</a:t>
            </a:r>
            <a:endParaRPr lang="en-US" sz="1500" dirty="0"/>
          </a:p>
        </p:txBody>
      </p:sp>
      <p:sp>
        <p:nvSpPr>
          <p:cNvPr id="5" name="label-25"/>
          <p:cNvSpPr txBox="1"/>
          <p:nvPr/>
        </p:nvSpPr>
        <p:spPr>
          <a:xfrm>
            <a:off x="1051560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证据治理设计</a:t>
            </a:r>
            <a:endParaRPr lang="en-US" sz="1400" dirty="0"/>
          </a:p>
        </p:txBody>
      </p:sp>
      <p:sp>
        <p:nvSpPr>
          <p:cNvPr id="6" name="label-26"/>
          <p:cNvSpPr txBox="1"/>
          <p:nvPr/>
        </p:nvSpPr>
        <p:spPr>
          <a:xfrm>
            <a:off x="1051560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管“结论凭什么成立”（3.0 新增）</a:t>
            </a:r>
            <a:endParaRPr lang="en-US" sz="1150" dirty="0"/>
          </a:p>
        </p:txBody>
      </p:sp>
      <p:sp>
        <p:nvSpPr>
          <p:cNvPr id="7" name="tag-27"/>
          <p:cNvSpPr/>
          <p:nvPr/>
        </p:nvSpPr>
        <p:spPr>
          <a:xfrm>
            <a:off x="4246778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</a:t>
            </a:r>
            <a:endParaRPr lang="en-US" sz="1500" dirty="0"/>
          </a:p>
        </p:txBody>
      </p:sp>
      <p:sp>
        <p:nvSpPr>
          <p:cNvPr id="8" name="label-28"/>
          <p:cNvSpPr txBox="1"/>
          <p:nvPr/>
        </p:nvSpPr>
        <p:spPr>
          <a:xfrm>
            <a:off x="4749698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多智能体协作设计</a:t>
            </a:r>
            <a:endParaRPr lang="en-US" sz="1400" dirty="0"/>
          </a:p>
        </p:txBody>
      </p:sp>
      <p:sp>
        <p:nvSpPr>
          <p:cNvPr id="9" name="label-29"/>
          <p:cNvSpPr txBox="1"/>
          <p:nvPr/>
        </p:nvSpPr>
        <p:spPr>
          <a:xfrm>
            <a:off x="4749698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管“谁来做、谁把关”</a:t>
            </a:r>
            <a:endParaRPr lang="en-US" sz="1150" dirty="0"/>
          </a:p>
        </p:txBody>
      </p:sp>
      <p:sp>
        <p:nvSpPr>
          <p:cNvPr id="10" name="tag-30"/>
          <p:cNvSpPr/>
          <p:nvPr/>
        </p:nvSpPr>
        <p:spPr>
          <a:xfrm>
            <a:off x="7944917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</a:t>
            </a:r>
            <a:endParaRPr lang="en-US" sz="1500" dirty="0"/>
          </a:p>
        </p:txBody>
      </p:sp>
      <p:sp>
        <p:nvSpPr>
          <p:cNvPr id="11" name="label-31"/>
          <p:cNvSpPr txBox="1"/>
          <p:nvPr/>
        </p:nvSpPr>
        <p:spPr>
          <a:xfrm>
            <a:off x="8447837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运行时与部署设计</a:t>
            </a:r>
            <a:endParaRPr lang="en-US" sz="1400" dirty="0"/>
          </a:p>
        </p:txBody>
      </p:sp>
      <p:sp>
        <p:nvSpPr>
          <p:cNvPr id="12" name="label-32"/>
          <p:cNvSpPr txBox="1"/>
          <p:nvPr/>
        </p:nvSpPr>
        <p:spPr>
          <a:xfrm>
            <a:off x="8447837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管“在哪里跑、用谁的额度”</a:t>
            </a:r>
            <a:endParaRPr lang="en-US" sz="1150" dirty="0"/>
          </a:p>
        </p:txBody>
      </p:sp>
      <p:sp>
        <p:nvSpPr>
          <p:cNvPr id="13" name="box-33"/>
          <p:cNvSpPr/>
          <p:nvPr/>
        </p:nvSpPr>
        <p:spPr>
          <a:xfrm>
            <a:off x="548640" y="224028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使用入口</a:t>
            </a:r>
            <a:endParaRPr lang="en-US" sz="1400" dirty="0"/>
          </a:p>
        </p:txBody>
      </p:sp>
      <p:sp>
        <p:nvSpPr>
          <p:cNvPr id="14" name="layer-34"/>
          <p:cNvSpPr/>
          <p:nvPr/>
        </p:nvSpPr>
        <p:spPr>
          <a:xfrm>
            <a:off x="2286000" y="224028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5" name="box-35"/>
          <p:cNvSpPr/>
          <p:nvPr/>
        </p:nvSpPr>
        <p:spPr>
          <a:xfrm>
            <a:off x="242316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桌面端（macOS / Windows / Linux）</a:t>
            </a:r>
            <a:endParaRPr lang="en-US" sz="1250" dirty="0"/>
          </a:p>
        </p:txBody>
      </p:sp>
      <p:sp>
        <p:nvSpPr>
          <p:cNvPr id="16" name="box-36"/>
          <p:cNvSpPr/>
          <p:nvPr/>
        </p:nvSpPr>
        <p:spPr>
          <a:xfrm>
            <a:off x="617220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Web（仅本机可访问）</a:t>
            </a:r>
            <a:endParaRPr lang="en-US" sz="1250" dirty="0"/>
          </a:p>
        </p:txBody>
      </p:sp>
      <p:sp>
        <p:nvSpPr>
          <p:cNvPr id="17" name="box-37"/>
          <p:cNvSpPr/>
          <p:nvPr/>
        </p:nvSpPr>
        <p:spPr>
          <a:xfrm>
            <a:off x="548640" y="301752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 · 协作层</a:t>
            </a:r>
            <a:endParaRPr lang="en-US" sz="1400" dirty="0"/>
          </a:p>
        </p:txBody>
      </p:sp>
      <p:sp>
        <p:nvSpPr>
          <p:cNvPr id="18" name="layer-38"/>
          <p:cNvSpPr/>
          <p:nvPr/>
        </p:nvSpPr>
        <p:spPr>
          <a:xfrm>
            <a:off x="2286000" y="301752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9" name="box-39"/>
          <p:cNvSpPr/>
          <p:nvPr/>
        </p:nvSpPr>
        <p:spPr>
          <a:xfrm>
            <a:off x="242316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队长规划</a:t>
            </a:r>
            <a:endParaRPr lang="en-US" sz="1250" dirty="0"/>
          </a:p>
        </p:txBody>
      </p:sp>
      <p:sp>
        <p:nvSpPr>
          <p:cNvPr id="20" name="box-40"/>
          <p:cNvSpPr/>
          <p:nvPr/>
        </p:nvSpPr>
        <p:spPr>
          <a:xfrm>
            <a:off x="429768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成员并行执行</a:t>
            </a:r>
            <a:endParaRPr lang="en-US" sz="1250" dirty="0"/>
          </a:p>
        </p:txBody>
      </p:sp>
      <p:sp>
        <p:nvSpPr>
          <p:cNvPr id="21" name="box-41"/>
          <p:cNvSpPr/>
          <p:nvPr/>
        </p:nvSpPr>
        <p:spPr>
          <a:xfrm>
            <a:off x="617220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审查员质量门</a:t>
            </a:r>
            <a:endParaRPr lang="en-US" sz="1250" dirty="0"/>
          </a:p>
        </p:txBody>
      </p:sp>
      <p:sp>
        <p:nvSpPr>
          <p:cNvPr id="22" name="box-42"/>
          <p:cNvSpPr/>
          <p:nvPr/>
        </p:nvSpPr>
        <p:spPr>
          <a:xfrm>
            <a:off x="804672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写作专家综合</a:t>
            </a:r>
            <a:endParaRPr lang="en-US" sz="1250" dirty="0"/>
          </a:p>
        </p:txBody>
      </p:sp>
      <p:sp>
        <p:nvSpPr>
          <p:cNvPr id="23" name="box-43"/>
          <p:cNvSpPr/>
          <p:nvPr/>
        </p:nvSpPr>
        <p:spPr>
          <a:xfrm>
            <a:off x="548640" y="379476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· 证据治理层</a:t>
            </a:r>
            <a:endParaRPr lang="en-US" sz="1400" dirty="0"/>
          </a:p>
        </p:txBody>
      </p:sp>
      <p:sp>
        <p:nvSpPr>
          <p:cNvPr id="24" name="layer-44"/>
          <p:cNvSpPr/>
          <p:nvPr/>
        </p:nvSpPr>
        <p:spPr>
          <a:xfrm>
            <a:off x="2286000" y="379476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E3F3F1"/>
          </a:solidFill>
          <a:ln w="19050">
            <a:solidFill>
              <a:srgbClr val="0E8A7E"/>
            </a:solidFill>
            <a:prstDash val="solid"/>
          </a:ln>
        </p:spPr>
      </p:sp>
      <p:sp>
        <p:nvSpPr>
          <p:cNvPr id="25" name="box-45"/>
          <p:cNvSpPr/>
          <p:nvPr/>
        </p:nvSpPr>
        <p:spPr>
          <a:xfrm>
            <a:off x="242316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信息增益取证</a:t>
            </a:r>
            <a:endParaRPr lang="en-US" sz="1250" dirty="0"/>
          </a:p>
        </p:txBody>
      </p:sp>
      <p:sp>
        <p:nvSpPr>
          <p:cNvPr id="26" name="box-46"/>
          <p:cNvSpPr/>
          <p:nvPr/>
        </p:nvSpPr>
        <p:spPr>
          <a:xfrm>
            <a:off x="429768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共形三分判定</a:t>
            </a:r>
            <a:endParaRPr lang="en-US" sz="1250" dirty="0"/>
          </a:p>
        </p:txBody>
      </p:sp>
      <p:sp>
        <p:nvSpPr>
          <p:cNvPr id="27" name="box-47"/>
          <p:cNvSpPr/>
          <p:nvPr/>
        </p:nvSpPr>
        <p:spPr>
          <a:xfrm>
            <a:off x="617220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准入门禁</a:t>
            </a:r>
            <a:endParaRPr lang="en-US" sz="1250" dirty="0"/>
          </a:p>
        </p:txBody>
      </p:sp>
      <p:sp>
        <p:nvSpPr>
          <p:cNvPr id="28" name="box-48"/>
          <p:cNvSpPr/>
          <p:nvPr/>
        </p:nvSpPr>
        <p:spPr>
          <a:xfrm>
            <a:off x="804672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证据账本</a:t>
            </a:r>
            <a:endParaRPr lang="en-US" sz="1250" dirty="0"/>
          </a:p>
        </p:txBody>
      </p:sp>
      <p:sp>
        <p:nvSpPr>
          <p:cNvPr id="29" name="box-49"/>
          <p:cNvSpPr/>
          <p:nvPr/>
        </p:nvSpPr>
        <p:spPr>
          <a:xfrm>
            <a:off x="548640" y="457200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执行层</a:t>
            </a:r>
            <a:endParaRPr lang="en-US" sz="1400" dirty="0"/>
          </a:p>
        </p:txBody>
      </p:sp>
      <p:sp>
        <p:nvSpPr>
          <p:cNvPr id="30" name="layer-50"/>
          <p:cNvSpPr/>
          <p:nvPr/>
        </p:nvSpPr>
        <p:spPr>
          <a:xfrm>
            <a:off x="2286000" y="457200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1" name="box-51"/>
          <p:cNvSpPr/>
          <p:nvPr/>
        </p:nvSpPr>
        <p:spPr>
          <a:xfrm>
            <a:off x="242316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模型 API</a:t>
            </a:r>
            <a:endParaRPr lang="en-US" sz="1250" dirty="0"/>
          </a:p>
        </p:txBody>
      </p:sp>
      <p:sp>
        <p:nvSpPr>
          <p:cNvPr id="32" name="box-52"/>
          <p:cNvSpPr/>
          <p:nvPr/>
        </p:nvSpPr>
        <p:spPr>
          <a:xfrm>
            <a:off x="429768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CLI 运行时</a:t>
            </a:r>
            <a:endParaRPr lang="en-US" sz="1250" dirty="0"/>
          </a:p>
        </p:txBody>
      </p:sp>
      <p:sp>
        <p:nvSpPr>
          <p:cNvPr id="33" name="box-53"/>
          <p:cNvSpPr/>
          <p:nvPr/>
        </p:nvSpPr>
        <p:spPr>
          <a:xfrm>
            <a:off x="617220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科研数据库连接器</a:t>
            </a:r>
            <a:endParaRPr lang="en-US" sz="1250" dirty="0"/>
          </a:p>
        </p:txBody>
      </p:sp>
      <p:sp>
        <p:nvSpPr>
          <p:cNvPr id="34" name="box-54"/>
          <p:cNvSpPr/>
          <p:nvPr/>
        </p:nvSpPr>
        <p:spPr>
          <a:xfrm>
            <a:off x="804672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内核级沙盒</a:t>
            </a:r>
            <a:endParaRPr lang="en-US" sz="1250" dirty="0"/>
          </a:p>
        </p:txBody>
      </p:sp>
      <p:sp>
        <p:nvSpPr>
          <p:cNvPr id="35" name="box-55"/>
          <p:cNvSpPr/>
          <p:nvPr/>
        </p:nvSpPr>
        <p:spPr>
          <a:xfrm>
            <a:off x="548640" y="534924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数据层</a:t>
            </a:r>
            <a:endParaRPr lang="en-US" sz="1400" dirty="0"/>
          </a:p>
        </p:txBody>
      </p:sp>
      <p:sp>
        <p:nvSpPr>
          <p:cNvPr id="36" name="layer-56"/>
          <p:cNvSpPr/>
          <p:nvPr/>
        </p:nvSpPr>
        <p:spPr>
          <a:xfrm>
            <a:off x="2286000" y="534924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7" name="box-57"/>
          <p:cNvSpPr/>
          <p:nvPr/>
        </p:nvSpPr>
        <p:spPr>
          <a:xfrm>
            <a:off x="2423160" y="5458968"/>
            <a:ext cx="736092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本机 ~/.medscience：会话 · 证据账本 · 加密密钥库 · 配置</a:t>
            </a:r>
            <a:endParaRPr lang="en-US" sz="1250" dirty="0"/>
          </a:p>
        </p:txBody>
      </p:sp>
      <p:sp>
        <p:nvSpPr>
          <p:cNvPr id="38" name="hooks-58"/>
          <p:cNvSpPr/>
          <p:nvPr/>
        </p:nvSpPr>
        <p:spPr>
          <a:xfrm>
            <a:off x="10104120" y="2240280"/>
            <a:ext cx="1538935" cy="3767328"/>
          </a:xfrm>
          <a:prstGeom prst="roundRect">
            <a:avLst>
              <a:gd name="adj" fmla="val 47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9" name="label-59"/>
          <p:cNvSpPr txBox="1"/>
          <p:nvPr/>
        </p:nvSpPr>
        <p:spPr>
          <a:xfrm>
            <a:off x="10195560" y="2377440"/>
            <a:ext cx="1356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防护钩子</a:t>
            </a:r>
            <a:endParaRPr lang="en-US" sz="1500" dirty="0"/>
          </a:p>
        </p:txBody>
      </p:sp>
      <p:sp>
        <p:nvSpPr>
          <p:cNvPr id="40" name="label-60"/>
          <p:cNvSpPr txBox="1"/>
          <p:nvPr/>
        </p:nvSpPr>
        <p:spPr>
          <a:xfrm>
            <a:off x="10195560" y="2715768"/>
            <a:ext cx="1356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9C7D6"/>
                </a:solidFill>
              </a:rPr>
              <a:t>贯穿每次工具调用</a:t>
            </a:r>
            <a:endParaRPr lang="en-US" sz="1050" dirty="0"/>
          </a:p>
        </p:txBody>
      </p:sp>
      <p:sp>
        <p:nvSpPr>
          <p:cNvPr id="41" name="box-61"/>
          <p:cNvSpPr/>
          <p:nvPr/>
        </p:nvSpPr>
        <p:spPr>
          <a:xfrm>
            <a:off x="10268712" y="3108960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密钥脱敏</a:t>
            </a:r>
            <a:endParaRPr lang="en-US" sz="1200" dirty="0"/>
          </a:p>
        </p:txBody>
      </p:sp>
      <p:sp>
        <p:nvSpPr>
          <p:cNvPr id="42" name="box-62"/>
          <p:cNvSpPr/>
          <p:nvPr/>
        </p:nvSpPr>
        <p:spPr>
          <a:xfrm>
            <a:off x="10268712" y="3767328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临床数据门</a:t>
            </a:r>
            <a:endParaRPr lang="en-US" sz="1200" dirty="0"/>
          </a:p>
        </p:txBody>
      </p:sp>
      <p:sp>
        <p:nvSpPr>
          <p:cNvPr id="43" name="box-63"/>
          <p:cNvSpPr/>
          <p:nvPr/>
        </p:nvSpPr>
        <p:spPr>
          <a:xfrm>
            <a:off x="10268712" y="4425696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证据数值核验</a:t>
            </a:r>
            <a:endParaRPr lang="en-US" sz="1200" dirty="0"/>
          </a:p>
        </p:txBody>
      </p:sp>
      <p:sp>
        <p:nvSpPr>
          <p:cNvPr id="44" name="box-64"/>
          <p:cNvSpPr/>
          <p:nvPr/>
        </p:nvSpPr>
        <p:spPr>
          <a:xfrm>
            <a:off x="10268712" y="5084064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引用完整性检查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一次科研提问的数据流转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每一步都留下记录；依据被新研究推翻时，结论会被“追回”。</a:t>
            </a:r>
            <a:endParaRPr lang="en-US" sz="1500" dirty="0"/>
          </a:p>
        </p:txBody>
      </p:sp>
      <p:sp>
        <p:nvSpPr>
          <p:cNvPr id="4" name="badge-65"/>
          <p:cNvSpPr/>
          <p:nvPr/>
        </p:nvSpPr>
        <p:spPr>
          <a:xfrm>
            <a:off x="988295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box-66"/>
          <p:cNvSpPr/>
          <p:nvPr/>
        </p:nvSpPr>
        <p:spPr>
          <a:xfrm>
            <a:off x="54864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提问</a:t>
            </a:r>
            <a:endParaRPr lang="en-US" sz="1350" dirty="0"/>
          </a:p>
        </p:txBody>
      </p:sp>
      <p:sp>
        <p:nvSpPr>
          <p:cNvPr id="6" name="label-67"/>
          <p:cNvSpPr txBox="1"/>
          <p:nvPr/>
        </p:nvSpPr>
        <p:spPr>
          <a:xfrm>
            <a:off x="50292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研究问题</a:t>
            </a:r>
            <a:endParaRPr lang="en-US" sz="1150" dirty="0"/>
          </a:p>
        </p:txBody>
      </p:sp>
      <p:sp>
        <p:nvSpPr>
          <p:cNvPr id="7" name="arrow-68"/>
          <p:cNvSpPr/>
          <p:nvPr/>
        </p:nvSpPr>
        <p:spPr>
          <a:xfrm>
            <a:off x="1793710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badge-69"/>
          <p:cNvSpPr/>
          <p:nvPr/>
        </p:nvSpPr>
        <p:spPr>
          <a:xfrm>
            <a:off x="2397957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box-70"/>
          <p:cNvSpPr/>
          <p:nvPr/>
        </p:nvSpPr>
        <p:spPr>
          <a:xfrm>
            <a:off x="1958302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规划分工</a:t>
            </a:r>
            <a:endParaRPr lang="en-US" sz="1350" dirty="0"/>
          </a:p>
        </p:txBody>
      </p:sp>
      <p:sp>
        <p:nvSpPr>
          <p:cNvPr id="10" name="label-71"/>
          <p:cNvSpPr txBox="1"/>
          <p:nvPr/>
        </p:nvSpPr>
        <p:spPr>
          <a:xfrm>
            <a:off x="1912582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任务清单</a:t>
            </a:r>
            <a:endParaRPr lang="en-US" sz="1150" dirty="0"/>
          </a:p>
        </p:txBody>
      </p:sp>
      <p:sp>
        <p:nvSpPr>
          <p:cNvPr id="11" name="arrow-72"/>
          <p:cNvSpPr/>
          <p:nvPr/>
        </p:nvSpPr>
        <p:spPr>
          <a:xfrm>
            <a:off x="3203372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badge-73"/>
          <p:cNvSpPr/>
          <p:nvPr/>
        </p:nvSpPr>
        <p:spPr>
          <a:xfrm>
            <a:off x="3807619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box-74"/>
          <p:cNvSpPr/>
          <p:nvPr/>
        </p:nvSpPr>
        <p:spPr>
          <a:xfrm>
            <a:off x="3367964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按收益取证</a:t>
            </a:r>
            <a:endParaRPr lang="en-US" sz="1350" dirty="0"/>
          </a:p>
        </p:txBody>
      </p:sp>
      <p:sp>
        <p:nvSpPr>
          <p:cNvPr id="14" name="label-75"/>
          <p:cNvSpPr txBox="1"/>
          <p:nvPr/>
        </p:nvSpPr>
        <p:spPr>
          <a:xfrm>
            <a:off x="3322244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工具结果</a:t>
            </a:r>
            <a:endParaRPr lang="en-US" sz="1150" dirty="0"/>
          </a:p>
        </p:txBody>
      </p:sp>
      <p:sp>
        <p:nvSpPr>
          <p:cNvPr id="15" name="arrow-76"/>
          <p:cNvSpPr/>
          <p:nvPr/>
        </p:nvSpPr>
        <p:spPr>
          <a:xfrm>
            <a:off x="4613034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badge-77"/>
          <p:cNvSpPr/>
          <p:nvPr/>
        </p:nvSpPr>
        <p:spPr>
          <a:xfrm>
            <a:off x="5217281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box-78"/>
          <p:cNvSpPr/>
          <p:nvPr/>
        </p:nvSpPr>
        <p:spPr>
          <a:xfrm>
            <a:off x="4777626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数值核验</a:t>
            </a:r>
            <a:endParaRPr lang="en-US" sz="1350" dirty="0"/>
          </a:p>
        </p:txBody>
      </p:sp>
      <p:sp>
        <p:nvSpPr>
          <p:cNvPr id="18" name="label-79"/>
          <p:cNvSpPr txBox="1"/>
          <p:nvPr/>
        </p:nvSpPr>
        <p:spPr>
          <a:xfrm>
            <a:off x="4731906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会话证据 EV-n</a:t>
            </a:r>
            <a:endParaRPr lang="en-US" sz="1150" dirty="0"/>
          </a:p>
        </p:txBody>
      </p:sp>
      <p:sp>
        <p:nvSpPr>
          <p:cNvPr id="19" name="arrow-80"/>
          <p:cNvSpPr/>
          <p:nvPr/>
        </p:nvSpPr>
        <p:spPr>
          <a:xfrm>
            <a:off x="6022696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badge-81"/>
          <p:cNvSpPr/>
          <p:nvPr/>
        </p:nvSpPr>
        <p:spPr>
          <a:xfrm>
            <a:off x="6626943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box-82"/>
          <p:cNvSpPr/>
          <p:nvPr/>
        </p:nvSpPr>
        <p:spPr>
          <a:xfrm>
            <a:off x="6187288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准入门禁</a:t>
            </a:r>
            <a:endParaRPr lang="en-US" sz="1350" dirty="0"/>
          </a:p>
        </p:txBody>
      </p:sp>
      <p:sp>
        <p:nvSpPr>
          <p:cNvPr id="22" name="label-83"/>
          <p:cNvSpPr txBox="1"/>
          <p:nvPr/>
        </p:nvSpPr>
        <p:spPr>
          <a:xfrm>
            <a:off x="6141568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候选证据</a:t>
            </a:r>
            <a:endParaRPr lang="en-US" sz="1150" dirty="0"/>
          </a:p>
        </p:txBody>
      </p:sp>
      <p:sp>
        <p:nvSpPr>
          <p:cNvPr id="23" name="arrow-84"/>
          <p:cNvSpPr/>
          <p:nvPr/>
        </p:nvSpPr>
        <p:spPr>
          <a:xfrm>
            <a:off x="7432357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4" name="badge-85"/>
          <p:cNvSpPr/>
          <p:nvPr/>
        </p:nvSpPr>
        <p:spPr>
          <a:xfrm>
            <a:off x="8036604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box-86"/>
          <p:cNvSpPr/>
          <p:nvPr/>
        </p:nvSpPr>
        <p:spPr>
          <a:xfrm>
            <a:off x="759695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证据账本</a:t>
            </a:r>
            <a:endParaRPr lang="en-US" sz="1350" dirty="0"/>
          </a:p>
        </p:txBody>
      </p:sp>
      <p:sp>
        <p:nvSpPr>
          <p:cNvPr id="26" name="label-87"/>
          <p:cNvSpPr txBox="1"/>
          <p:nvPr/>
        </p:nvSpPr>
        <p:spPr>
          <a:xfrm>
            <a:off x="755123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已验证 / 已隔离</a:t>
            </a:r>
            <a:endParaRPr lang="en-US" sz="1150" dirty="0"/>
          </a:p>
        </p:txBody>
      </p:sp>
      <p:sp>
        <p:nvSpPr>
          <p:cNvPr id="27" name="arrow-88"/>
          <p:cNvSpPr/>
          <p:nvPr/>
        </p:nvSpPr>
        <p:spPr>
          <a:xfrm>
            <a:off x="8842019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adge-89"/>
          <p:cNvSpPr/>
          <p:nvPr/>
        </p:nvSpPr>
        <p:spPr>
          <a:xfrm>
            <a:off x="9446266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box-90"/>
          <p:cNvSpPr/>
          <p:nvPr/>
        </p:nvSpPr>
        <p:spPr>
          <a:xfrm>
            <a:off x="9006611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共形判定</a:t>
            </a:r>
            <a:endParaRPr lang="en-US" sz="1350" dirty="0"/>
          </a:p>
        </p:txBody>
      </p:sp>
      <p:sp>
        <p:nvSpPr>
          <p:cNvPr id="30" name="label-91"/>
          <p:cNvSpPr txBox="1"/>
          <p:nvPr/>
        </p:nvSpPr>
        <p:spPr>
          <a:xfrm>
            <a:off x="8960891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预测集</a:t>
            </a:r>
            <a:endParaRPr lang="en-US" sz="1150" dirty="0"/>
          </a:p>
        </p:txBody>
      </p:sp>
      <p:sp>
        <p:nvSpPr>
          <p:cNvPr id="31" name="arrow-92"/>
          <p:cNvSpPr/>
          <p:nvPr/>
        </p:nvSpPr>
        <p:spPr>
          <a:xfrm>
            <a:off x="10251681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badge-93"/>
          <p:cNvSpPr/>
          <p:nvPr/>
        </p:nvSpPr>
        <p:spPr>
          <a:xfrm>
            <a:off x="10855928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33" name="box-94"/>
          <p:cNvSpPr/>
          <p:nvPr/>
        </p:nvSpPr>
        <p:spPr>
          <a:xfrm>
            <a:off x="10416273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输出结论</a:t>
            </a:r>
            <a:endParaRPr lang="en-US" sz="1350" dirty="0"/>
          </a:p>
        </p:txBody>
      </p:sp>
      <p:sp>
        <p:nvSpPr>
          <p:cNvPr id="34" name="label-95"/>
          <p:cNvSpPr txBox="1"/>
          <p:nvPr/>
        </p:nvSpPr>
        <p:spPr>
          <a:xfrm>
            <a:off x="10370553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结论 + 证据编号</a:t>
            </a:r>
            <a:endParaRPr lang="en-US" sz="1150" dirty="0"/>
          </a:p>
        </p:txBody>
      </p:sp>
      <p:sp>
        <p:nvSpPr>
          <p:cNvPr id="35" name="legend-96"/>
          <p:cNvSpPr/>
          <p:nvPr/>
        </p:nvSpPr>
        <p:spPr>
          <a:xfrm>
            <a:off x="548640" y="3566160"/>
            <a:ext cx="274320" cy="182880"/>
          </a:xfrm>
          <a:prstGeom prst="roundRect">
            <a:avLst>
              <a:gd name="adj" fmla="val 15000"/>
            </a:avLst>
          </a:prstGeom>
          <a:solidFill>
            <a:srgbClr val="E3F3F1"/>
          </a:solidFill>
          <a:ln w="12700">
            <a:solidFill>
              <a:srgbClr val="0E8A7E"/>
            </a:solidFill>
            <a:prstDash val="solid"/>
          </a:ln>
        </p:spPr>
      </p:sp>
      <p:sp>
        <p:nvSpPr>
          <p:cNvPr id="36" name="label-97"/>
          <p:cNvSpPr txBox="1"/>
          <p:nvPr/>
        </p:nvSpPr>
        <p:spPr>
          <a:xfrm>
            <a:off x="9144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绿色：由证据治理层（A 类，3.0 新增）完成的步骤</a:t>
            </a:r>
            <a:endParaRPr lang="en-US" sz="1150" dirty="0"/>
          </a:p>
        </p:txBody>
      </p:sp>
      <p:sp>
        <p:nvSpPr>
          <p:cNvPr id="37" name="card-98"/>
          <p:cNvSpPr/>
          <p:nvPr/>
        </p:nvSpPr>
        <p:spPr>
          <a:xfrm>
            <a:off x="548640" y="4160520"/>
            <a:ext cx="11094415" cy="1965960"/>
          </a:xfrm>
          <a:prstGeom prst="roundRect">
            <a:avLst>
              <a:gd name="adj" fmla="val 4651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38" name="label-99"/>
          <p:cNvSpPr txBox="1"/>
          <p:nvPr/>
        </p:nvSpPr>
        <p:spPr>
          <a:xfrm>
            <a:off x="82296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依据被推翻时的回路</a:t>
            </a:r>
            <a:endParaRPr lang="en-US" sz="1500" dirty="0"/>
          </a:p>
        </p:txBody>
      </p:sp>
      <p:sp>
        <p:nvSpPr>
          <p:cNvPr id="39" name="box-100"/>
          <p:cNvSpPr/>
          <p:nvPr/>
        </p:nvSpPr>
        <p:spPr>
          <a:xfrm>
            <a:off x="822960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新研究推翻依据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（如药品撤市、新试验结果）</a:t>
            </a:r>
            <a:endParaRPr lang="en-US" sz="1300" dirty="0"/>
          </a:p>
        </p:txBody>
      </p:sp>
      <p:sp>
        <p:nvSpPr>
          <p:cNvPr id="40" name="arrow-101"/>
          <p:cNvSpPr/>
          <p:nvPr/>
        </p:nvSpPr>
        <p:spPr>
          <a:xfrm>
            <a:off x="3178226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1" name="box-102"/>
          <p:cNvSpPr/>
          <p:nvPr/>
        </p:nvSpPr>
        <p:spPr>
          <a:xfrm>
            <a:off x="3562274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在账本中标记该证据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（审查人标注 / 自动扫描）</a:t>
            </a:r>
            <a:endParaRPr lang="en-US" sz="1300" dirty="0"/>
          </a:p>
        </p:txBody>
      </p:sp>
      <p:sp>
        <p:nvSpPr>
          <p:cNvPr id="42" name="arrow-103"/>
          <p:cNvSpPr/>
          <p:nvPr/>
        </p:nvSpPr>
        <p:spPr>
          <a:xfrm>
            <a:off x="5917540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3" name="box-104"/>
          <p:cNvSpPr/>
          <p:nvPr/>
        </p:nvSpPr>
        <p:spPr>
          <a:xfrm>
            <a:off x="6301588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依赖它的结论：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自动转为“有争议”</a:t>
            </a:r>
            <a:endParaRPr lang="en-US" sz="1300" dirty="0"/>
          </a:p>
        </p:txBody>
      </p:sp>
      <p:sp>
        <p:nvSpPr>
          <p:cNvPr id="44" name="arrow-105"/>
          <p:cNvSpPr/>
          <p:nvPr/>
        </p:nvSpPr>
        <p:spPr>
          <a:xfrm>
            <a:off x="8656853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5" name="box-106"/>
          <p:cNvSpPr/>
          <p:nvPr/>
        </p:nvSpPr>
        <p:spPr>
          <a:xfrm>
            <a:off x="9040901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提示复核：重新论证，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或以新结论取代</a:t>
            </a:r>
            <a:endParaRPr lang="en-US" sz="1300" dirty="0"/>
          </a:p>
        </p:txBody>
      </p:sp>
      <p:sp>
        <p:nvSpPr>
          <p:cNvPr id="46" name="label-107"/>
          <p:cNvSpPr txBox="1"/>
          <p:nvPr/>
        </p:nvSpPr>
        <p:spPr>
          <a:xfrm>
            <a:off x="822960" y="57607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例：2004 年罗非昔布（Vioxx）因 APPROVe 试验显示心血管风险升高而撤市 → “上市批准”证据被撤销 → “可用于关节炎长期镇痛”的结论自动降级。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核心设计：证据账本——结论必须有据可查、可以撤回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类设计点 ①：每条证据经准入门禁才算数；依据被推翻，结论自动降级。</a:t>
            </a:r>
            <a:endParaRPr lang="en-US" sz="1500" dirty="0"/>
          </a:p>
        </p:txBody>
      </p:sp>
      <p:sp>
        <p:nvSpPr>
          <p:cNvPr id="4" name="box-108"/>
          <p:cNvSpPr/>
          <p:nvPr/>
        </p:nvSpPr>
        <p:spPr>
          <a:xfrm>
            <a:off x="54864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5B6B7C"/>
          </a:solidFill>
          <a:ln w="6350">
            <a:solidFill>
              <a:srgbClr val="5B6B7C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候选</a:t>
            </a:r>
            <a:endParaRPr lang="en-US" sz="1500" dirty="0"/>
          </a:p>
        </p:txBody>
      </p:sp>
      <p:sp>
        <p:nvSpPr>
          <p:cNvPr id="5" name="box-109"/>
          <p:cNvSpPr/>
          <p:nvPr/>
        </p:nvSpPr>
        <p:spPr>
          <a:xfrm>
            <a:off x="278892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E8A7E"/>
          </a:solidFill>
          <a:ln w="635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已验证</a:t>
            </a:r>
            <a:endParaRPr lang="en-US" sz="1500" dirty="0"/>
          </a:p>
        </p:txBody>
      </p:sp>
      <p:sp>
        <p:nvSpPr>
          <p:cNvPr id="6" name="box-110"/>
          <p:cNvSpPr/>
          <p:nvPr/>
        </p:nvSpPr>
        <p:spPr>
          <a:xfrm>
            <a:off x="4892040" y="16002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C9792A"/>
          </a:solidFill>
          <a:ln w="635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有争议</a:t>
            </a:r>
            <a:endParaRPr lang="en-US" sz="1500" dirty="0"/>
          </a:p>
        </p:txBody>
      </p:sp>
      <p:sp>
        <p:nvSpPr>
          <p:cNvPr id="7" name="label-111"/>
          <p:cNvSpPr txBox="1"/>
          <p:nvPr/>
        </p:nvSpPr>
        <p:spPr>
          <a:xfrm>
            <a:off x="6400800" y="160020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被反驳</a:t>
            </a:r>
            <a:endParaRPr lang="en-US" sz="1100" dirty="0"/>
          </a:p>
        </p:txBody>
      </p:sp>
      <p:sp>
        <p:nvSpPr>
          <p:cNvPr id="8" name="box-112"/>
          <p:cNvSpPr/>
          <p:nvPr/>
        </p:nvSpPr>
        <p:spPr>
          <a:xfrm>
            <a:off x="489204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1F5F99"/>
          </a:solidFill>
          <a:ln w="6350">
            <a:solidFill>
              <a:srgbClr val="1F5F99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已取代</a:t>
            </a:r>
            <a:endParaRPr lang="en-US" sz="1500" dirty="0"/>
          </a:p>
        </p:txBody>
      </p:sp>
      <p:sp>
        <p:nvSpPr>
          <p:cNvPr id="9" name="label-113"/>
          <p:cNvSpPr txBox="1"/>
          <p:nvPr/>
        </p:nvSpPr>
        <p:spPr>
          <a:xfrm>
            <a:off x="6400800" y="233172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被取代</a:t>
            </a:r>
            <a:endParaRPr lang="en-US" sz="1100" dirty="0"/>
          </a:p>
        </p:txBody>
      </p:sp>
      <p:sp>
        <p:nvSpPr>
          <p:cNvPr id="10" name="box-114"/>
          <p:cNvSpPr/>
          <p:nvPr/>
        </p:nvSpPr>
        <p:spPr>
          <a:xfrm>
            <a:off x="4892040" y="306324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B4233A"/>
          </a:solidFill>
          <a:ln w="6350">
            <a:solidFill>
              <a:srgbClr val="B4233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已撤销</a:t>
            </a:r>
            <a:endParaRPr lang="en-US" sz="1500" dirty="0"/>
          </a:p>
        </p:txBody>
      </p:sp>
      <p:sp>
        <p:nvSpPr>
          <p:cNvPr id="11" name="label-115"/>
          <p:cNvSpPr txBox="1"/>
          <p:nvPr/>
        </p:nvSpPr>
        <p:spPr>
          <a:xfrm>
            <a:off x="6400800" y="306324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撤市 / 撤稿</a:t>
            </a:r>
            <a:endParaRPr lang="en-US" sz="1100" dirty="0"/>
          </a:p>
        </p:txBody>
      </p:sp>
      <p:sp>
        <p:nvSpPr>
          <p:cNvPr id="12" name="box-116"/>
          <p:cNvSpPr/>
          <p:nvPr/>
        </p:nvSpPr>
        <p:spPr>
          <a:xfrm>
            <a:off x="548640" y="39319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A0522D"/>
          </a:solidFill>
          <a:ln w="6350">
            <a:solidFill>
              <a:srgbClr val="A0522D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已隔离</a:t>
            </a:r>
            <a:endParaRPr lang="en-US" sz="1500" dirty="0"/>
          </a:p>
        </p:txBody>
      </p:sp>
      <p:sp>
        <p:nvSpPr>
          <p:cNvPr id="13" name="arrow-117"/>
          <p:cNvSpPr/>
          <p:nvPr/>
        </p:nvSpPr>
        <p:spPr>
          <a:xfrm>
            <a:off x="1965960" y="2615184"/>
            <a:ext cx="82296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label-118"/>
          <p:cNvSpPr txBox="1"/>
          <p:nvPr/>
        </p:nvSpPr>
        <p:spPr>
          <a:xfrm>
            <a:off x="1965960" y="1965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通过门禁</a:t>
            </a:r>
            <a:endParaRPr lang="en-US" sz="1100" dirty="0"/>
          </a:p>
        </p:txBody>
      </p:sp>
      <p:sp>
        <p:nvSpPr>
          <p:cNvPr id="15" name="arrow-119"/>
          <p:cNvSpPr/>
          <p:nvPr/>
        </p:nvSpPr>
        <p:spPr>
          <a:xfrm flipV="1">
            <a:off x="4206240" y="1883664"/>
            <a:ext cx="685800" cy="7315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arrow-120"/>
          <p:cNvSpPr/>
          <p:nvPr/>
        </p:nvSpPr>
        <p:spPr>
          <a:xfrm>
            <a:off x="4206240" y="2615184"/>
            <a:ext cx="68580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arrow-121"/>
          <p:cNvSpPr/>
          <p:nvPr/>
        </p:nvSpPr>
        <p:spPr>
          <a:xfrm>
            <a:off x="4206240" y="2615184"/>
            <a:ext cx="685800" cy="7315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arrow-122"/>
          <p:cNvSpPr/>
          <p:nvPr/>
        </p:nvSpPr>
        <p:spPr>
          <a:xfrm>
            <a:off x="1257300" y="2898648"/>
            <a:ext cx="0" cy="103327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label-123"/>
          <p:cNvSpPr txBox="1"/>
          <p:nvPr/>
        </p:nvSpPr>
        <p:spPr>
          <a:xfrm>
            <a:off x="1348740" y="3200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未通过门禁</a:t>
            </a:r>
            <a:endParaRPr lang="en-US" sz="1100" dirty="0"/>
          </a:p>
        </p:txBody>
      </p:sp>
      <p:sp>
        <p:nvSpPr>
          <p:cNvPr id="20" name="arrow-124"/>
          <p:cNvSpPr/>
          <p:nvPr/>
        </p:nvSpPr>
        <p:spPr>
          <a:xfrm flipV="1">
            <a:off x="1965960" y="3630168"/>
            <a:ext cx="2926080" cy="585216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21" name="label-125"/>
          <p:cNvSpPr txBox="1"/>
          <p:nvPr/>
        </p:nvSpPr>
        <p:spPr>
          <a:xfrm>
            <a:off x="2606040" y="4069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确认无效</a:t>
            </a:r>
            <a:endParaRPr lang="en-US" sz="1050" dirty="0"/>
          </a:p>
        </p:txBody>
      </p:sp>
      <p:sp>
        <p:nvSpPr>
          <p:cNvPr id="22" name="card-126"/>
          <p:cNvSpPr/>
          <p:nvPr/>
        </p:nvSpPr>
        <p:spPr>
          <a:xfrm>
            <a:off x="548640" y="4590288"/>
            <a:ext cx="6400800" cy="1737360"/>
          </a:xfrm>
          <a:prstGeom prst="roundRect">
            <a:avLst>
              <a:gd name="adj" fmla="val 5263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23" name="label-127"/>
          <p:cNvSpPr txBox="1"/>
          <p:nvPr/>
        </p:nvSpPr>
        <p:spPr>
          <a:xfrm>
            <a:off x="777240" y="46817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举例：罗非昔布（Vioxx）的两条结论</a:t>
            </a:r>
            <a:endParaRPr lang="en-US" sz="1400" dirty="0"/>
          </a:p>
        </p:txBody>
      </p:sp>
      <p:sp>
        <p:nvSpPr>
          <p:cNvPr id="24" name="label-128"/>
          <p:cNvSpPr txBox="1"/>
          <p:nvPr/>
        </p:nvSpPr>
        <p:spPr>
          <a:xfrm>
            <a:off x="4754880" y="468172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已写成自动化测试</a:t>
            </a:r>
            <a:endParaRPr lang="en-US" sz="1050" dirty="0"/>
          </a:p>
        </p:txBody>
      </p:sp>
      <p:graphicFrame>
        <p:nvGraphicFramePr>
          <p:cNvPr id="7" name="table-1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5029200"/>
          <a:ext cx="5943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057400"/>
                <a:gridCol w="1280160"/>
                <a:gridCol w="16459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关节炎长期镇痛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胃肠道风险低于萘普生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1999–2000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上市批准 + VIGOR 试验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APPROVe 试验后撤市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有争议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不受影响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期刊对 VIGOR 发关注声明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有争议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有争议（扫描）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badge-130"/>
          <p:cNvSpPr/>
          <p:nvPr/>
        </p:nvSpPr>
        <p:spPr>
          <a:xfrm>
            <a:off x="7498080" y="16459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label-131"/>
          <p:cNvSpPr txBox="1"/>
          <p:nvPr/>
        </p:nvSpPr>
        <p:spPr>
          <a:xfrm>
            <a:off x="8046720" y="162763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准入门禁</a:t>
            </a:r>
            <a:endParaRPr lang="en-US" sz="1700" dirty="0"/>
          </a:p>
        </p:txBody>
      </p:sp>
      <p:sp>
        <p:nvSpPr>
          <p:cNvPr id="28" name="label-132"/>
          <p:cNvSpPr txBox="1"/>
          <p:nvPr/>
        </p:nvSpPr>
        <p:spPr>
          <a:xfrm>
            <a:off x="8046720" y="208483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来源、时效、隐私、数值合理性、撤稿五项检查；不通过即隔离，原因可查。</a:t>
            </a:r>
            <a:endParaRPr lang="en-US" sz="1400" dirty="0"/>
          </a:p>
        </p:txBody>
      </p:sp>
      <p:sp>
        <p:nvSpPr>
          <p:cNvPr id="29" name="badge-133"/>
          <p:cNvSpPr/>
          <p:nvPr/>
        </p:nvSpPr>
        <p:spPr>
          <a:xfrm>
            <a:off x="7498080" y="310896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0" name="label-134"/>
          <p:cNvSpPr txBox="1"/>
          <p:nvPr/>
        </p:nvSpPr>
        <p:spPr>
          <a:xfrm>
            <a:off x="8046720" y="309067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依赖级联</a:t>
            </a:r>
            <a:endParaRPr lang="en-US" sz="1700" dirty="0"/>
          </a:p>
        </p:txBody>
      </p:sp>
      <p:sp>
        <p:nvSpPr>
          <p:cNvPr id="31" name="label-135"/>
          <p:cNvSpPr txBox="1"/>
          <p:nvPr/>
        </p:nvSpPr>
        <p:spPr>
          <a:xfrm>
            <a:off x="8046720" y="354787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证据失效时，依赖它的结论自动降级；恢复证据不会自动恢复结论。</a:t>
            </a:r>
            <a:endParaRPr lang="en-US" sz="1400" dirty="0"/>
          </a:p>
        </p:txBody>
      </p:sp>
      <p:sp>
        <p:nvSpPr>
          <p:cNvPr id="32" name="badge-136"/>
          <p:cNvSpPr/>
          <p:nvPr/>
        </p:nvSpPr>
        <p:spPr>
          <a:xfrm>
            <a:off x="7498080" y="457200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3" name="label-137"/>
          <p:cNvSpPr txBox="1"/>
          <p:nvPr/>
        </p:nvSpPr>
        <p:spPr>
          <a:xfrm>
            <a:off x="8046720" y="455371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防篡改</a:t>
            </a:r>
            <a:endParaRPr lang="en-US" sz="1700" dirty="0"/>
          </a:p>
        </p:txBody>
      </p:sp>
      <p:sp>
        <p:nvSpPr>
          <p:cNvPr id="34" name="label-138"/>
          <p:cNvSpPr txBox="1"/>
          <p:nvPr/>
        </p:nvSpPr>
        <p:spPr>
          <a:xfrm>
            <a:off x="8046720" y="501091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每次变更追加写入哈希链；文件被改动会被发现，账本随即锁为只读。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设计点②③：分歧时先查什么，结论何时能下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类设计点 ② 与 ③：用信息论量化分歧、挑选查询；用统计校准决定能否下结论。</a:t>
            </a:r>
            <a:endParaRPr lang="en-US" sz="1500" dirty="0"/>
          </a:p>
        </p:txBody>
      </p:sp>
      <p:sp>
        <p:nvSpPr>
          <p:cNvPr id="4" name="card-139"/>
          <p:cNvSpPr/>
          <p:nvPr/>
        </p:nvSpPr>
        <p:spPr>
          <a:xfrm>
            <a:off x="548640" y="1554480"/>
            <a:ext cx="6903720" cy="4526280"/>
          </a:xfrm>
          <a:prstGeom prst="roundRect">
            <a:avLst>
              <a:gd name="adj" fmla="val 202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140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6" name="label-141"/>
          <p:cNvSpPr txBox="1"/>
          <p:nvPr/>
        </p:nvSpPr>
        <p:spPr>
          <a:xfrm>
            <a:off x="1325880" y="17099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信息增益取证</a:t>
            </a:r>
            <a:endParaRPr lang="en-US" sz="1800" dirty="0"/>
          </a:p>
        </p:txBody>
      </p:sp>
      <p:sp>
        <p:nvSpPr>
          <p:cNvPr id="7" name="label-142"/>
          <p:cNvSpPr txBox="1"/>
          <p:nvPr/>
        </p:nvSpPr>
        <p:spPr>
          <a:xfrm>
            <a:off x="822960" y="2286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背景</a:t>
            </a:r>
            <a:endParaRPr lang="en-US" sz="1250" dirty="0"/>
          </a:p>
        </p:txBody>
      </p:sp>
      <p:sp>
        <p:nvSpPr>
          <p:cNvPr id="8" name="label-143"/>
          <p:cNvSpPr txBox="1"/>
          <p:nvPr/>
        </p:nvSpPr>
        <p:spPr>
          <a:xfrm>
            <a:off x="822960" y="25603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专家意见不一时，多轮辩论既耗算力又容易互相附和。借鉴贝叶斯实验设计（Lindley, 1956）：先做“最能分出对错”的那次查询。</a:t>
            </a:r>
            <a:endParaRPr lang="en-US" sz="1150" dirty="0"/>
          </a:p>
        </p:txBody>
      </p:sp>
      <p:sp>
        <p:nvSpPr>
          <p:cNvPr id="9" name="label-144"/>
          <p:cNvSpPr txBox="1"/>
          <p:nvPr/>
        </p:nvSpPr>
        <p:spPr>
          <a:xfrm>
            <a:off x="822960" y="32644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分歧度怎么算</a:t>
            </a:r>
            <a:endParaRPr lang="en-US" sz="1250" dirty="0"/>
          </a:p>
        </p:txBody>
      </p:sp>
      <p:sp>
        <p:nvSpPr>
          <p:cNvPr id="10" name="label-145"/>
          <p:cNvSpPr txBox="1"/>
          <p:nvPr/>
        </p:nvSpPr>
        <p:spPr>
          <a:xfrm>
            <a:off x="822960" y="353872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把专家意见汇成对“支持 / 反驳”的概率判断 p；分歧度 = 熵 H(p) ÷ 最大熵。0 表示已有定论，1 表示五五开。</a:t>
            </a:r>
            <a:endParaRPr lang="en-US" sz="1150" dirty="0"/>
          </a:p>
        </p:txBody>
      </p:sp>
      <p:sp>
        <p:nvSpPr>
          <p:cNvPr id="11" name="label-146"/>
          <p:cNvSpPr txBox="1"/>
          <p:nvPr/>
        </p:nvSpPr>
        <p:spPr>
          <a:xfrm>
            <a:off x="82296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信息增益怎么得到</a:t>
            </a:r>
            <a:endParaRPr lang="en-US" sz="1250" dirty="0"/>
          </a:p>
        </p:txBody>
      </p:sp>
      <p:sp>
        <p:nvSpPr>
          <p:cNvPr id="12" name="label-147"/>
          <p:cNvSpPr txBox="1"/>
          <p:nvPr/>
        </p:nvSpPr>
        <p:spPr>
          <a:xfrm>
            <a:off x="822960" y="4517136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每个查询有一张“结果概率表”。如 ChEMBL：假设成立时查到强活性（≤1 µM）的概率为 60%，不成立时仅 10%。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预期信息增益 = 查询前的不确定度 − 查询后平均剩余的不确定度（单位：比特），按“增益 ÷ 成本”排序。</a:t>
            </a:r>
            <a:endParaRPr lang="en-US" sz="1150" dirty="0"/>
          </a:p>
        </p:txBody>
      </p:sp>
      <p:sp>
        <p:nvSpPr>
          <p:cNvPr id="13" name="panel-148"/>
          <p:cNvSpPr/>
          <p:nvPr/>
        </p:nvSpPr>
        <p:spPr>
          <a:xfrm>
            <a:off x="4251960" y="2240280"/>
            <a:ext cx="2971800" cy="3657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label-149"/>
          <p:cNvSpPr txBox="1"/>
          <p:nvPr/>
        </p:nvSpPr>
        <p:spPr>
          <a:xfrm>
            <a:off x="4389120" y="23317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例：假设“TYK2 抑制可用于治疗银屑病”，起点 50 / 50（分歧度 1.0）</a:t>
            </a:r>
            <a:endParaRPr lang="en-US" sz="1150" dirty="0"/>
          </a:p>
        </p:txBody>
      </p:sp>
      <p:sp>
        <p:nvSpPr>
          <p:cNvPr id="15" name="label-150"/>
          <p:cNvSpPr txBox="1"/>
          <p:nvPr/>
        </p:nvSpPr>
        <p:spPr>
          <a:xfrm>
            <a:off x="4389120" y="2807208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第一步，三种查询的预期信息增益（比特）</a:t>
            </a:r>
            <a:endParaRPr lang="en-US" sz="1050" dirty="0"/>
          </a:p>
        </p:txBody>
      </p:sp>
      <p:graphicFrame>
        <p:nvGraphicFramePr>
          <p:cNvPr id="16" name="chart-151" descr=""/>
          <p:cNvGraphicFramePr/>
          <p:nvPr/>
        </p:nvGraphicFramePr>
        <p:xfrm>
          <a:off x="4270248" y="2999232"/>
          <a:ext cx="2880360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label-152"/>
          <p:cNvSpPr txBox="1"/>
          <p:nvPr/>
        </p:nvSpPr>
        <p:spPr>
          <a:xfrm>
            <a:off x="4389120" y="42062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UniProt 最低：无论假设对错，靶点几乎都能查到序列，查了也分不出对错。</a:t>
            </a:r>
            <a:endParaRPr lang="en-US" sz="1050" dirty="0"/>
          </a:p>
        </p:txBody>
      </p:sp>
      <p:sp>
        <p:nvSpPr>
          <p:cNvPr id="18" name="badge-153"/>
          <p:cNvSpPr/>
          <p:nvPr/>
        </p:nvSpPr>
        <p:spPr>
          <a:xfrm>
            <a:off x="4389120" y="4791456"/>
            <a:ext cx="292608" cy="29260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9" name="label-154"/>
          <p:cNvSpPr txBox="1"/>
          <p:nvPr/>
        </p:nvSpPr>
        <p:spPr>
          <a:xfrm>
            <a:off x="4782312" y="4736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ChEMBL 查到强活性</a:t>
            </a:r>
            <a:endParaRPr lang="en-US" sz="1100" dirty="0"/>
          </a:p>
        </p:txBody>
      </p:sp>
      <p:sp>
        <p:nvSpPr>
          <p:cNvPr id="20" name="label-155"/>
          <p:cNvSpPr txBox="1"/>
          <p:nvPr/>
        </p:nvSpPr>
        <p:spPr>
          <a:xfrm>
            <a:off x="4782312" y="497433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支持概率 0.50 → 0.86</a:t>
            </a:r>
            <a:endParaRPr lang="en-US" sz="1050" dirty="0"/>
          </a:p>
        </p:txBody>
      </p:sp>
      <p:sp>
        <p:nvSpPr>
          <p:cNvPr id="21" name="badge-156"/>
          <p:cNvSpPr/>
          <p:nvPr/>
        </p:nvSpPr>
        <p:spPr>
          <a:xfrm>
            <a:off x="4389120" y="5340096"/>
            <a:ext cx="292608" cy="29260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label-157"/>
          <p:cNvSpPr txBox="1"/>
          <p:nvPr/>
        </p:nvSpPr>
        <p:spPr>
          <a:xfrm>
            <a:off x="4782312" y="52852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再查临床试验：有登记</a:t>
            </a:r>
            <a:endParaRPr lang="en-US" sz="1100" dirty="0"/>
          </a:p>
        </p:txBody>
      </p:sp>
      <p:sp>
        <p:nvSpPr>
          <p:cNvPr id="23" name="label-158"/>
          <p:cNvSpPr txBox="1"/>
          <p:nvPr/>
        </p:nvSpPr>
        <p:spPr>
          <a:xfrm>
            <a:off x="4782312" y="5522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0.86 → 0.95，分歧度降至 0.28</a:t>
            </a:r>
            <a:endParaRPr lang="en-US" sz="1050" dirty="0"/>
          </a:p>
        </p:txBody>
      </p:sp>
      <p:sp>
        <p:nvSpPr>
          <p:cNvPr id="24" name="card-159"/>
          <p:cNvSpPr/>
          <p:nvPr/>
        </p:nvSpPr>
        <p:spPr>
          <a:xfrm>
            <a:off x="7726680" y="1554480"/>
            <a:ext cx="3916375" cy="4526280"/>
          </a:xfrm>
          <a:prstGeom prst="roundRect">
            <a:avLst>
              <a:gd name="adj" fmla="val 23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badge-160"/>
          <p:cNvSpPr/>
          <p:nvPr/>
        </p:nvSpPr>
        <p:spPr>
          <a:xfrm>
            <a:off x="8001000" y="173736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6" name="label-161"/>
          <p:cNvSpPr txBox="1"/>
          <p:nvPr/>
        </p:nvSpPr>
        <p:spPr>
          <a:xfrm>
            <a:off x="8503920" y="1709928"/>
            <a:ext cx="2910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共形三分判定</a:t>
            </a:r>
            <a:endParaRPr lang="en-US" sz="1800" dirty="0"/>
          </a:p>
        </p:txBody>
      </p:sp>
      <p:sp>
        <p:nvSpPr>
          <p:cNvPr id="27" name="label-162"/>
          <p:cNvSpPr txBox="1"/>
          <p:nvPr/>
        </p:nvSpPr>
        <p:spPr>
          <a:xfrm>
            <a:off x="8001000" y="2286000"/>
            <a:ext cx="3367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背景</a:t>
            </a:r>
            <a:endParaRPr lang="en-US" sz="1250" dirty="0"/>
          </a:p>
        </p:txBody>
      </p:sp>
      <p:sp>
        <p:nvSpPr>
          <p:cNvPr id="28" name="label-163"/>
          <p:cNvSpPr txBox="1"/>
          <p:nvPr/>
        </p:nvSpPr>
        <p:spPr>
          <a:xfrm>
            <a:off x="8001000" y="2560320"/>
            <a:ext cx="3367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共形预测（Vovk 等）是一种统计方法：用一批已标注结果的历史假设做校准，保证“出错率不超过 α”。它不给分数，而是给出可能成立的结果集合：</a:t>
            </a:r>
            <a:endParaRPr lang="en-US" sz="1150" dirty="0"/>
          </a:p>
        </p:txBody>
      </p:sp>
      <p:graphicFrame>
        <p:nvGraphicFramePr>
          <p:cNvPr id="8" name="table-1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3474720"/>
          <a:ext cx="3367735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658368"/>
                <a:gridCol w="1410919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结果集合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支持 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只有“支持”说得通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反驳 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反驳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只有“反驳”说得通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支持，反驳 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不确定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证据分不出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}（空）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不确定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罕见，需人工复核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label-165"/>
          <p:cNvSpPr txBox="1"/>
          <p:nvPr/>
        </p:nvSpPr>
        <p:spPr>
          <a:xfrm>
            <a:off x="8001000" y="5257800"/>
            <a:ext cx="3367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校准后每类出错率不超过 α（如 10%）；未校准时界面明确显示“未校准”。评分只看证据，与靶点名称无关。</a:t>
            </a:r>
            <a:endParaRPr lang="en-US" sz="1100" dirty="0"/>
          </a:p>
        </p:txBody>
      </p:sp>
      <p:sp>
        <p:nvSpPr>
          <p:cNvPr id="31" name="label-166"/>
          <p:cNvSpPr txBox="1"/>
          <p:nvPr/>
        </p:nvSpPr>
        <p:spPr>
          <a:xfrm>
            <a:off x="548640" y="6153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说明：结果概率表目前为人工设定的先验，正式实验前需用标注数据估计（已提供估计函数）；专家意见作为起点的接口已实现，目前每个假设分支从 50 / 50 起步。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支撑设计：多智能体协作与本地运行时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 类管“谁来做、谁把关”，C 类管“在哪里跑、用谁的额度”；两者在 2.x 已具备，3.0 继续完善。</a:t>
            </a:r>
            <a:endParaRPr lang="en-US" sz="1500" dirty="0"/>
          </a:p>
        </p:txBody>
      </p:sp>
      <p:sp>
        <p:nvSpPr>
          <p:cNvPr id="4" name="card-167"/>
          <p:cNvSpPr/>
          <p:nvPr/>
        </p:nvSpPr>
        <p:spPr>
          <a:xfrm>
            <a:off x="548640" y="1600200"/>
            <a:ext cx="5410048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ag-168"/>
          <p:cNvSpPr/>
          <p:nvPr/>
        </p:nvSpPr>
        <p:spPr>
          <a:xfrm>
            <a:off x="822960" y="1810512"/>
            <a:ext cx="41148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label-169"/>
          <p:cNvSpPr txBox="1"/>
          <p:nvPr/>
        </p:nvSpPr>
        <p:spPr>
          <a:xfrm>
            <a:off x="1371600" y="1810512"/>
            <a:ext cx="431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多智能体协作：像课题组一样分工</a:t>
            </a:r>
            <a:endParaRPr lang="en-US" sz="1700" dirty="0"/>
          </a:p>
        </p:txBody>
      </p:sp>
      <p:sp>
        <p:nvSpPr>
          <p:cNvPr id="7" name="box-170"/>
          <p:cNvSpPr/>
          <p:nvPr/>
        </p:nvSpPr>
        <p:spPr>
          <a:xfrm>
            <a:off x="82296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研究课题</a:t>
            </a:r>
            <a:endParaRPr lang="en-US" sz="1250" dirty="0"/>
          </a:p>
        </p:txBody>
      </p:sp>
      <p:sp>
        <p:nvSpPr>
          <p:cNvPr id="8" name="arrow-171"/>
          <p:cNvSpPr/>
          <p:nvPr/>
        </p:nvSpPr>
        <p:spPr>
          <a:xfrm>
            <a:off x="1652595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9" name="box-172"/>
          <p:cNvSpPr/>
          <p:nvPr/>
        </p:nvSpPr>
        <p:spPr>
          <a:xfrm>
            <a:off x="1835475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队长规划</a:t>
            </a:r>
            <a:endParaRPr lang="en-US" sz="1250" dirty="0"/>
          </a:p>
        </p:txBody>
      </p:sp>
      <p:sp>
        <p:nvSpPr>
          <p:cNvPr id="10" name="arrow-173"/>
          <p:cNvSpPr/>
          <p:nvPr/>
        </p:nvSpPr>
        <p:spPr>
          <a:xfrm>
            <a:off x="2665110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box-174"/>
          <p:cNvSpPr/>
          <p:nvPr/>
        </p:nvSpPr>
        <p:spPr>
          <a:xfrm>
            <a:off x="284799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成员并行</a:t>
            </a:r>
            <a:endParaRPr lang="en-US" sz="1250" dirty="0"/>
          </a:p>
        </p:txBody>
      </p:sp>
      <p:sp>
        <p:nvSpPr>
          <p:cNvPr id="12" name="arrow-175"/>
          <p:cNvSpPr/>
          <p:nvPr/>
        </p:nvSpPr>
        <p:spPr>
          <a:xfrm>
            <a:off x="3677625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box-176"/>
          <p:cNvSpPr/>
          <p:nvPr/>
        </p:nvSpPr>
        <p:spPr>
          <a:xfrm>
            <a:off x="3860505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质量门</a:t>
            </a:r>
            <a:endParaRPr lang="en-US" sz="1250" dirty="0"/>
          </a:p>
        </p:txBody>
      </p:sp>
      <p:sp>
        <p:nvSpPr>
          <p:cNvPr id="14" name="arrow-177"/>
          <p:cNvSpPr/>
          <p:nvPr/>
        </p:nvSpPr>
        <p:spPr>
          <a:xfrm>
            <a:off x="4690140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5" name="box-178"/>
          <p:cNvSpPr/>
          <p:nvPr/>
        </p:nvSpPr>
        <p:spPr>
          <a:xfrm>
            <a:off x="487302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综合报告</a:t>
            </a:r>
            <a:endParaRPr lang="en-US" sz="1250" dirty="0"/>
          </a:p>
        </p:txBody>
      </p:sp>
      <p:sp>
        <p:nvSpPr>
          <p:cNvPr id="16" name="bullets-179"/>
          <p:cNvSpPr txBox="1"/>
          <p:nvPr/>
        </p:nvSpPr>
        <p:spPr>
          <a:xfrm>
            <a:off x="822960" y="3337560"/>
            <a:ext cx="48614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队长（PI）把课题拆成有依赖的任务，可要求先审批计划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成员交接时，每条发现都必须附证据编号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质量门：规则检查 + 科研审查员；工具失败不算“阴性结果”</a:t>
            </a:r>
            <a:endParaRPr lang="en-US" sz="1300" dirty="0"/>
          </a:p>
        </p:txBody>
      </p:sp>
      <p:sp>
        <p:nvSpPr>
          <p:cNvPr id="17" name="label-180"/>
          <p:cNvSpPr txBox="1"/>
          <p:nvPr/>
        </p:nvSpPr>
        <p:spPr>
          <a:xfrm>
            <a:off x="822960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26 位</a:t>
            </a:r>
            <a:endParaRPr lang="en-US" sz="2000" dirty="0"/>
          </a:p>
        </p:txBody>
      </p:sp>
      <p:sp>
        <p:nvSpPr>
          <p:cNvPr id="18" name="label-181"/>
          <p:cNvSpPr txBox="1"/>
          <p:nvPr/>
        </p:nvSpPr>
        <p:spPr>
          <a:xfrm>
            <a:off x="822960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领域专家</a:t>
            </a:r>
            <a:endParaRPr lang="en-US" sz="1150" dirty="0"/>
          </a:p>
        </p:txBody>
      </p:sp>
      <p:sp>
        <p:nvSpPr>
          <p:cNvPr id="19" name="label-182"/>
          <p:cNvSpPr txBox="1"/>
          <p:nvPr/>
        </p:nvSpPr>
        <p:spPr>
          <a:xfrm>
            <a:off x="2443429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15 个</a:t>
            </a:r>
            <a:endParaRPr lang="en-US" sz="2000" dirty="0"/>
          </a:p>
        </p:txBody>
      </p:sp>
      <p:sp>
        <p:nvSpPr>
          <p:cNvPr id="20" name="label-183"/>
          <p:cNvSpPr txBox="1"/>
          <p:nvPr/>
        </p:nvSpPr>
        <p:spPr>
          <a:xfrm>
            <a:off x="2443429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团队模板</a:t>
            </a:r>
            <a:endParaRPr lang="en-US" sz="1150" dirty="0"/>
          </a:p>
        </p:txBody>
      </p:sp>
      <p:sp>
        <p:nvSpPr>
          <p:cNvPr id="21" name="label-184"/>
          <p:cNvSpPr txBox="1"/>
          <p:nvPr/>
        </p:nvSpPr>
        <p:spPr>
          <a:xfrm>
            <a:off x="4063898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@</a:t>
            </a:r>
            <a:endParaRPr lang="en-US" sz="2000" dirty="0"/>
          </a:p>
        </p:txBody>
      </p:sp>
      <p:sp>
        <p:nvSpPr>
          <p:cNvPr id="22" name="label-185"/>
          <p:cNvSpPr txBox="1"/>
          <p:nvPr/>
        </p:nvSpPr>
        <p:spPr>
          <a:xfrm>
            <a:off x="4063898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直接点名专家</a:t>
            </a:r>
            <a:endParaRPr lang="en-US" sz="1150" dirty="0"/>
          </a:p>
        </p:txBody>
      </p:sp>
      <p:sp>
        <p:nvSpPr>
          <p:cNvPr id="23" name="card-186"/>
          <p:cNvSpPr/>
          <p:nvPr/>
        </p:nvSpPr>
        <p:spPr>
          <a:xfrm>
            <a:off x="6233008" y="1600200"/>
            <a:ext cx="5410048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ag-187"/>
          <p:cNvSpPr/>
          <p:nvPr/>
        </p:nvSpPr>
        <p:spPr>
          <a:xfrm>
            <a:off x="6507328" y="1810512"/>
            <a:ext cx="41148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25" name="label-188"/>
          <p:cNvSpPr txBox="1"/>
          <p:nvPr/>
        </p:nvSpPr>
        <p:spPr>
          <a:xfrm>
            <a:off x="7055968" y="1810512"/>
            <a:ext cx="431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本地运行时：直接用已有 AI 订阅</a:t>
            </a:r>
            <a:endParaRPr lang="en-US" sz="1700" dirty="0"/>
          </a:p>
        </p:txBody>
      </p:sp>
      <p:sp>
        <p:nvSpPr>
          <p:cNvPr id="26" name="box-189"/>
          <p:cNvSpPr/>
          <p:nvPr/>
        </p:nvSpPr>
        <p:spPr>
          <a:xfrm>
            <a:off x="6507328" y="2697480"/>
            <a:ext cx="132588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研究请求</a:t>
            </a:r>
            <a:endParaRPr lang="en-US" sz="1300" dirty="0"/>
          </a:p>
        </p:txBody>
      </p:sp>
      <p:sp>
        <p:nvSpPr>
          <p:cNvPr id="27" name="arrow-190"/>
          <p:cNvSpPr/>
          <p:nvPr/>
        </p:nvSpPr>
        <p:spPr>
          <a:xfrm>
            <a:off x="7833208" y="2980944"/>
            <a:ext cx="274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ox-191"/>
          <p:cNvSpPr/>
          <p:nvPr/>
        </p:nvSpPr>
        <p:spPr>
          <a:xfrm>
            <a:off x="8107528" y="2697480"/>
            <a:ext cx="114300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6350">
            <a:solidFill>
              <a:schemeClr val="accent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执行路由</a:t>
            </a:r>
            <a:endParaRPr lang="en-US" sz="1300" dirty="0"/>
          </a:p>
        </p:txBody>
      </p:sp>
      <p:sp>
        <p:nvSpPr>
          <p:cNvPr id="29" name="arrow-192"/>
          <p:cNvSpPr/>
          <p:nvPr/>
        </p:nvSpPr>
        <p:spPr>
          <a:xfrm flipV="1">
            <a:off x="9250528" y="2587752"/>
            <a:ext cx="320040" cy="292608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0" name="arrow-193"/>
          <p:cNvSpPr/>
          <p:nvPr/>
        </p:nvSpPr>
        <p:spPr>
          <a:xfrm>
            <a:off x="9250528" y="3081528"/>
            <a:ext cx="320040" cy="30175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1" name="box-194"/>
          <p:cNvSpPr/>
          <p:nvPr/>
        </p:nvSpPr>
        <p:spPr>
          <a:xfrm>
            <a:off x="9570568" y="2377440"/>
            <a:ext cx="1798168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模型 API · 按调用计费</a:t>
            </a:r>
            <a:endParaRPr lang="en-US" sz="1200" dirty="0"/>
          </a:p>
        </p:txBody>
      </p:sp>
      <p:sp>
        <p:nvSpPr>
          <p:cNvPr id="32" name="box-195"/>
          <p:cNvSpPr/>
          <p:nvPr/>
        </p:nvSpPr>
        <p:spPr>
          <a:xfrm>
            <a:off x="9570568" y="3154680"/>
            <a:ext cx="1798168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本地 CLI · 用已有订阅</a:t>
            </a:r>
            <a:endParaRPr lang="en-US" sz="1200" dirty="0"/>
          </a:p>
        </p:txBody>
      </p:sp>
      <p:sp>
        <p:nvSpPr>
          <p:cNvPr id="33" name="bullets-196"/>
          <p:cNvSpPr txBox="1"/>
          <p:nvPr/>
        </p:nvSpPr>
        <p:spPr>
          <a:xfrm>
            <a:off x="6507328" y="3886200"/>
            <a:ext cx="48614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自动检测本机已登录的 26 种 AI 命令行工具（如 Codex、Claude Code）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每个会话独立配置目录，不混入日常使用记录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执行命令前先征得同意（Codex 全流程支持）；数据留在本机</a:t>
            </a:r>
            <a:endParaRPr lang="en-US" sz="1300" dirty="0"/>
          </a:p>
        </p:txBody>
      </p:sp>
      <p:sp>
        <p:nvSpPr>
          <p:cNvPr id="34" name="label-197"/>
          <p:cNvSpPr txBox="1"/>
          <p:nvPr/>
        </p:nvSpPr>
        <p:spPr>
          <a:xfrm>
            <a:off x="6507328" y="553212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说明：Codex 走完整协议并支持审批；Claude Code 已验证会话隔离；其余工具为通用接入。使用前请确认订阅条款允许此类用法。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使用说明：四步完成一次可追溯的研究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截图来自真实运行的 v3.0 应用。</a:t>
            </a:r>
            <a:endParaRPr lang="en-US" sz="1500" dirty="0"/>
          </a:p>
        </p:txBody>
      </p:sp>
      <p:sp>
        <p:nvSpPr>
          <p:cNvPr id="4" name="label-198"/>
          <p:cNvSpPr txBox="1"/>
          <p:nvPr/>
        </p:nvSpPr>
        <p:spPr>
          <a:xfrm>
            <a:off x="548640" y="1481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① 安装：从 GitHub Releases 下载对应平台安装包；或在源码目录运行 npm run web，用浏览器打开。</a:t>
            </a:r>
            <a:endParaRPr lang="en-US" sz="1300" dirty="0"/>
          </a:p>
        </p:txBody>
      </p:sp>
      <p:sp>
        <p:nvSpPr>
          <p:cNvPr id="5" name="badge-199"/>
          <p:cNvSpPr/>
          <p:nvPr/>
        </p:nvSpPr>
        <p:spPr>
          <a:xfrm>
            <a:off x="548640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label-200"/>
          <p:cNvSpPr txBox="1"/>
          <p:nvPr/>
        </p:nvSpPr>
        <p:spPr>
          <a:xfrm>
            <a:off x="1005840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配置运行时</a:t>
            </a:r>
            <a:endParaRPr lang="en-US" sz="1600" dirty="0"/>
          </a:p>
        </p:txBody>
      </p:sp>
      <p:sp>
        <p:nvSpPr>
          <p:cNvPr id="7" name="label-201"/>
          <p:cNvSpPr txBox="1"/>
          <p:nvPr/>
        </p:nvSpPr>
        <p:spPr>
          <a:xfrm>
            <a:off x="548640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安装后打开“运行时（模型配置）”，绑定本机 AI 命令行工具或填写模型 API。</a:t>
            </a:r>
            <a:endParaRPr lang="en-US" sz="1200" dirty="0"/>
          </a:p>
        </p:txBody>
      </p:sp>
      <p:sp>
        <p:nvSpPr>
          <p:cNvPr id="8" name="badge-202"/>
          <p:cNvSpPr/>
          <p:nvPr/>
        </p:nvSpPr>
        <p:spPr>
          <a:xfrm>
            <a:off x="4353458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9" name="label-203"/>
          <p:cNvSpPr txBox="1"/>
          <p:nvPr/>
        </p:nvSpPr>
        <p:spPr>
          <a:xfrm>
            <a:off x="4810658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提问</a:t>
            </a:r>
            <a:endParaRPr lang="en-US" sz="1600" dirty="0"/>
          </a:p>
        </p:txBody>
      </p:sp>
      <p:sp>
        <p:nvSpPr>
          <p:cNvPr id="10" name="label-204"/>
          <p:cNvSpPr txBox="1"/>
          <p:nvPr/>
        </p:nvSpPr>
        <p:spPr>
          <a:xfrm>
            <a:off x="4353458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直接提问；输入 @ 点名专家，或交给科研小队。</a:t>
            </a:r>
            <a:endParaRPr lang="en-US" sz="1200" dirty="0"/>
          </a:p>
        </p:txBody>
      </p:sp>
      <p:sp>
        <p:nvSpPr>
          <p:cNvPr id="11" name="badge-205"/>
          <p:cNvSpPr/>
          <p:nvPr/>
        </p:nvSpPr>
        <p:spPr>
          <a:xfrm>
            <a:off x="8158277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2" name="label-206"/>
          <p:cNvSpPr txBox="1"/>
          <p:nvPr/>
        </p:nvSpPr>
        <p:spPr>
          <a:xfrm>
            <a:off x="8615477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查看证据</a:t>
            </a:r>
            <a:endParaRPr lang="en-US" sz="1600" dirty="0"/>
          </a:p>
        </p:txBody>
      </p:sp>
      <p:sp>
        <p:nvSpPr>
          <p:cNvPr id="13" name="label-207"/>
          <p:cNvSpPr txBox="1"/>
          <p:nvPr/>
        </p:nvSpPr>
        <p:spPr>
          <a:xfrm>
            <a:off x="8158277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在“证据账本”查看每条证据的状态、来源与历史。</a:t>
            </a:r>
            <a:endParaRPr lang="en-US" sz="1200" dirty="0"/>
          </a:p>
        </p:txBody>
      </p:sp>
      <p:pic>
        <p:nvPicPr>
          <p:cNvPr id="14" name="screenshot-208" descr="自动检测到本机的 Claude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854" y="2880360"/>
            <a:ext cx="2726350" cy="2834640"/>
          </a:xfrm>
          <a:prstGeom prst="rect">
            <a:avLst/>
          </a:prstGeom>
        </p:spPr>
      </p:pic>
      <p:sp>
        <p:nvSpPr>
          <p:cNvPr id="15" name="frame-209"/>
          <p:cNvSpPr/>
          <p:nvPr/>
        </p:nvSpPr>
        <p:spPr>
          <a:xfrm>
            <a:off x="927854" y="2880360"/>
            <a:ext cx="2726350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6" name="label-210"/>
          <p:cNvSpPr txBox="1"/>
          <p:nvPr/>
        </p:nvSpPr>
        <p:spPr>
          <a:xfrm>
            <a:off x="927854" y="5788152"/>
            <a:ext cx="27263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自动检测到本机的 Claude Code</a:t>
            </a:r>
            <a:endParaRPr lang="en-US" sz="1100" dirty="0"/>
          </a:p>
        </p:txBody>
      </p:sp>
      <p:pic>
        <p:nvPicPr>
          <p:cNvPr id="17" name="screenshot-211" descr="usage-ask-men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458" y="2880360"/>
            <a:ext cx="3484778" cy="867323"/>
          </a:xfrm>
          <a:prstGeom prst="rect">
            <a:avLst/>
          </a:prstGeom>
        </p:spPr>
      </p:pic>
      <p:sp>
        <p:nvSpPr>
          <p:cNvPr id="18" name="frame-212"/>
          <p:cNvSpPr/>
          <p:nvPr/>
        </p:nvSpPr>
        <p:spPr>
          <a:xfrm>
            <a:off x="4353458" y="2880360"/>
            <a:ext cx="3484778" cy="86732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pic>
        <p:nvPicPr>
          <p:cNvPr id="19" name="screenshot-213" descr="@ 点名专家；工具调用逐步可查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458" y="3931920"/>
            <a:ext cx="3484778" cy="1184825"/>
          </a:xfrm>
          <a:prstGeom prst="rect">
            <a:avLst/>
          </a:prstGeom>
        </p:spPr>
      </p:pic>
      <p:sp>
        <p:nvSpPr>
          <p:cNvPr id="20" name="frame-214"/>
          <p:cNvSpPr/>
          <p:nvPr/>
        </p:nvSpPr>
        <p:spPr>
          <a:xfrm>
            <a:off x="4353458" y="3931920"/>
            <a:ext cx="3484778" cy="11848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1" name="label-215"/>
          <p:cNvSpPr txBox="1"/>
          <p:nvPr/>
        </p:nvSpPr>
        <p:spPr>
          <a:xfrm>
            <a:off x="4353458" y="5189897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@ 点名专家；工具调用逐步可查</a:t>
            </a:r>
            <a:endParaRPr lang="en-US" sz="1100" dirty="0"/>
          </a:p>
        </p:txBody>
      </p:sp>
      <p:pic>
        <p:nvPicPr>
          <p:cNvPr id="22" name="screenshot-216" descr="证据账本：状态、来源、完整历史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277" y="2880360"/>
            <a:ext cx="3484778" cy="2462577"/>
          </a:xfrm>
          <a:prstGeom prst="rect">
            <a:avLst/>
          </a:prstGeom>
        </p:spPr>
      </p:pic>
      <p:sp>
        <p:nvSpPr>
          <p:cNvPr id="23" name="frame-217"/>
          <p:cNvSpPr/>
          <p:nvPr/>
        </p:nvSpPr>
        <p:spPr>
          <a:xfrm>
            <a:off x="8158277" y="2880360"/>
            <a:ext cx="3484778" cy="2462577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4" name="label-218"/>
          <p:cNvSpPr txBox="1"/>
          <p:nvPr/>
        </p:nvSpPr>
        <p:spPr>
          <a:xfrm>
            <a:off x="8158277" y="5416089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证据账本：状态、来源、完整历史</a:t>
            </a:r>
            <a:endParaRPr lang="en-US" sz="1100" dirty="0"/>
          </a:p>
        </p:txBody>
      </p:sp>
      <p:sp>
        <p:nvSpPr>
          <p:cNvPr id="25" name="label-219"/>
          <p:cNvSpPr txBox="1"/>
          <p:nvPr/>
        </p:nvSpPr>
        <p:spPr>
          <a:xfrm>
            <a:off x="548640" y="61722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演示环境使用离线示例模型生成文字；文献为 PubMed 实时检索结果。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当前进展与下一步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设计已全部落地并可下载使用；有效性还需要真实任务上的对照实验来证明。</a:t>
            </a:r>
            <a:endParaRPr lang="en-US" sz="1500" dirty="0"/>
          </a:p>
        </p:txBody>
      </p:sp>
      <p:sp>
        <p:nvSpPr>
          <p:cNvPr id="4" name="card-220"/>
          <p:cNvSpPr/>
          <p:nvPr/>
        </p:nvSpPr>
        <p:spPr>
          <a:xfrm>
            <a:off x="548640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221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222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已完成</a:t>
            </a:r>
            <a:endParaRPr lang="en-US" sz="1800" dirty="0"/>
          </a:p>
        </p:txBody>
      </p:sp>
      <p:sp>
        <p:nvSpPr>
          <p:cNvPr id="7" name="bullets-223"/>
          <p:cNvSpPr txBox="1"/>
          <p:nvPr/>
        </p:nvSpPr>
        <p:spPr>
          <a:xfrm>
            <a:off x="822960" y="251460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v3.0.0 已发布：macOS、Windows、Linux 安装包和本地 Web 版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三类设计全部落地，并接入桌面端界面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自动化测试在三个平台持续通过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评分只看证据，不再受靶点名称影响</a:t>
            </a:r>
            <a:endParaRPr lang="en-US" sz="1500" dirty="0"/>
          </a:p>
        </p:txBody>
      </p:sp>
      <p:sp>
        <p:nvSpPr>
          <p:cNvPr id="8" name="card-224"/>
          <p:cNvSpPr/>
          <p:nvPr/>
        </p:nvSpPr>
        <p:spPr>
          <a:xfrm>
            <a:off x="4338218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225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226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尚待验证</a:t>
            </a:r>
            <a:endParaRPr lang="en-US" sz="1800" dirty="0"/>
          </a:p>
        </p:txBody>
      </p:sp>
      <p:sp>
        <p:nvSpPr>
          <p:cNvPr id="11" name="bullets-227"/>
          <p:cNvSpPr txBox="1"/>
          <p:nvPr/>
        </p:nvSpPr>
        <p:spPr>
          <a:xfrm>
            <a:off x="4612538" y="251460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尚未在真实科研任务上做对照实验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判定目前处于“未校准”状态，尚无覆盖率保证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部分本地命令行工具仅为通用接入，待逐一验证</a:t>
            </a:r>
            <a:endParaRPr lang="en-US" sz="1500" dirty="0"/>
          </a:p>
        </p:txBody>
      </p:sp>
      <p:sp>
        <p:nvSpPr>
          <p:cNvPr id="12" name="card-228"/>
          <p:cNvSpPr/>
          <p:nvPr/>
        </p:nvSpPr>
        <p:spPr>
          <a:xfrm>
            <a:off x="8127797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229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230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下一步 · 需要的支持</a:t>
            </a:r>
            <a:endParaRPr lang="en-US" sz="1800" dirty="0"/>
          </a:p>
        </p:txBody>
      </p:sp>
      <p:sp>
        <p:nvSpPr>
          <p:cNvPr id="15" name="bullets-231"/>
          <p:cNvSpPr txBox="1"/>
          <p:nvPr/>
        </p:nvSpPr>
        <p:spPr>
          <a:xfrm>
            <a:off x="8402117" y="251460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组织领域专家标注一批真实假设（支持 / 反驳），用于校准与评测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开展同等预算的对照实验：与扁平记忆、多智能体辩论比较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结果稳定后发布正式版，并整理成论文</a:t>
            </a:r>
            <a:endParaRPr lang="en-US" sz="1500" dirty="0"/>
          </a:p>
        </p:txBody>
      </p:sp>
      <p:sp>
        <p:nvSpPr>
          <p:cNvPr id="16" name="ask-232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label-233"/>
          <p:cNvSpPr txBox="1"/>
          <p:nvPr/>
        </p:nvSpPr>
        <p:spPr>
          <a:xfrm>
            <a:off x="822960" y="57607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请审阅：是否支持开展专家标注与同等预算对照实验（下一步第 1、2 项）。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Science Report">
  <a:themeElements>
    <a:clrScheme name="MedScience Report">
      <a:dk1>
        <a:srgbClr val="1B2533"/>
      </a:dk1>
      <a:lt1>
        <a:srgbClr val="FFFFFF"/>
      </a:lt1>
      <a:dk2>
        <a:srgbClr val="0F2A44"/>
      </a:dk2>
      <a:lt2>
        <a:srgbClr val="F2F5F8"/>
      </a:lt2>
      <a:accent1>
        <a:srgbClr val="0E8A7E"/>
      </a:accent1>
      <a:accent2>
        <a:srgbClr val="1F5F99"/>
      </a:accent2>
      <a:accent3>
        <a:srgbClr val="C9792A"/>
      </a:accent3>
      <a:accent4>
        <a:srgbClr val="6B4FA0"/>
      </a:accent4>
      <a:accent5>
        <a:srgbClr val="B4233A"/>
      </a:accent5>
      <a:accent6>
        <a:srgbClr val="5B6B7C"/>
      </a:accent6>
      <a:hlink>
        <a:srgbClr val="1F5F99"/>
      </a:hlink>
      <a:folHlink>
        <a:srgbClr val="6B4FA0"/>
      </a:folHlink>
    </a:clrScheme>
    <a:fontScheme name="MedScience Report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MedScience 3.0 设计汇报</dc:title>
  <dc:subject>可信科研智能体工作站：设计动机、架构与使用说明</dc:subject>
  <dc:creator>MedScience</dc:creator>
  <cp:lastModifiedBy>MedScience</cp:lastModifiedBy>
  <cp:revision>1</cp:revision>
  <dcterms:created xsi:type="dcterms:W3CDTF">2026-10-05T14:35:54Z</dcterms:created>
  <dcterms:modified xsi:type="dcterms:W3CDTF">2026-10-05T14:35:54Z</dcterms:modified>
</cp:coreProperties>
</file>