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7a0da286-fe3e-abcc-0e54-62a8f506efbc}">
          <p14:sldIdLst>
            <p14:sldId id="256"/>
          </p14:sldIdLst>
        </p14:section>
        <p14:section name="为什么" id="{aae21bbf-86e6-8599-0fa2-e4c0dce84a70}">
          <p14:sldIdLst>
            <p14:sldId id="257"/>
            <p14:sldId id="258"/>
          </p14:sldIdLst>
        </p14:section>
        <p14:section name="怎么设计" id="{f94ac63b-b776-d9e5-5a8d-221ef88adb61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怎么用" id="{5b6584fd-1a9d-760c-7faf-e047fbd92c56}">
          <p14:sldIdLst>
            <p14:sldId id="266"/>
          </p14:sldIdLst>
        </p14:section>
        <p14:section name="下一步" id="{061760e7-e659-c7a0-d4b7-9cbcb178bac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12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设计。前三个痛点对应证据治理的三个设计：依据已经失效、模型仍把它当作有效支持，对应时间证据状态机；同一试验的多篇论文被当成多条独立证据、而简单去重又会丢信息，对应临床试验等价类聚合；检索时只找支持性文献、形成确认偏差，对应矛盾优先主动验证。第四个痛点是数据与成本，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类证据治理是绿色这一层：时间证据状态机（已有原型）、临床试验等价类聚合、矛盾优先主动验证（设计中）；B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上排是一次科研提问的完整路径，每一步下面的小字是这一步产生的数据。绿色三步是证据治理层：先把检索到的论文按 claim、试验、患者队列聚合成等价类；再在固定预算内优先查找最可能改变结论的证据，包括反证和失败复现；最后由时间证据状态机更新每个 claim 的状态。下方是新事件到来时的回路：撤回、试验终止、失败复现或安全信号出现后，只更新受影响的 claim 或 endpoint，其余结论保持不变。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第一个设计是时间证据状态机。痛点是：模型训练知识或旧检索结果里，包含已经撤回、终止、失败复现或出现安全信号的证据，模型仍把它们当作有效支持。设计上，每个 claim 维护四种状态：supported、contested、refuted、expired；新事件被分类为撤回、试验终止、失败复现、安全信号等；只更新受影响的 claim 或 endpoint，不允许无关证据失效导致整个报告一起崩溃。右下的伏塞洛托是真实例子：2024 年因上市后安全信号撤市，依赖“批准”的 claim A 被更新，而只依赖 HOPE 试验的 claim B 不受影响。3.0 的证据账本已经实现了依赖级联和撤稿扫描，是这个设计的原型，状态名称会对齐。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第二个设计是临床试验等价类聚合。痛点是：同一临床试验、同一患者队列可能产生多篇论文，模型容易把论文数量误认为独立证据数量；但简单去重又会丢掉长期随访、安全性和亚组信息。设计上，证据按 claim、study/trial、patient cohort 三层组织：同一试验的多篇论文只贡献一次独立性权重，不同论文提供的互补 endpoint 仍然保留；独立研究增加证据强度，同源论文主要增加信息覆盖，而不是独立性。右边是真实例子：阿贝西利的前 20 篇检索结果中，有 6 篇来自同一个试验 monarchE，它们的独立性权重是 1，但主结果、亚组、长期随访、安全性这些信息都保留。需要如实说明：我们的实测显示同源论文很普遍，但在给出摘要的条件下，模型受影响只有约 1 分，只给标题的情况还没有检验。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设计是矛盾优先主动验证。痛点是：普通检索智能体倾向于继续寻找支持性文献，很少主动寻找反证、失败复现或独立来源，容易形成确认偏差。设计上，在固定证据预算下，优先选择最可能改变当前结论的证据、与现有结论矛盾的证据、与已有来源最不依赖的证据，以及预期信息增益最高的证据。它不是简单选择“相关性最高”的论文，而是主动寻找最有可能改变决策的证据。以 Makena 为例：已有 Meis 试验支持，矛盾优先会主动去找最可能推翻它的确证试验 PROLONG。实现上，3.0 已有按预期信息增益排序的规划器原型，“矛盾优先”和“来源独立性”两个排序因素是新增的设计。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类设计是多智能体协作，像课题组一样分工。队长（PI）把课题拆成有依赖的任务，可以要求先审批计划；领域专家成员并行执行，交接时每条发现都必须附证据编号；质量门由规则检查和科研审查员组成，工具失败不算“阴性结果”；最后由写作专家综合成文。系统内置 26 位领域专家角色、15 个团队模板，也可以用 @ 直接点名某位专家。这部分在 2.x 已经具备，3.0 继续完善。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类设计是本地运行时，直接用已有 AI 订阅。很多团队已经买了 ChatGPT（Codex）或 Claude 的订阅，MedScience 可以直接调用本机已登录的命令行工具，沿用现有额度，不需要另付 API 费用；同时科研与临床数据留在本机，原始病历与影像在本机沙盒内处理，外发需要授权。右边是真实截图：运行时页面自动检测到了本机的 Claude Code。需要说明：除 Codex 和 Claude Code 外，其余工具是通用接入，并请确认订阅条款允许这样使用。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 3.0 的证据页，每条证据的来源和状态都能查到。截图都来自真实运行的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最后是进展和请求。B、C 两类设计已经落地并发布。A 类三个设计中，时间证据状态机已有原型：3.0 的证据账本实现了依赖级联和撤稿扫描，并用真实案例写成了自动化测试，下一步要把状态对齐为 supported、contested、refuted、expired 四种，并接入试验终止、安全信号等事件源；临床试验等价类聚合和矛盾优先主动验证还在设计中。下一步是实现这三个设计，并用公开结局做无人工标注的评测；同时在结论不确定的问题上复核同源影响。结果稳定后发布正式版，并整理成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三类设计：证据治理（时间证据状态机、临床试验等价类聚合、矛盾优先主动验证）、多智能体协作（像课题组一样分工）、本地运行（数据留在本机）。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已发布：三平台安装包和本地 Web 版。B、C 已落地；A 类中状态机已有原型，等价类聚合与矛盾优先验证在设计中。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743200"/>
                <a:gridCol w="268193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的设计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依据已失效，模型仍当作有效支持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模型训练知识或旧检索结果中包含已经撤回、终止、失败复现或出现安全信号的证据，但模型仍把它们当作有效支持。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依赖模型训练知识或一次性检索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A1 时间证据状态机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论文数量被误认为独立证据数量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同一临床试验、同一患者队列可能产生多篇论文。模型容易把论文数量误认为独立证据数量；但简单去重又会丢掉长期随访、安全性和亚组信息。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按篇列出引用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（公开资料未见同源识别）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A2 临床试验等价类聚合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只找支持性文献，形成确认偏差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普通检索智能体倾向于继续寻找支持性文献，很少主动寻找反证、失败复现或独立来源，容易形成确认偏差。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按相关性检索；多智能体生成与辩论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矛盾优先主动验证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本地运行时：数据留本机，复用已订阅的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6053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时间证据状态机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92252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临床试验等价类聚合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742188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矛盾优先主动验证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29" name="layer-49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0" name="box-50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1" name="box-51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5" name="layer-55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6" name="box-56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加密密钥库 · 配置 · 公开数据缓存</a:t>
            </a:r>
            <a:endParaRPr lang="en-US" sz="1250" dirty="0"/>
          </a:p>
        </p:txBody>
      </p:sp>
      <p:sp>
        <p:nvSpPr>
          <p:cNvPr id="37" name="hooks-57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label-58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39" name="label-59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0" name="box-60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1" name="box-61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4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5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6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7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8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69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0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1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2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3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检索证据</a:t>
            </a:r>
            <a:endParaRPr lang="en-US" sz="1350" dirty="0"/>
          </a:p>
        </p:txBody>
      </p:sp>
      <p:sp>
        <p:nvSpPr>
          <p:cNvPr id="14" name="label-74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标题 + 摘要</a:t>
            </a:r>
            <a:endParaRPr lang="en-US" sz="1150" dirty="0"/>
          </a:p>
        </p:txBody>
      </p:sp>
      <p:sp>
        <p:nvSpPr>
          <p:cNvPr id="15" name="arrow-75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6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7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等价类聚合</a:t>
            </a:r>
            <a:endParaRPr lang="en-US" sz="1350" dirty="0"/>
          </a:p>
        </p:txBody>
      </p:sp>
      <p:sp>
        <p:nvSpPr>
          <p:cNvPr id="18" name="label-78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claim → 试验 → 队列</a:t>
            </a:r>
            <a:endParaRPr lang="en-US" sz="1150" dirty="0"/>
          </a:p>
        </p:txBody>
      </p:sp>
      <p:sp>
        <p:nvSpPr>
          <p:cNvPr id="19" name="arrow-79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0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1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矛盾优先验证</a:t>
            </a:r>
            <a:endParaRPr lang="en-US" sz="1350" dirty="0"/>
          </a:p>
        </p:txBody>
      </p:sp>
      <p:sp>
        <p:nvSpPr>
          <p:cNvPr id="22" name="label-82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反证 / 失败复现</a:t>
            </a:r>
            <a:endParaRPr lang="en-US" sz="1150" dirty="0"/>
          </a:p>
        </p:txBody>
      </p:sp>
      <p:sp>
        <p:nvSpPr>
          <p:cNvPr id="23" name="arrow-83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4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5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状态机更新</a:t>
            </a:r>
            <a:endParaRPr lang="en-US" sz="1350" dirty="0"/>
          </a:p>
        </p:txBody>
      </p:sp>
      <p:sp>
        <p:nvSpPr>
          <p:cNvPr id="26" name="label-86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四种 claim 状态</a:t>
            </a:r>
            <a:endParaRPr lang="en-US" sz="1150" dirty="0"/>
          </a:p>
        </p:txBody>
      </p:sp>
      <p:sp>
        <p:nvSpPr>
          <p:cNvPr id="27" name="arrow-87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8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89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综合判断</a:t>
            </a:r>
            <a:endParaRPr lang="en-US" sz="1350" dirty="0"/>
          </a:p>
        </p:txBody>
      </p:sp>
      <p:sp>
        <p:nvSpPr>
          <p:cNvPr id="30" name="label-90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审查员把关</a:t>
            </a:r>
            <a:endParaRPr lang="en-US" sz="1150" dirty="0"/>
          </a:p>
        </p:txBody>
      </p:sp>
      <p:sp>
        <p:nvSpPr>
          <p:cNvPr id="31" name="arrow-91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2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3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4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5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类）完成的步骤</a:t>
            </a:r>
            <a:endParaRPr lang="en-US" sz="1150" dirty="0"/>
          </a:p>
        </p:txBody>
      </p:sp>
      <p:sp>
        <p:nvSpPr>
          <p:cNvPr id="37" name="card-97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8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新事件到来时的回路（时间证据状态机）</a:t>
            </a:r>
            <a:endParaRPr lang="en-US" sz="1500" dirty="0"/>
          </a:p>
        </p:txBody>
      </p:sp>
      <p:sp>
        <p:nvSpPr>
          <p:cNvPr id="39" name="box-99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新事件：撤回 / 试验终止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失败复现 / 安全信号</a:t>
            </a:r>
            <a:endParaRPr lang="en-US" sz="1300" dirty="0"/>
          </a:p>
        </p:txBody>
      </p:sp>
      <p:sp>
        <p:nvSpPr>
          <p:cNvPr id="40" name="arrow-100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1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分类事件类型</a:t>
            </a:r>
            <a:endParaRPr lang="en-US" sz="1300" dirty="0"/>
          </a:p>
        </p:txBody>
      </p:sp>
      <p:sp>
        <p:nvSpPr>
          <p:cNvPr id="42" name="arrow-102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3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只更新受影响的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claim 或 endpoint</a:t>
            </a:r>
            <a:endParaRPr lang="en-US" sz="1300" dirty="0"/>
          </a:p>
        </p:txBody>
      </p:sp>
      <p:sp>
        <p:nvSpPr>
          <p:cNvPr id="44" name="arrow-104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5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无关结论保持不变，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报告不会整体崩溃</a:t>
            </a:r>
            <a:endParaRPr lang="en-US" sz="1300" dirty="0"/>
          </a:p>
        </p:txBody>
      </p:sp>
      <p:sp>
        <p:nvSpPr>
          <p:cNvPr id="46" name="label-106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年伏塞洛托（Oxbryta）出现安全信号撤市 → 依赖“批准”的 claim 更新为 refuted → 只依赖 HOPE 试验的“能提高血红蛋白”保持不变。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1：时间证据状态机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证据会随时间失效；结论的状态必须跟着证据的最新事件走，而且只动受影响的部分。</a:t>
            </a:r>
            <a:endParaRPr lang="en-US" sz="1500" dirty="0"/>
          </a:p>
        </p:txBody>
      </p:sp>
      <p:sp>
        <p:nvSpPr>
          <p:cNvPr id="4" name="card-107"/>
          <p:cNvSpPr/>
          <p:nvPr/>
        </p:nvSpPr>
        <p:spPr>
          <a:xfrm>
            <a:off x="548640" y="1554480"/>
            <a:ext cx="5760720" cy="1325880"/>
          </a:xfrm>
          <a:prstGeom prst="roundRect">
            <a:avLst>
              <a:gd name="adj" fmla="val 6897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08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09"/>
          <p:cNvSpPr txBox="1"/>
          <p:nvPr/>
        </p:nvSpPr>
        <p:spPr>
          <a:xfrm>
            <a:off x="777240" y="198424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模型训练知识或旧检索结果中包含已经撤回、终止、失败复现或出现安全信号的证据，但模型仍把它们当作有效支持。</a:t>
            </a:r>
            <a:endParaRPr lang="en-US" sz="1250" dirty="0"/>
          </a:p>
        </p:txBody>
      </p:sp>
      <p:sp>
        <p:nvSpPr>
          <p:cNvPr id="7" name="card-110"/>
          <p:cNvSpPr/>
          <p:nvPr/>
        </p:nvSpPr>
        <p:spPr>
          <a:xfrm>
            <a:off x="548640" y="3017520"/>
            <a:ext cx="5760720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11"/>
          <p:cNvSpPr txBox="1"/>
          <p:nvPr/>
        </p:nvSpPr>
        <p:spPr>
          <a:xfrm>
            <a:off x="777240" y="31272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bullets-112"/>
          <p:cNvSpPr txBox="1"/>
          <p:nvPr/>
        </p:nvSpPr>
        <p:spPr>
          <a:xfrm>
            <a:off x="777240" y="3520440"/>
            <a:ext cx="5303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为每个 claim 维护状态：supported、contested、refuted、expired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将新事件分类为撤回、试验终止、失败复现、安全信号等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只更新受影响的 claim 或 endpoint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不允许无关证据失效导致整个报告一起崩溃</a:t>
            </a:r>
            <a:endParaRPr lang="en-US" sz="1450" dirty="0"/>
          </a:p>
        </p:txBody>
      </p:sp>
      <p:sp>
        <p:nvSpPr>
          <p:cNvPr id="10" name="label-113"/>
          <p:cNvSpPr txBox="1"/>
          <p:nvPr/>
        </p:nvSpPr>
        <p:spPr>
          <a:xfrm>
            <a:off x="6583680" y="1572768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 的四种状态</a:t>
            </a:r>
            <a:endParaRPr lang="en-US" sz="1300" dirty="0"/>
          </a:p>
        </p:txBody>
      </p:sp>
      <p:sp>
        <p:nvSpPr>
          <p:cNvPr id="11" name="box-114"/>
          <p:cNvSpPr/>
          <p:nvPr/>
        </p:nvSpPr>
        <p:spPr>
          <a:xfrm>
            <a:off x="6583680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supported</a:t>
            </a:r>
            <a:endParaRPr lang="en-US" sz="1200" dirty="0"/>
          </a:p>
        </p:txBody>
      </p:sp>
      <p:sp>
        <p:nvSpPr>
          <p:cNvPr id="12" name="box-115"/>
          <p:cNvSpPr/>
          <p:nvPr/>
        </p:nvSpPr>
        <p:spPr>
          <a:xfrm>
            <a:off x="7871384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contested</a:t>
            </a:r>
            <a:endParaRPr lang="en-US" sz="1200" dirty="0"/>
          </a:p>
        </p:txBody>
      </p:sp>
      <p:sp>
        <p:nvSpPr>
          <p:cNvPr id="13" name="box-116"/>
          <p:cNvSpPr/>
          <p:nvPr/>
        </p:nvSpPr>
        <p:spPr>
          <a:xfrm>
            <a:off x="9159088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refuted</a:t>
            </a:r>
            <a:endParaRPr lang="en-US" sz="1200" dirty="0"/>
          </a:p>
        </p:txBody>
      </p:sp>
      <p:sp>
        <p:nvSpPr>
          <p:cNvPr id="14" name="box-117"/>
          <p:cNvSpPr/>
          <p:nvPr/>
        </p:nvSpPr>
        <p:spPr>
          <a:xfrm>
            <a:off x="10446791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expired</a:t>
            </a:r>
            <a:endParaRPr lang="en-US" sz="1200" dirty="0"/>
          </a:p>
        </p:txBody>
      </p:sp>
      <p:sp>
        <p:nvSpPr>
          <p:cNvPr id="15" name="label-118"/>
          <p:cNvSpPr txBox="1"/>
          <p:nvPr/>
        </p:nvSpPr>
        <p:spPr>
          <a:xfrm>
            <a:off x="6583680" y="2542032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触发状态变化的新事件</a:t>
            </a:r>
            <a:endParaRPr lang="en-US" sz="1300" dirty="0"/>
          </a:p>
        </p:txBody>
      </p:sp>
      <p:sp>
        <p:nvSpPr>
          <p:cNvPr id="16" name="box-119"/>
          <p:cNvSpPr/>
          <p:nvPr/>
        </p:nvSpPr>
        <p:spPr>
          <a:xfrm>
            <a:off x="6583680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撤回</a:t>
            </a:r>
            <a:endParaRPr lang="en-US" sz="1200" dirty="0"/>
          </a:p>
        </p:txBody>
      </p:sp>
      <p:sp>
        <p:nvSpPr>
          <p:cNvPr id="17" name="box-120"/>
          <p:cNvSpPr/>
          <p:nvPr/>
        </p:nvSpPr>
        <p:spPr>
          <a:xfrm>
            <a:off x="7871384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试验终止</a:t>
            </a:r>
            <a:endParaRPr lang="en-US" sz="1200" dirty="0"/>
          </a:p>
        </p:txBody>
      </p:sp>
      <p:sp>
        <p:nvSpPr>
          <p:cNvPr id="18" name="box-121"/>
          <p:cNvSpPr/>
          <p:nvPr/>
        </p:nvSpPr>
        <p:spPr>
          <a:xfrm>
            <a:off x="9159088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失败复现</a:t>
            </a:r>
            <a:endParaRPr lang="en-US" sz="1200" dirty="0"/>
          </a:p>
        </p:txBody>
      </p:sp>
      <p:sp>
        <p:nvSpPr>
          <p:cNvPr id="19" name="box-122"/>
          <p:cNvSpPr/>
          <p:nvPr/>
        </p:nvSpPr>
        <p:spPr>
          <a:xfrm>
            <a:off x="10446791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安全信号</a:t>
            </a:r>
            <a:endParaRPr lang="en-US" sz="1200" dirty="0"/>
          </a:p>
        </p:txBody>
      </p:sp>
      <p:sp>
        <p:nvSpPr>
          <p:cNvPr id="20" name="card-123"/>
          <p:cNvSpPr/>
          <p:nvPr/>
        </p:nvSpPr>
        <p:spPr>
          <a:xfrm>
            <a:off x="6583680" y="3474720"/>
            <a:ext cx="5059375" cy="2606040"/>
          </a:xfrm>
          <a:prstGeom prst="roundRect">
            <a:avLst>
              <a:gd name="adj" fmla="val 3509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1" name="label-124"/>
          <p:cNvSpPr txBox="1"/>
          <p:nvPr/>
        </p:nvSpPr>
        <p:spPr>
          <a:xfrm>
            <a:off x="6766560" y="3566160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例：伏塞洛托（Oxbryta），镰状细胞病</a:t>
            </a:r>
            <a:endParaRPr lang="en-US" sz="1250" dirty="0"/>
          </a:p>
        </p:txBody>
      </p:sp>
      <p:graphicFrame>
        <p:nvGraphicFramePr>
          <p:cNvPr id="7" name="table-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931920"/>
          <a:ext cx="46936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1325880"/>
                <a:gridCol w="126461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claim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claim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supported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supported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安全信号，撤市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refuted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label-126"/>
          <p:cNvSpPr txBox="1"/>
          <p:nvPr/>
        </p:nvSpPr>
        <p:spPr>
          <a:xfrm>
            <a:off x="6766560" y="502920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只更新依赖“批准”的 claim A；claim B 只依赖 HOPE 试验，保持不变——无关证据失效不会让整个报告崩溃。HOPE 试验：NEJM 2019，PMID 31199090。</a:t>
            </a:r>
            <a:endParaRPr lang="en-US" sz="1050" dirty="0"/>
          </a:p>
        </p:txBody>
      </p:sp>
      <p:sp>
        <p:nvSpPr>
          <p:cNvPr id="24" name="label-127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实现状态：3.0 证据账本已实现依赖级联与撤稿扫描（原型），状态名称将对齐为上述四种；此例已写成自动化测试。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2：临床试验等价类聚合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同一试验的多篇论文是一个“等价类”：独立性只算一次，信息一篇不丢。</a:t>
            </a:r>
            <a:endParaRPr lang="en-US" sz="1500" dirty="0"/>
          </a:p>
        </p:txBody>
      </p:sp>
      <p:sp>
        <p:nvSpPr>
          <p:cNvPr id="4" name="card-128"/>
          <p:cNvSpPr/>
          <p:nvPr/>
        </p:nvSpPr>
        <p:spPr>
          <a:xfrm>
            <a:off x="548640" y="1554480"/>
            <a:ext cx="5760720" cy="1554480"/>
          </a:xfrm>
          <a:prstGeom prst="roundRect">
            <a:avLst>
              <a:gd name="adj" fmla="val 5882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29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30"/>
          <p:cNvSpPr txBox="1"/>
          <p:nvPr/>
        </p:nvSpPr>
        <p:spPr>
          <a:xfrm>
            <a:off x="777240" y="1984248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同一临床试验、同一患者队列可能产生多篇论文。模型容易把论文数量误认为独立证据数量；但简单去重又会丢掉长期随访、安全性和亚组信息。</a:t>
            </a:r>
            <a:endParaRPr lang="en-US" sz="1250" dirty="0"/>
          </a:p>
        </p:txBody>
      </p:sp>
      <p:sp>
        <p:nvSpPr>
          <p:cNvPr id="7" name="card-131"/>
          <p:cNvSpPr/>
          <p:nvPr/>
        </p:nvSpPr>
        <p:spPr>
          <a:xfrm>
            <a:off x="548640" y="3246120"/>
            <a:ext cx="5760720" cy="2834640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32"/>
          <p:cNvSpPr txBox="1"/>
          <p:nvPr/>
        </p:nvSpPr>
        <p:spPr>
          <a:xfrm>
            <a:off x="777240" y="33558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label-133"/>
          <p:cNvSpPr txBox="1"/>
          <p:nvPr/>
        </p:nvSpPr>
        <p:spPr>
          <a:xfrm>
            <a:off x="77724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按三层结构组织证据：</a:t>
            </a:r>
            <a:endParaRPr lang="en-US" sz="1300" dirty="0"/>
          </a:p>
        </p:txBody>
      </p:sp>
      <p:sp>
        <p:nvSpPr>
          <p:cNvPr id="10" name="label-134"/>
          <p:cNvSpPr txBox="1"/>
          <p:nvPr/>
        </p:nvSpPr>
        <p:spPr>
          <a:xfrm>
            <a:off x="777240" y="3986784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claim → study/trial → patient cohort</a:t>
            </a:r>
            <a:endParaRPr lang="en-US" sz="1500" dirty="0"/>
          </a:p>
        </p:txBody>
      </p:sp>
      <p:sp>
        <p:nvSpPr>
          <p:cNvPr id="11" name="bullets-135"/>
          <p:cNvSpPr txBox="1"/>
          <p:nvPr/>
        </p:nvSpPr>
        <p:spPr>
          <a:xfrm>
            <a:off x="777240" y="443484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同一试验的多篇论文只贡献一次独立性权重；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不同论文提供的互补 endpoint 仍然保留；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独立研究增加证据强度，同源论文主要增加信息覆盖，而不是独立性。</a:t>
            </a:r>
            <a:endParaRPr lang="en-US" sz="1250" dirty="0"/>
          </a:p>
        </p:txBody>
      </p:sp>
      <p:sp>
        <p:nvSpPr>
          <p:cNvPr id="12" name="card-136"/>
          <p:cNvSpPr/>
          <p:nvPr/>
        </p:nvSpPr>
        <p:spPr>
          <a:xfrm>
            <a:off x="6583680" y="1554480"/>
            <a:ext cx="5059375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abel-137"/>
          <p:cNvSpPr txBox="1"/>
          <p:nvPr/>
        </p:nvSpPr>
        <p:spPr>
          <a:xfrm>
            <a:off x="6766560" y="1645920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例：阿贝西利用于乳腺癌</a:t>
            </a:r>
            <a:endParaRPr lang="en-US" sz="1250" dirty="0"/>
          </a:p>
        </p:txBody>
      </p:sp>
      <p:sp>
        <p:nvSpPr>
          <p:cNvPr id="14" name="box-138"/>
          <p:cNvSpPr/>
          <p:nvPr/>
        </p:nvSpPr>
        <p:spPr>
          <a:xfrm>
            <a:off x="6766560" y="2011680"/>
            <a:ext cx="4693615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claim：阿贝西利对 HR+/HER2− 乳腺癌有效</a:t>
            </a:r>
            <a:endParaRPr lang="en-US" sz="1200" dirty="0"/>
          </a:p>
        </p:txBody>
      </p:sp>
      <p:sp>
        <p:nvSpPr>
          <p:cNvPr id="15" name="arrow-139"/>
          <p:cNvSpPr/>
          <p:nvPr/>
        </p:nvSpPr>
        <p:spPr>
          <a:xfrm>
            <a:off x="7894244" y="2487168"/>
            <a:ext cx="0" cy="25603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40"/>
          <p:cNvSpPr/>
          <p:nvPr/>
        </p:nvSpPr>
        <p:spPr>
          <a:xfrm>
            <a:off x="10332491" y="2487168"/>
            <a:ext cx="0" cy="25603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box-141"/>
          <p:cNvSpPr/>
          <p:nvPr/>
        </p:nvSpPr>
        <p:spPr>
          <a:xfrm>
            <a:off x="6766560" y="2761488"/>
            <a:ext cx="225536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study/trial：monarchE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NCT03155997</a:t>
            </a:r>
            <a:endParaRPr lang="en-US" sz="1100" dirty="0"/>
          </a:p>
        </p:txBody>
      </p:sp>
      <p:sp>
        <p:nvSpPr>
          <p:cNvPr id="18" name="box-142"/>
          <p:cNvSpPr/>
          <p:nvPr/>
        </p:nvSpPr>
        <p:spPr>
          <a:xfrm>
            <a:off x="9204808" y="2761488"/>
            <a:ext cx="225536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study/trial：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其他独立试验</a:t>
            </a:r>
            <a:endParaRPr lang="en-US" sz="1100" dirty="0"/>
          </a:p>
        </p:txBody>
      </p:sp>
      <p:sp>
        <p:nvSpPr>
          <p:cNvPr id="19" name="arrow-143"/>
          <p:cNvSpPr/>
          <p:nvPr/>
        </p:nvSpPr>
        <p:spPr>
          <a:xfrm>
            <a:off x="7894244" y="3346704"/>
            <a:ext cx="0" cy="21945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box-144"/>
          <p:cNvSpPr/>
          <p:nvPr/>
        </p:nvSpPr>
        <p:spPr>
          <a:xfrm>
            <a:off x="6766560" y="3584448"/>
            <a:ext cx="2255368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patient cohort：同一批受试者</a:t>
            </a:r>
            <a:endParaRPr lang="en-US" sz="1050" dirty="0"/>
          </a:p>
        </p:txBody>
      </p:sp>
      <p:sp>
        <p:nvSpPr>
          <p:cNvPr id="21" name="label-145"/>
          <p:cNvSpPr txBox="1"/>
          <p:nvPr/>
        </p:nvSpPr>
        <p:spPr>
          <a:xfrm>
            <a:off x="6766560" y="4069080"/>
            <a:ext cx="225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检索到 6 篇论文：</a:t>
            </a:r>
            <a:endParaRPr lang="en-US" sz="1050" dirty="0"/>
          </a:p>
        </p:txBody>
      </p:sp>
      <p:sp>
        <p:nvSpPr>
          <p:cNvPr id="22" name="box-146"/>
          <p:cNvSpPr/>
          <p:nvPr/>
        </p:nvSpPr>
        <p:spPr>
          <a:xfrm>
            <a:off x="6766560" y="4370832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主结果</a:t>
            </a:r>
            <a:endParaRPr lang="en-US" sz="1050" dirty="0"/>
          </a:p>
        </p:txBody>
      </p:sp>
      <p:sp>
        <p:nvSpPr>
          <p:cNvPr id="23" name="box-147"/>
          <p:cNvSpPr/>
          <p:nvPr/>
        </p:nvSpPr>
        <p:spPr>
          <a:xfrm>
            <a:off x="7921676" y="4370832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亚组分析</a:t>
            </a:r>
            <a:endParaRPr lang="en-US" sz="1050" dirty="0"/>
          </a:p>
        </p:txBody>
      </p:sp>
      <p:sp>
        <p:nvSpPr>
          <p:cNvPr id="24" name="box-148"/>
          <p:cNvSpPr/>
          <p:nvPr/>
        </p:nvSpPr>
        <p:spPr>
          <a:xfrm>
            <a:off x="6766560" y="4754880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长期随访</a:t>
            </a:r>
            <a:endParaRPr lang="en-US" sz="1050" dirty="0"/>
          </a:p>
        </p:txBody>
      </p:sp>
      <p:sp>
        <p:nvSpPr>
          <p:cNvPr id="25" name="box-149"/>
          <p:cNvSpPr/>
          <p:nvPr/>
        </p:nvSpPr>
        <p:spPr>
          <a:xfrm>
            <a:off x="7921676" y="4754880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安全性</a:t>
            </a:r>
            <a:endParaRPr lang="en-US" sz="1050" dirty="0"/>
          </a:p>
        </p:txBody>
      </p:sp>
      <p:sp>
        <p:nvSpPr>
          <p:cNvPr id="26" name="label-150"/>
          <p:cNvSpPr txBox="1"/>
          <p:nvPr/>
        </p:nvSpPr>
        <p:spPr>
          <a:xfrm>
            <a:off x="9204808" y="3611880"/>
            <a:ext cx="2255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独立性权重：1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（不是 6）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互补 endpoint：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全部保留</a:t>
            </a:r>
            <a:endParaRPr lang="en-US" sz="1200" dirty="0"/>
          </a:p>
        </p:txBody>
      </p:sp>
      <p:sp>
        <p:nvSpPr>
          <p:cNvPr id="27" name="label-151"/>
          <p:cNvSpPr txBox="1"/>
          <p:nvPr/>
        </p:nvSpPr>
        <p:spPr>
          <a:xfrm>
            <a:off x="6766560" y="5193792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实测：94 个问题中，含试验证据的问题 40% 存在同源论文；对照实验中给出摘要时模型受影响约 1 分（满分 100），只给标题时尚待检验。</a:t>
            </a:r>
            <a:endParaRPr lang="en-US" sz="1000" dirty="0"/>
          </a:p>
        </p:txBody>
      </p:sp>
      <p:sp>
        <p:nvSpPr>
          <p:cNvPr id="28" name="label-152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实现状态：设计中；同源识别使用 PubMed 试验关联与摘要中的 NCT 编号，数据与脚本已存档（packages/core/evaluation）。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3：矛盾优先主动验证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取证不是找“最相关”，而是找“最可能改变结论”的证据。</a:t>
            </a:r>
            <a:endParaRPr lang="en-US" sz="1500" dirty="0"/>
          </a:p>
        </p:txBody>
      </p:sp>
      <p:sp>
        <p:nvSpPr>
          <p:cNvPr id="4" name="card-153"/>
          <p:cNvSpPr/>
          <p:nvPr/>
        </p:nvSpPr>
        <p:spPr>
          <a:xfrm>
            <a:off x="548640" y="1554480"/>
            <a:ext cx="5760720" cy="1325880"/>
          </a:xfrm>
          <a:prstGeom prst="roundRect">
            <a:avLst>
              <a:gd name="adj" fmla="val 6897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54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55"/>
          <p:cNvSpPr txBox="1"/>
          <p:nvPr/>
        </p:nvSpPr>
        <p:spPr>
          <a:xfrm>
            <a:off x="777240" y="198424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普通检索智能体倾向于继续寻找支持性文献，很少主动寻找反证、失败复现或独立来源，容易形成确认偏差。</a:t>
            </a:r>
            <a:endParaRPr lang="en-US" sz="1250" dirty="0"/>
          </a:p>
        </p:txBody>
      </p:sp>
      <p:sp>
        <p:nvSpPr>
          <p:cNvPr id="7" name="card-156"/>
          <p:cNvSpPr/>
          <p:nvPr/>
        </p:nvSpPr>
        <p:spPr>
          <a:xfrm>
            <a:off x="548640" y="3017520"/>
            <a:ext cx="576072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57"/>
          <p:cNvSpPr txBox="1"/>
          <p:nvPr/>
        </p:nvSpPr>
        <p:spPr>
          <a:xfrm>
            <a:off x="777240" y="31272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label-158"/>
          <p:cNvSpPr txBox="1"/>
          <p:nvPr/>
        </p:nvSpPr>
        <p:spPr>
          <a:xfrm>
            <a:off x="777240" y="34564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在固定证据预算下，优先选择：</a:t>
            </a:r>
            <a:endParaRPr lang="en-US" sz="1300" dirty="0"/>
          </a:p>
        </p:txBody>
      </p:sp>
      <p:sp>
        <p:nvSpPr>
          <p:cNvPr id="10" name="badge-159"/>
          <p:cNvSpPr/>
          <p:nvPr/>
        </p:nvSpPr>
        <p:spPr>
          <a:xfrm>
            <a:off x="822960" y="3822192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label-160"/>
          <p:cNvSpPr txBox="1"/>
          <p:nvPr/>
        </p:nvSpPr>
        <p:spPr>
          <a:xfrm>
            <a:off x="1234440" y="38039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最可能改变当前结论的证据；</a:t>
            </a:r>
            <a:endParaRPr lang="en-US" sz="1300" dirty="0"/>
          </a:p>
        </p:txBody>
      </p:sp>
      <p:sp>
        <p:nvSpPr>
          <p:cNvPr id="12" name="badge-161"/>
          <p:cNvSpPr/>
          <p:nvPr/>
        </p:nvSpPr>
        <p:spPr>
          <a:xfrm>
            <a:off x="822960" y="4251960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label-162"/>
          <p:cNvSpPr txBox="1"/>
          <p:nvPr/>
        </p:nvSpPr>
        <p:spPr>
          <a:xfrm>
            <a:off x="1234440" y="42336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与现有结论矛盾的证据；</a:t>
            </a:r>
            <a:endParaRPr lang="en-US" sz="1300" dirty="0"/>
          </a:p>
        </p:txBody>
      </p:sp>
      <p:sp>
        <p:nvSpPr>
          <p:cNvPr id="14" name="badge-163"/>
          <p:cNvSpPr/>
          <p:nvPr/>
        </p:nvSpPr>
        <p:spPr>
          <a:xfrm>
            <a:off x="822960" y="468172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label-164"/>
          <p:cNvSpPr txBox="1"/>
          <p:nvPr/>
        </p:nvSpPr>
        <p:spPr>
          <a:xfrm>
            <a:off x="1234440" y="46634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与已有来源最不依赖的证据；</a:t>
            </a:r>
            <a:endParaRPr lang="en-US" sz="1300" dirty="0"/>
          </a:p>
        </p:txBody>
      </p:sp>
      <p:sp>
        <p:nvSpPr>
          <p:cNvPr id="16" name="badge-165"/>
          <p:cNvSpPr/>
          <p:nvPr/>
        </p:nvSpPr>
        <p:spPr>
          <a:xfrm>
            <a:off x="822960" y="5111496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label-166"/>
          <p:cNvSpPr txBox="1"/>
          <p:nvPr/>
        </p:nvSpPr>
        <p:spPr>
          <a:xfrm>
            <a:off x="1234440" y="509320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预期信息增益最高的证据。</a:t>
            </a:r>
            <a:endParaRPr lang="en-US" sz="1300" dirty="0"/>
          </a:p>
        </p:txBody>
      </p:sp>
      <p:sp>
        <p:nvSpPr>
          <p:cNvPr id="18" name="card-167"/>
          <p:cNvSpPr/>
          <p:nvPr/>
        </p:nvSpPr>
        <p:spPr>
          <a:xfrm>
            <a:off x="6583680" y="1554480"/>
            <a:ext cx="2438248" cy="26974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abel-168"/>
          <p:cNvSpPr txBox="1"/>
          <p:nvPr/>
        </p:nvSpPr>
        <p:spPr>
          <a:xfrm>
            <a:off x="6766560" y="1664208"/>
            <a:ext cx="207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普通检索智能体</a:t>
            </a:r>
            <a:endParaRPr lang="en-US" sz="1300" dirty="0"/>
          </a:p>
        </p:txBody>
      </p:sp>
      <p:sp>
        <p:nvSpPr>
          <p:cNvPr id="20" name="bullets-169"/>
          <p:cNvSpPr txBox="1"/>
          <p:nvPr/>
        </p:nvSpPr>
        <p:spPr>
          <a:xfrm>
            <a:off x="6766560" y="2057400"/>
            <a:ext cx="20724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按相关性排序取前 N 篇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继续寻找支持性文献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很少主动找反证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容易形成确认偏差</a:t>
            </a:r>
            <a:endParaRPr lang="en-US" sz="1200" dirty="0"/>
          </a:p>
        </p:txBody>
      </p:sp>
      <p:sp>
        <p:nvSpPr>
          <p:cNvPr id="21" name="card-170"/>
          <p:cNvSpPr/>
          <p:nvPr/>
        </p:nvSpPr>
        <p:spPr>
          <a:xfrm>
            <a:off x="9204808" y="1554480"/>
            <a:ext cx="2438248" cy="2697480"/>
          </a:xfrm>
          <a:prstGeom prst="roundRect">
            <a:avLst>
              <a:gd name="adj" fmla="val 3750"/>
            </a:avLst>
          </a:prstGeom>
          <a:solidFill>
            <a:srgbClr val="E3F3F1"/>
          </a:solidFill>
          <a:ln w="12700">
            <a:solidFill>
              <a:srgbClr val="E3F3F1"/>
            </a:solidFill>
            <a:prstDash val="solid"/>
          </a:ln>
        </p:spPr>
      </p:sp>
      <p:sp>
        <p:nvSpPr>
          <p:cNvPr id="22" name="label-171"/>
          <p:cNvSpPr txBox="1"/>
          <p:nvPr/>
        </p:nvSpPr>
        <p:spPr>
          <a:xfrm>
            <a:off x="9387688" y="1664208"/>
            <a:ext cx="207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MedScience</a:t>
            </a:r>
            <a:endParaRPr lang="en-US" sz="1300" dirty="0"/>
          </a:p>
        </p:txBody>
      </p:sp>
      <p:sp>
        <p:nvSpPr>
          <p:cNvPr id="23" name="bullets-172"/>
          <p:cNvSpPr txBox="1"/>
          <p:nvPr/>
        </p:nvSpPr>
        <p:spPr>
          <a:xfrm>
            <a:off x="9387688" y="2057400"/>
            <a:ext cx="20724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在固定预算内排序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先查可能推翻结论的证据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主动找失败复现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优先找独立来源</a:t>
            </a:r>
            <a:endParaRPr lang="en-US" sz="1200" dirty="0"/>
          </a:p>
        </p:txBody>
      </p:sp>
      <p:sp>
        <p:nvSpPr>
          <p:cNvPr id="24" name="card-173"/>
          <p:cNvSpPr/>
          <p:nvPr/>
        </p:nvSpPr>
        <p:spPr>
          <a:xfrm>
            <a:off x="6583680" y="4389120"/>
            <a:ext cx="5059375" cy="1371600"/>
          </a:xfrm>
          <a:prstGeom prst="roundRect">
            <a:avLst>
              <a:gd name="adj" fmla="val 6667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5" name="label-174"/>
          <p:cNvSpPr txBox="1"/>
          <p:nvPr/>
        </p:nvSpPr>
        <p:spPr>
          <a:xfrm>
            <a:off x="6766560" y="4480560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例：17-OHPC（Makena）预防早产</a:t>
            </a:r>
            <a:endParaRPr lang="en-US" sz="1250" dirty="0"/>
          </a:p>
        </p:txBody>
      </p:sp>
      <p:sp>
        <p:nvSpPr>
          <p:cNvPr id="26" name="label-175"/>
          <p:cNvSpPr txBox="1"/>
          <p:nvPr/>
        </p:nvSpPr>
        <p:spPr>
          <a:xfrm>
            <a:off x="6766560" y="4773168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已有支持：Meis 试验（NEJM 2003，PMID 12802023）。矛盾优先会主动去找最可能推翻它的证据——确证试验 PROLONG（Am J Perinatol 2020，PMID 31652479）未见效果，FDA 于 2023 年撤销批准。</a:t>
            </a:r>
            <a:endParaRPr lang="en-US" sz="1100" dirty="0"/>
          </a:p>
        </p:txBody>
      </p:sp>
      <p:sp>
        <p:nvSpPr>
          <p:cNvPr id="27" name="box-176"/>
          <p:cNvSpPr/>
          <p:nvPr/>
        </p:nvSpPr>
        <p:spPr>
          <a:xfrm>
            <a:off x="548640" y="5870448"/>
            <a:ext cx="11094415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0E8A7E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它不是简单选择“相关性最高”的论文，而是主动寻找最有可能改变决策的证据。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 类设计：多智能体协作：像课题组一样分工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类管“谁来做、谁把关”：像课题组一样，有人规划、有人执行、有人审查、有人成文。</a:t>
            </a:r>
            <a:endParaRPr lang="en-US" sz="1500" dirty="0"/>
          </a:p>
        </p:txBody>
      </p:sp>
      <p:sp>
        <p:nvSpPr>
          <p:cNvPr id="4" name="box-177"/>
          <p:cNvSpPr/>
          <p:nvPr/>
        </p:nvSpPr>
        <p:spPr>
          <a:xfrm>
            <a:off x="548640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研究课题</a:t>
            </a:r>
            <a:endParaRPr lang="en-US" sz="1500" dirty="0"/>
          </a:p>
        </p:txBody>
      </p:sp>
      <p:sp>
        <p:nvSpPr>
          <p:cNvPr id="5" name="label-178"/>
          <p:cNvSpPr txBox="1"/>
          <p:nvPr/>
        </p:nvSpPr>
        <p:spPr>
          <a:xfrm>
            <a:off x="548640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用户提出</a:t>
            </a:r>
            <a:endParaRPr lang="en-US" sz="1150" dirty="0"/>
          </a:p>
        </p:txBody>
      </p:sp>
      <p:sp>
        <p:nvSpPr>
          <p:cNvPr id="6" name="arrow-179"/>
          <p:cNvSpPr/>
          <p:nvPr/>
        </p:nvSpPr>
        <p:spPr>
          <a:xfrm>
            <a:off x="2538923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box-180"/>
          <p:cNvSpPr/>
          <p:nvPr/>
        </p:nvSpPr>
        <p:spPr>
          <a:xfrm>
            <a:off x="2831531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队长规划</a:t>
            </a:r>
            <a:endParaRPr lang="en-US" sz="1500" dirty="0"/>
          </a:p>
        </p:txBody>
      </p:sp>
      <p:sp>
        <p:nvSpPr>
          <p:cNvPr id="8" name="label-181"/>
          <p:cNvSpPr txBox="1"/>
          <p:nvPr/>
        </p:nvSpPr>
        <p:spPr>
          <a:xfrm>
            <a:off x="2831531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PI 拆解任务</a:t>
            </a:r>
            <a:endParaRPr lang="en-US" sz="1150" dirty="0"/>
          </a:p>
        </p:txBody>
      </p:sp>
      <p:sp>
        <p:nvSpPr>
          <p:cNvPr id="9" name="arrow-182"/>
          <p:cNvSpPr/>
          <p:nvPr/>
        </p:nvSpPr>
        <p:spPr>
          <a:xfrm>
            <a:off x="4821814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box-183"/>
          <p:cNvSpPr/>
          <p:nvPr/>
        </p:nvSpPr>
        <p:spPr>
          <a:xfrm>
            <a:off x="5114422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成员并行</a:t>
            </a:r>
            <a:endParaRPr lang="en-US" sz="1500" dirty="0"/>
          </a:p>
        </p:txBody>
      </p:sp>
      <p:sp>
        <p:nvSpPr>
          <p:cNvPr id="11" name="label-184"/>
          <p:cNvSpPr txBox="1"/>
          <p:nvPr/>
        </p:nvSpPr>
        <p:spPr>
          <a:xfrm>
            <a:off x="5114422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领域专家执行</a:t>
            </a:r>
            <a:endParaRPr lang="en-US" sz="1150" dirty="0"/>
          </a:p>
        </p:txBody>
      </p:sp>
      <p:sp>
        <p:nvSpPr>
          <p:cNvPr id="12" name="arrow-185"/>
          <p:cNvSpPr/>
          <p:nvPr/>
        </p:nvSpPr>
        <p:spPr>
          <a:xfrm>
            <a:off x="7104705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86"/>
          <p:cNvSpPr/>
          <p:nvPr/>
        </p:nvSpPr>
        <p:spPr>
          <a:xfrm>
            <a:off x="7397313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质量门</a:t>
            </a:r>
            <a:endParaRPr lang="en-US" sz="1500" dirty="0"/>
          </a:p>
        </p:txBody>
      </p:sp>
      <p:sp>
        <p:nvSpPr>
          <p:cNvPr id="14" name="label-187"/>
          <p:cNvSpPr txBox="1"/>
          <p:nvPr/>
        </p:nvSpPr>
        <p:spPr>
          <a:xfrm>
            <a:off x="7397313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规则 + 审查员</a:t>
            </a:r>
            <a:endParaRPr lang="en-US" sz="1150" dirty="0"/>
          </a:p>
        </p:txBody>
      </p:sp>
      <p:sp>
        <p:nvSpPr>
          <p:cNvPr id="15" name="arrow-188"/>
          <p:cNvSpPr/>
          <p:nvPr/>
        </p:nvSpPr>
        <p:spPr>
          <a:xfrm>
            <a:off x="9387596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box-189"/>
          <p:cNvSpPr/>
          <p:nvPr/>
        </p:nvSpPr>
        <p:spPr>
          <a:xfrm>
            <a:off x="9680204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综合报告</a:t>
            </a:r>
            <a:endParaRPr lang="en-US" sz="1500" dirty="0"/>
          </a:p>
        </p:txBody>
      </p:sp>
      <p:sp>
        <p:nvSpPr>
          <p:cNvPr id="17" name="label-190"/>
          <p:cNvSpPr txBox="1"/>
          <p:nvPr/>
        </p:nvSpPr>
        <p:spPr>
          <a:xfrm>
            <a:off x="9680204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写作专家成文</a:t>
            </a:r>
            <a:endParaRPr lang="en-US" sz="1150" dirty="0"/>
          </a:p>
        </p:txBody>
      </p:sp>
      <p:sp>
        <p:nvSpPr>
          <p:cNvPr id="18" name="card-191"/>
          <p:cNvSpPr/>
          <p:nvPr/>
        </p:nvSpPr>
        <p:spPr>
          <a:xfrm>
            <a:off x="548640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192"/>
          <p:cNvSpPr/>
          <p:nvPr/>
        </p:nvSpPr>
        <p:spPr>
          <a:xfrm>
            <a:off x="777240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label-193"/>
          <p:cNvSpPr txBox="1"/>
          <p:nvPr/>
        </p:nvSpPr>
        <p:spPr>
          <a:xfrm>
            <a:off x="1234440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队长（PI）</a:t>
            </a:r>
            <a:endParaRPr lang="en-US" sz="1500" dirty="0"/>
          </a:p>
        </p:txBody>
      </p:sp>
      <p:sp>
        <p:nvSpPr>
          <p:cNvPr id="21" name="label-194"/>
          <p:cNvSpPr txBox="1"/>
          <p:nvPr/>
        </p:nvSpPr>
        <p:spPr>
          <a:xfrm>
            <a:off x="777240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把课题拆成有依赖的任务；可要求先审批计划，再开始执行。</a:t>
            </a:r>
            <a:endParaRPr lang="en-US" sz="1250" dirty="0"/>
          </a:p>
        </p:txBody>
      </p:sp>
      <p:sp>
        <p:nvSpPr>
          <p:cNvPr id="22" name="card-195"/>
          <p:cNvSpPr/>
          <p:nvPr/>
        </p:nvSpPr>
        <p:spPr>
          <a:xfrm>
            <a:off x="3379394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badge-196"/>
          <p:cNvSpPr/>
          <p:nvPr/>
        </p:nvSpPr>
        <p:spPr>
          <a:xfrm>
            <a:off x="3607994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4" name="label-197"/>
          <p:cNvSpPr txBox="1"/>
          <p:nvPr/>
        </p:nvSpPr>
        <p:spPr>
          <a:xfrm>
            <a:off x="4065194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领域专家成员</a:t>
            </a:r>
            <a:endParaRPr lang="en-US" sz="1500" dirty="0"/>
          </a:p>
        </p:txBody>
      </p:sp>
      <p:sp>
        <p:nvSpPr>
          <p:cNvPr id="25" name="label-198"/>
          <p:cNvSpPr txBox="1"/>
          <p:nvPr/>
        </p:nvSpPr>
        <p:spPr>
          <a:xfrm>
            <a:off x="3607994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26 位领域专家角色并行工作；交接时每条发现都必须附证据编号。</a:t>
            </a:r>
            <a:endParaRPr lang="en-US" sz="1250" dirty="0"/>
          </a:p>
        </p:txBody>
      </p:sp>
      <p:sp>
        <p:nvSpPr>
          <p:cNvPr id="26" name="card-199"/>
          <p:cNvSpPr/>
          <p:nvPr/>
        </p:nvSpPr>
        <p:spPr>
          <a:xfrm>
            <a:off x="6210148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badge-200"/>
          <p:cNvSpPr/>
          <p:nvPr/>
        </p:nvSpPr>
        <p:spPr>
          <a:xfrm>
            <a:off x="6438748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label-201"/>
          <p:cNvSpPr txBox="1"/>
          <p:nvPr/>
        </p:nvSpPr>
        <p:spPr>
          <a:xfrm>
            <a:off x="6895948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质量门</a:t>
            </a:r>
            <a:endParaRPr lang="en-US" sz="1500" dirty="0"/>
          </a:p>
        </p:txBody>
      </p:sp>
      <p:sp>
        <p:nvSpPr>
          <p:cNvPr id="29" name="label-202"/>
          <p:cNvSpPr txBox="1"/>
          <p:nvPr/>
        </p:nvSpPr>
        <p:spPr>
          <a:xfrm>
            <a:off x="6438748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规则检查 + 科研审查员；工具失败不算“阴性结果”。</a:t>
            </a:r>
            <a:endParaRPr lang="en-US" sz="1250" dirty="0"/>
          </a:p>
        </p:txBody>
      </p:sp>
      <p:sp>
        <p:nvSpPr>
          <p:cNvPr id="30" name="card-203"/>
          <p:cNvSpPr/>
          <p:nvPr/>
        </p:nvSpPr>
        <p:spPr>
          <a:xfrm>
            <a:off x="9040901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badge-204"/>
          <p:cNvSpPr/>
          <p:nvPr/>
        </p:nvSpPr>
        <p:spPr>
          <a:xfrm>
            <a:off x="9269501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label-205"/>
          <p:cNvSpPr txBox="1"/>
          <p:nvPr/>
        </p:nvSpPr>
        <p:spPr>
          <a:xfrm>
            <a:off x="9726701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写作专家</a:t>
            </a:r>
            <a:endParaRPr lang="en-US" sz="1500" dirty="0"/>
          </a:p>
        </p:txBody>
      </p:sp>
      <p:sp>
        <p:nvSpPr>
          <p:cNvPr id="33" name="label-206"/>
          <p:cNvSpPr txBox="1"/>
          <p:nvPr/>
        </p:nvSpPr>
        <p:spPr>
          <a:xfrm>
            <a:off x="9269501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把通过质量门的发现综合成报告，结论附证据编号。</a:t>
            </a:r>
            <a:endParaRPr lang="en-US" sz="1250" dirty="0"/>
          </a:p>
        </p:txBody>
      </p:sp>
      <p:sp>
        <p:nvSpPr>
          <p:cNvPr id="34" name="label-207"/>
          <p:cNvSpPr txBox="1"/>
          <p:nvPr/>
        </p:nvSpPr>
        <p:spPr>
          <a:xfrm>
            <a:off x="548640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26 位</a:t>
            </a:r>
            <a:endParaRPr lang="en-US" sz="2800" dirty="0"/>
          </a:p>
        </p:txBody>
      </p:sp>
      <p:sp>
        <p:nvSpPr>
          <p:cNvPr id="35" name="label-208"/>
          <p:cNvSpPr txBox="1"/>
          <p:nvPr/>
        </p:nvSpPr>
        <p:spPr>
          <a:xfrm>
            <a:off x="548640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领域专家角色</a:t>
            </a:r>
            <a:endParaRPr lang="en-US" sz="1200" dirty="0"/>
          </a:p>
        </p:txBody>
      </p:sp>
      <p:sp>
        <p:nvSpPr>
          <p:cNvPr id="36" name="label-209"/>
          <p:cNvSpPr txBox="1"/>
          <p:nvPr/>
        </p:nvSpPr>
        <p:spPr>
          <a:xfrm>
            <a:off x="4246778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15 个</a:t>
            </a:r>
            <a:endParaRPr lang="en-US" sz="2800" dirty="0"/>
          </a:p>
        </p:txBody>
      </p:sp>
      <p:sp>
        <p:nvSpPr>
          <p:cNvPr id="37" name="label-210"/>
          <p:cNvSpPr txBox="1"/>
          <p:nvPr/>
        </p:nvSpPr>
        <p:spPr>
          <a:xfrm>
            <a:off x="4246778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团队模板</a:t>
            </a:r>
            <a:endParaRPr lang="en-US" sz="1200" dirty="0"/>
          </a:p>
        </p:txBody>
      </p:sp>
      <p:sp>
        <p:nvSpPr>
          <p:cNvPr id="38" name="label-211"/>
          <p:cNvSpPr txBox="1"/>
          <p:nvPr/>
        </p:nvSpPr>
        <p:spPr>
          <a:xfrm>
            <a:off x="7944917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@</a:t>
            </a:r>
            <a:endParaRPr lang="en-US" sz="2800" dirty="0"/>
          </a:p>
        </p:txBody>
      </p:sp>
      <p:sp>
        <p:nvSpPr>
          <p:cNvPr id="39" name="label-212"/>
          <p:cNvSpPr txBox="1"/>
          <p:nvPr/>
        </p:nvSpPr>
        <p:spPr>
          <a:xfrm>
            <a:off x="7944917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直接点名专家</a:t>
            </a:r>
            <a:endParaRPr lang="en-US" sz="1200" dirty="0"/>
          </a:p>
        </p:txBody>
      </p:sp>
      <p:sp>
        <p:nvSpPr>
          <p:cNvPr id="40" name="label-213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实现状态：2.x 已具备，3.0 继续完善。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 类设计：本地运行时：直接用已有 AI 订阅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 类管“在哪里跑、用谁的额度”：科研与临床数据留在本机，复用已订阅的 AI 命令行工具。</a:t>
            </a:r>
            <a:endParaRPr lang="en-US" sz="1500" dirty="0"/>
          </a:p>
        </p:txBody>
      </p:sp>
      <p:sp>
        <p:nvSpPr>
          <p:cNvPr id="4" name="card-214"/>
          <p:cNvSpPr/>
          <p:nvPr/>
        </p:nvSpPr>
        <p:spPr>
          <a:xfrm>
            <a:off x="548640" y="1600200"/>
            <a:ext cx="603504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ox-215"/>
          <p:cNvSpPr/>
          <p:nvPr/>
        </p:nvSpPr>
        <p:spPr>
          <a:xfrm>
            <a:off x="822960" y="214884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研究请求</a:t>
            </a:r>
            <a:endParaRPr lang="en-US" sz="1400" dirty="0"/>
          </a:p>
        </p:txBody>
      </p:sp>
      <p:sp>
        <p:nvSpPr>
          <p:cNvPr id="6" name="arrow-216"/>
          <p:cNvSpPr/>
          <p:nvPr/>
        </p:nvSpPr>
        <p:spPr>
          <a:xfrm>
            <a:off x="2304288" y="2468880"/>
            <a:ext cx="34747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box-217"/>
          <p:cNvSpPr/>
          <p:nvPr/>
        </p:nvSpPr>
        <p:spPr>
          <a:xfrm>
            <a:off x="2651760" y="214884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执行路由</a:t>
            </a:r>
            <a:endParaRPr lang="en-US" sz="1400" dirty="0"/>
          </a:p>
        </p:txBody>
      </p:sp>
      <p:sp>
        <p:nvSpPr>
          <p:cNvPr id="8" name="arrow-218"/>
          <p:cNvSpPr/>
          <p:nvPr/>
        </p:nvSpPr>
        <p:spPr>
          <a:xfrm flipV="1">
            <a:off x="4041648" y="1947672"/>
            <a:ext cx="393192" cy="38404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arrow-219"/>
          <p:cNvSpPr/>
          <p:nvPr/>
        </p:nvSpPr>
        <p:spPr>
          <a:xfrm>
            <a:off x="4041648" y="2606040"/>
            <a:ext cx="393192" cy="38404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box-220"/>
          <p:cNvSpPr/>
          <p:nvPr/>
        </p:nvSpPr>
        <p:spPr>
          <a:xfrm>
            <a:off x="4434840" y="1737360"/>
            <a:ext cx="1874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11" name="box-221"/>
          <p:cNvSpPr/>
          <p:nvPr/>
        </p:nvSpPr>
        <p:spPr>
          <a:xfrm>
            <a:off x="4434840" y="2761488"/>
            <a:ext cx="187452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12" name="bullets-222"/>
          <p:cNvSpPr txBox="1"/>
          <p:nvPr/>
        </p:nvSpPr>
        <p:spPr>
          <a:xfrm>
            <a:off x="822960" y="35204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临床数据门：原始病历与影像在本机沙盒内处理，外发需授权</a:t>
            </a:r>
            <a:endParaRPr lang="en-US" sz="1300" dirty="0"/>
          </a:p>
        </p:txBody>
      </p:sp>
      <p:sp>
        <p:nvSpPr>
          <p:cNvPr id="13" name="label-223"/>
          <p:cNvSpPr txBox="1"/>
          <p:nvPr/>
        </p:nvSpPr>
        <p:spPr>
          <a:xfrm>
            <a:off x="822960" y="54406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pic>
        <p:nvPicPr>
          <p:cNvPr id="14" name="screenshot-224" descr="运行时页面：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9738" y="1600200"/>
            <a:ext cx="4001579" cy="4160520"/>
          </a:xfrm>
          <a:prstGeom prst="rect">
            <a:avLst/>
          </a:prstGeom>
        </p:spPr>
      </p:pic>
      <p:sp>
        <p:nvSpPr>
          <p:cNvPr id="15" name="frame-225"/>
          <p:cNvSpPr/>
          <p:nvPr/>
        </p:nvSpPr>
        <p:spPr>
          <a:xfrm>
            <a:off x="7249738" y="1600200"/>
            <a:ext cx="4001579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26"/>
          <p:cNvSpPr txBox="1"/>
          <p:nvPr/>
        </p:nvSpPr>
        <p:spPr>
          <a:xfrm>
            <a:off x="7249738" y="5833872"/>
            <a:ext cx="40015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运行时页面：自动检测到本机的 Claude Code</a:t>
            </a:r>
            <a:endParaRPr lang="en-US" sz="1100" dirty="0"/>
          </a:p>
        </p:txBody>
      </p:sp>
      <p:sp>
        <p:nvSpPr>
          <p:cNvPr id="17" name="label-227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实现状态：2.x 已具备，3.0 继续完善。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228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229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30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31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32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33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34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35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36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37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查看每条证据的来源与状态（3.0 证据页）。</a:t>
            </a:r>
            <a:endParaRPr lang="en-US" sz="1200" dirty="0"/>
          </a:p>
        </p:txBody>
      </p:sp>
      <p:pic>
        <p:nvPicPr>
          <p:cNvPr id="14" name="screenshot-238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39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40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41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42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43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44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45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46" descr="3.0 证据页：来源、状态、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47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48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3.0 证据页：来源、状态、历史</a:t>
            </a:r>
            <a:endParaRPr lang="en-US" sz="1100" dirty="0"/>
          </a:p>
        </p:txBody>
      </p:sp>
      <p:sp>
        <p:nvSpPr>
          <p:cNvPr id="25" name="label-249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B、C 已落地；A 类三个设计中，时间证据状态机已有原型，其余两个在设计中。</a:t>
            </a:r>
            <a:endParaRPr lang="en-US" sz="1500" dirty="0"/>
          </a:p>
        </p:txBody>
      </p:sp>
      <p:sp>
        <p:nvSpPr>
          <p:cNvPr id="4" name="card-250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51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52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53"/>
          <p:cNvSpPr txBox="1"/>
          <p:nvPr/>
        </p:nvSpPr>
        <p:spPr>
          <a:xfrm>
            <a:off x="822960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v3.0.0 已发布：三平台安装包和本地 Web 版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 多智能体协作、C 本地运行时已落地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A1 状态机原型：依赖级联与撤稿扫描，真实案例写成自动化测试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实测：40% 的问题存在同源论文</a:t>
            </a:r>
            <a:endParaRPr lang="en-US" sz="1400" dirty="0"/>
          </a:p>
        </p:txBody>
      </p:sp>
      <p:sp>
        <p:nvSpPr>
          <p:cNvPr id="8" name="card-254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55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56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尚待完成</a:t>
            </a:r>
            <a:endParaRPr lang="en-US" sz="1800" dirty="0"/>
          </a:p>
        </p:txBody>
      </p:sp>
      <p:sp>
        <p:nvSpPr>
          <p:cNvPr id="11" name="bullets-257"/>
          <p:cNvSpPr txBox="1"/>
          <p:nvPr/>
        </p:nvSpPr>
        <p:spPr>
          <a:xfrm>
            <a:off x="4612538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A1 状态名称对齐四种状态，接入试验终止、安全信号等事件源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A2 等价类聚合、A3 矛盾优先验证尚未实现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文献检索目前只返回标题，需附上摘要</a:t>
            </a:r>
            <a:endParaRPr lang="en-US" sz="1400" dirty="0"/>
          </a:p>
        </p:txBody>
      </p:sp>
      <p:sp>
        <p:nvSpPr>
          <p:cNvPr id="12" name="card-258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59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60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61"/>
          <p:cNvSpPr txBox="1"/>
          <p:nvPr/>
        </p:nvSpPr>
        <p:spPr>
          <a:xfrm>
            <a:off x="8402117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实现 A1–A3 三个设计并接入正式流程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无人工标注的评测：用公开结局（获批 / 疗效失败）检验三个设计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在结论不确定的问题上复核同源影响（只给标题 vs 附摘要）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400" dirty="0"/>
          </a:p>
        </p:txBody>
      </p:sp>
      <p:sp>
        <p:nvSpPr>
          <p:cNvPr id="16" name="ask-262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63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请审阅：是否支持实现 A 类三个设计并开展评测（下一步第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2026-10-07T15:02:06Z</dcterms:created>
  <dcterms:modified xsi:type="dcterms:W3CDTF">2026-10-07T15:02:06Z</dcterms:modified>
</cp:coreProperties>
</file>