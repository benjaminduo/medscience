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3344a67d-bd4a-7f3b-5340-2f0a79df02d5}">
          <p14:sldIdLst>
            <p14:sldId id="256"/>
          </p14:sldIdLst>
        </p14:section>
        <p14:section name="为什么" id="{6e04994c-9219-a7e8-dfb3-f7ddfd875bfd}">
          <p14:sldIdLst>
            <p14:sldId id="257"/>
            <p14:sldId id="258"/>
          </p14:sldIdLst>
        </p14:section>
        <p14:section name="怎么设计" id="{2f1c2109-ddf4-2d16-c4b2-19ed87b4fb3b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怎么用" id="{8e09d48f-5af5-0287-e113-fcf3a9978b9a}">
          <p14:sldIdLst>
            <p14:sldId id="265"/>
          </p14:sldIdLst>
        </p14:section>
        <p14:section name="下一步" id="{10669b09-44b0-5cfd-4397-7738921c832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是一个面向生物医学研究的科研智能体系统，不是通用聊天助手。3.0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左列是四个痛点，中间是同类方案通常怎么做，右列是我们的回应。前三个对应 3.0 新增的证据治理设计，第四个对应本地运行时。同类方案只引用公开资料，不评价其未公开能力。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 3.0 新增的一层（绿色框），属于智能体的推理架构；B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上排是一次科研提问的完整路径，每一步下面的小字是这一步产生的数据。绿色四步由 3.0 新增的证据治理层完成。下方是回路：科研结论的依据会被新研究推翻，比如药品因新的安全性试验撤市。证据在账本里被标记后，依赖它的结论在同一操作里自动转为“有争议”，原因写入哈希链，可以审计；恢复证据不会自动恢复结论，需要重新论证。后面两页用伏塞洛托和 Makena 两个真实案例说明。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3.0 的核心。证据和结论有六种状态，只能沿箭头迁移：新证据先是候选，通过准入门禁才算已验证，否则隔离。准入门禁检查的是来源能否追溯、是否过期、数值是否在物理范围内、是否含未授权的患者数据、是否已被撤稿，不评价研究质量本身。关键是依赖级联，用伏塞洛托举例：2019 年它凭 HOPE 试验中血红蛋白升高获得加速批准，账本里有两条已验证结论，A“可用于治疗镰状细胞病”依据批准和 HOPE 试验，B“能提高血红蛋白”只依据 HOPE。2024 年上市后数据显示血管闭塞危象和死亡增多，药品全球撤市，审查人把“批准”证据标为已撤销，A 自动转为有争议；B 不依赖批准，保持不变，因为血红蛋白确实升高了。这正是替代指标改善不等于临床获益的典型例子。这个例子已写成自动化测试，文献编号经 PubMed 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第二个案例换一个角度：不是药品撤市，而是证据之间互相矛盾。17-羟孕酮己酸酯（Makena）在 2003 年的 Meis 试验中显示能降低复发性早产风险，2011 年据此获得加速批准。确证性试验 PROLONG 在 2019 到 2020 年发表，没有重复出这个效果，FDA 在 2023 年撤销批准。在账本里，PROLONG 作为反证录入后，结论 A 转为“有争议”，但 Meis 试验并没有被删除，两项试验的分歧被如实保留，系统不替人裁决。2023 年批准撤销，新结论 A′“确证试验未见效果”通过验证后取代 A，A 的完整历史仍可查。这个例子同样写成了自动化测试。需要说明：反证录入和结论取代目前通过接口完成，界面上的入口还没有做。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信息增益取证。先用类比：量体温分不开流感和感冒，抗原检测才分得开；信息增益就是给每项查询“能把有效和无效分开多少”打分。原来的概率表是人工设定的，我们用真实数据做了实测：一组是已有获批药物的靶点，一组是药物因疗效不足在二、三期试验中失败、至今没有获批药物的靶点。结果是，只看靶点本身的三种查询——查序列、查临床试验、查化合物活性——两组几乎一样，信息增益接近 0。原因不难理解：能走到二、三期的靶点本来就都有强效化合物，活性说明能不能成药，不说明有没有效。看靶点和这个疾病之间的关系就不一样了：有动物模型证据的比例是 38% 对 17%，有人类遗传学证据的是 35% 对 17%，这和 Nature 2024 的结论一致，有遗传学支持的药物机制成功率高 2.6 倍。所以改进方向是把查询从“按靶点”改成“按靶点和疾病”。需要说明两点：第一，样本还小，动物模型差异显著，遗传学接近显著；第二，系统目前还是按靶点查询，这项改进放在下一版。关于普适性：计算方法是通用的，但概率表和具体该查什么，随问题类型而定；换一类问题，比如生物标志物的诊断价值，需要用这一类已知答案的案例重新实测一次，流程和代码不变。右边是共形三分判定：用一批已知结果的历史假设校准，结论以“可能成立的结果集合”给出，集合里只有一个答案才下结论；两个都可能就是证据不足。校准后错误率有统计保证，没校准时系统会明确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左边是多智能体协作：队长拆解任务，成员并行，交接时每条发现都要附证据编号，再过质量门，最后成文。内置 26 位专家、15 个团队模板。右边是本地运行时：很多团队已经买了 ChatGPT（Codex）或 Claude 的订阅，MedScience 可以直接调用本机已登录的命令行工具，沿用现有额度，不需要 API 密钥。注意除 Codex 和 Claude Code 外其他工具是通用接入，并请确认订阅条款允许这样使用。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点名专家，以及智能体调用工具的记录；右图是证据账本，每条证据的状态、来源和完整历史都能查到。截图都来自真实运行的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设计已全部落地并发布，可以下载试用；尚待验证的是有效性。最需要的支持是领域专家标注一批真实假设，用于校准和评测，然后做同等预算的对照实验；同时把查询改为按“靶点–疾病”进行，优先取遗传学和动物模型证据，这一点已有实测数据支持。结果稳定后发布正式版并整理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1005840" cy="82296"/>
          </a:xfrm>
          <a:prstGeom prst="rect">
            <a:avLst/>
          </a:prstGeom>
          <a:solidFill>
            <a:srgbClr val="0E8A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面向生物医学研究的科研智能体系统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B6B7C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一句话：面向生物医学研究——让科研结论有证据、能撤回、说得清可信度，科研数据不出本机。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能很快给出科研结论，但依据哪些文献和数据、依据被新研究推翻后怎么办、可信度多高，往往说不清。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三类设计：证据治理（结论必须挂靠已验证的文献与数据库证据）、多智能体协作（像课题组一样分工、审查把关）、本地运行（科研与临床数据留在本机）。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版，自动化测试在三个平台通过。真实任务上的对照实验尚待开展。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科研领域专家角色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问题与定位：科研场景的四个痛点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同类科研智能体各有所长；MedScience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383280"/>
                <a:gridCol w="38706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的回应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结论难追溯，错误会固化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依据的试验或数据被新研究推翻，结论仍被反复引用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检索后生成带引用的报告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证据账本：证据持久保存；依据失效，相关结论自动降级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专家意见分歧时，下一步查什么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多轮辩论易互相附和，且耗算力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多智能体生成、辩论、排序假设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Google AI co-scientist）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信息增益取证：把分歧变成“下一步最该查什么”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假设成立与否，可信度说不清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“80% 可信”从何而来，无法核验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自动打分或排名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（分数本身缺少统计口径）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共形三分判定：支持 / 反驳 / 不确定，各有统计含义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本地运行：数据留本机，复用已订阅的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均为科研智能体系统层面的架构设计，不修改基础大模型；底层模型可以随时替换。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管“结论凭什么成立”（3.0 新增）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信息增益取证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429768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共形三分判定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617220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准入门禁</a:t>
            </a:r>
            <a:endParaRPr lang="en-US" sz="1250" dirty="0"/>
          </a:p>
        </p:txBody>
      </p:sp>
      <p:sp>
        <p:nvSpPr>
          <p:cNvPr id="28" name="box-48"/>
          <p:cNvSpPr/>
          <p:nvPr/>
        </p:nvSpPr>
        <p:spPr>
          <a:xfrm>
            <a:off x="804672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证据账本</a:t>
            </a:r>
            <a:endParaRPr lang="en-US" sz="1250" dirty="0"/>
          </a:p>
        </p:txBody>
      </p:sp>
      <p:sp>
        <p:nvSpPr>
          <p:cNvPr id="29" name="box-49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30" name="layer-50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1" name="box-51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科研数据库连接器</a:t>
            </a:r>
            <a:endParaRPr lang="en-US" sz="1250" dirty="0"/>
          </a:p>
        </p:txBody>
      </p:sp>
      <p:sp>
        <p:nvSpPr>
          <p:cNvPr id="34" name="box-54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5" name="box-55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6" name="layer-56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7" name="box-57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证据账本 · 加密密钥库 · 配置</a:t>
            </a:r>
            <a:endParaRPr lang="en-US" sz="1250" dirty="0"/>
          </a:p>
        </p:txBody>
      </p:sp>
      <p:sp>
        <p:nvSpPr>
          <p:cNvPr id="38" name="hooks-58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label-59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40" name="label-60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41" name="box-61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3" name="box-63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4" name="box-64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一次科研提问的数据流转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每一步都留下记录；依据被新研究推翻时，结论会被“追回”。</a:t>
            </a:r>
            <a:endParaRPr lang="en-US" sz="1500" dirty="0"/>
          </a:p>
        </p:txBody>
      </p:sp>
      <p:sp>
        <p:nvSpPr>
          <p:cNvPr id="4" name="badge-65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6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7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8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9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70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71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2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3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4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按收益取证</a:t>
            </a:r>
            <a:endParaRPr lang="en-US" sz="1350" dirty="0"/>
          </a:p>
        </p:txBody>
      </p:sp>
      <p:sp>
        <p:nvSpPr>
          <p:cNvPr id="14" name="label-75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工具结果</a:t>
            </a:r>
            <a:endParaRPr lang="en-US" sz="1150" dirty="0"/>
          </a:p>
        </p:txBody>
      </p:sp>
      <p:sp>
        <p:nvSpPr>
          <p:cNvPr id="15" name="arrow-76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7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8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数值核验</a:t>
            </a:r>
            <a:endParaRPr lang="en-US" sz="1350" dirty="0"/>
          </a:p>
        </p:txBody>
      </p:sp>
      <p:sp>
        <p:nvSpPr>
          <p:cNvPr id="18" name="label-79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会话证据 EV-n</a:t>
            </a:r>
            <a:endParaRPr lang="en-US" sz="1150" dirty="0"/>
          </a:p>
        </p:txBody>
      </p:sp>
      <p:sp>
        <p:nvSpPr>
          <p:cNvPr id="19" name="arrow-80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81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2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准入门禁</a:t>
            </a:r>
            <a:endParaRPr lang="en-US" sz="1350" dirty="0"/>
          </a:p>
        </p:txBody>
      </p:sp>
      <p:sp>
        <p:nvSpPr>
          <p:cNvPr id="22" name="label-83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候选证据</a:t>
            </a:r>
            <a:endParaRPr lang="en-US" sz="1150" dirty="0"/>
          </a:p>
        </p:txBody>
      </p:sp>
      <p:sp>
        <p:nvSpPr>
          <p:cNvPr id="23" name="arrow-84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5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6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证据账本</a:t>
            </a:r>
            <a:endParaRPr lang="en-US" sz="1350" dirty="0"/>
          </a:p>
        </p:txBody>
      </p:sp>
      <p:sp>
        <p:nvSpPr>
          <p:cNvPr id="26" name="label-87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已验证 / 已隔离</a:t>
            </a:r>
            <a:endParaRPr lang="en-US" sz="1150" dirty="0"/>
          </a:p>
        </p:txBody>
      </p:sp>
      <p:sp>
        <p:nvSpPr>
          <p:cNvPr id="27" name="arrow-88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9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90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共形判定</a:t>
            </a:r>
            <a:endParaRPr lang="en-US" sz="1350" dirty="0"/>
          </a:p>
        </p:txBody>
      </p:sp>
      <p:sp>
        <p:nvSpPr>
          <p:cNvPr id="30" name="label-91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预测集</a:t>
            </a:r>
            <a:endParaRPr lang="en-US" sz="1150" dirty="0"/>
          </a:p>
        </p:txBody>
      </p:sp>
      <p:sp>
        <p:nvSpPr>
          <p:cNvPr id="31" name="arrow-92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3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4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5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6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7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类，3.0 新增）完成的步骤</a:t>
            </a:r>
            <a:endParaRPr lang="en-US" sz="1150" dirty="0"/>
          </a:p>
        </p:txBody>
      </p:sp>
      <p:sp>
        <p:nvSpPr>
          <p:cNvPr id="37" name="card-98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9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依据被推翻时的回路</a:t>
            </a:r>
            <a:endParaRPr lang="en-US" sz="1500" dirty="0"/>
          </a:p>
        </p:txBody>
      </p:sp>
      <p:sp>
        <p:nvSpPr>
          <p:cNvPr id="39" name="box-100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新研究推翻依据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（如药品撤市、新试验结果）</a:t>
            </a:r>
            <a:endParaRPr lang="en-US" sz="1300" dirty="0"/>
          </a:p>
        </p:txBody>
      </p:sp>
      <p:sp>
        <p:nvSpPr>
          <p:cNvPr id="40" name="arrow-101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2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在账本中标记该证据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（审查人标注 / 自动扫描）</a:t>
            </a:r>
            <a:endParaRPr lang="en-US" sz="1300" dirty="0"/>
          </a:p>
        </p:txBody>
      </p:sp>
      <p:sp>
        <p:nvSpPr>
          <p:cNvPr id="42" name="arrow-103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4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依赖它的结论：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自动转为“有争议”</a:t>
            </a:r>
            <a:endParaRPr lang="en-US" sz="1300" dirty="0"/>
          </a:p>
        </p:txBody>
      </p:sp>
      <p:sp>
        <p:nvSpPr>
          <p:cNvPr id="44" name="arrow-105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6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提示复核：重新论证，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或以新结论取代</a:t>
            </a:r>
            <a:endParaRPr lang="en-US" sz="1300" dirty="0"/>
          </a:p>
        </p:txBody>
      </p:sp>
      <p:sp>
        <p:nvSpPr>
          <p:cNvPr id="46" name="label-107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例：2024 年伏塞洛托（Oxbryta）因上市后数据显示死亡增多而撤市 → “批准”证据被撤销 → “可用于治疗镰状细胞病”的结论自动降级。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核心设计：证据账本——结论必须有据可查、可以撤回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①：每条证据经准入门禁才算数；依据被推翻，结论自动降级。</a:t>
            </a:r>
            <a:endParaRPr lang="en-US" sz="1500" dirty="0"/>
          </a:p>
        </p:txBody>
      </p:sp>
      <p:sp>
        <p:nvSpPr>
          <p:cNvPr id="4" name="box-108"/>
          <p:cNvSpPr/>
          <p:nvPr/>
        </p:nvSpPr>
        <p:spPr>
          <a:xfrm>
            <a:off x="5486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5B6B7C"/>
          </a:solidFill>
          <a:ln w="6350">
            <a:solidFill>
              <a:srgbClr val="5B6B7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候选</a:t>
            </a:r>
            <a:endParaRPr lang="en-US" sz="1500" dirty="0"/>
          </a:p>
        </p:txBody>
      </p:sp>
      <p:sp>
        <p:nvSpPr>
          <p:cNvPr id="5" name="box-109"/>
          <p:cNvSpPr/>
          <p:nvPr/>
        </p:nvSpPr>
        <p:spPr>
          <a:xfrm>
            <a:off x="27889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E8A7E"/>
          </a:solidFill>
          <a:ln w="635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已验证</a:t>
            </a:r>
            <a:endParaRPr lang="en-US" sz="1500" dirty="0"/>
          </a:p>
        </p:txBody>
      </p:sp>
      <p:sp>
        <p:nvSpPr>
          <p:cNvPr id="6" name="box-110"/>
          <p:cNvSpPr/>
          <p:nvPr/>
        </p:nvSpPr>
        <p:spPr>
          <a:xfrm>
            <a:off x="4892040" y="16002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C9792A"/>
          </a:solidFill>
          <a:ln w="635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有争议</a:t>
            </a:r>
            <a:endParaRPr lang="en-US" sz="1500" dirty="0"/>
          </a:p>
        </p:txBody>
      </p:sp>
      <p:sp>
        <p:nvSpPr>
          <p:cNvPr id="7" name="label-111"/>
          <p:cNvSpPr txBox="1"/>
          <p:nvPr/>
        </p:nvSpPr>
        <p:spPr>
          <a:xfrm>
            <a:off x="6400800" y="16002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被反驳</a:t>
            </a:r>
            <a:endParaRPr lang="en-US" sz="1100" dirty="0"/>
          </a:p>
        </p:txBody>
      </p:sp>
      <p:sp>
        <p:nvSpPr>
          <p:cNvPr id="8" name="box-112"/>
          <p:cNvSpPr/>
          <p:nvPr/>
        </p:nvSpPr>
        <p:spPr>
          <a:xfrm>
            <a:off x="48920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1F5F99"/>
          </a:solidFill>
          <a:ln w="6350">
            <a:solidFill>
              <a:srgbClr val="1F5F99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已取代</a:t>
            </a:r>
            <a:endParaRPr lang="en-US" sz="1500" dirty="0"/>
          </a:p>
        </p:txBody>
      </p:sp>
      <p:sp>
        <p:nvSpPr>
          <p:cNvPr id="9" name="label-113"/>
          <p:cNvSpPr txBox="1"/>
          <p:nvPr/>
        </p:nvSpPr>
        <p:spPr>
          <a:xfrm>
            <a:off x="6400800" y="233172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被取代</a:t>
            </a:r>
            <a:endParaRPr lang="en-US" sz="1100" dirty="0"/>
          </a:p>
        </p:txBody>
      </p:sp>
      <p:sp>
        <p:nvSpPr>
          <p:cNvPr id="10" name="box-114"/>
          <p:cNvSpPr/>
          <p:nvPr/>
        </p:nvSpPr>
        <p:spPr>
          <a:xfrm>
            <a:off x="4892040" y="306324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B4233A"/>
          </a:solidFill>
          <a:ln w="6350">
            <a:solidFill>
              <a:srgbClr val="B4233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已撤销</a:t>
            </a:r>
            <a:endParaRPr lang="en-US" sz="1500" dirty="0"/>
          </a:p>
        </p:txBody>
      </p:sp>
      <p:sp>
        <p:nvSpPr>
          <p:cNvPr id="11" name="label-115"/>
          <p:cNvSpPr txBox="1"/>
          <p:nvPr/>
        </p:nvSpPr>
        <p:spPr>
          <a:xfrm>
            <a:off x="6400800" y="306324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撤市 / 撤稿</a:t>
            </a:r>
            <a:endParaRPr lang="en-US" sz="1100" dirty="0"/>
          </a:p>
        </p:txBody>
      </p:sp>
      <p:sp>
        <p:nvSpPr>
          <p:cNvPr id="12" name="box-116"/>
          <p:cNvSpPr/>
          <p:nvPr/>
        </p:nvSpPr>
        <p:spPr>
          <a:xfrm>
            <a:off x="548640" y="39319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A0522D"/>
          </a:solidFill>
          <a:ln w="6350">
            <a:solidFill>
              <a:srgbClr val="A0522D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已隔离</a:t>
            </a:r>
            <a:endParaRPr lang="en-US" sz="1500" dirty="0"/>
          </a:p>
        </p:txBody>
      </p:sp>
      <p:sp>
        <p:nvSpPr>
          <p:cNvPr id="13" name="arrow-117"/>
          <p:cNvSpPr/>
          <p:nvPr/>
        </p:nvSpPr>
        <p:spPr>
          <a:xfrm>
            <a:off x="1965960" y="2615184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label-118"/>
          <p:cNvSpPr txBox="1"/>
          <p:nvPr/>
        </p:nvSpPr>
        <p:spPr>
          <a:xfrm>
            <a:off x="1965960" y="1965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通过门禁</a:t>
            </a:r>
            <a:endParaRPr lang="en-US" sz="1100" dirty="0"/>
          </a:p>
        </p:txBody>
      </p:sp>
      <p:sp>
        <p:nvSpPr>
          <p:cNvPr id="15" name="arrow-119"/>
          <p:cNvSpPr/>
          <p:nvPr/>
        </p:nvSpPr>
        <p:spPr>
          <a:xfrm flipV="1">
            <a:off x="4206240" y="188366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rrow-120"/>
          <p:cNvSpPr/>
          <p:nvPr/>
        </p:nvSpPr>
        <p:spPr>
          <a:xfrm>
            <a:off x="4206240" y="2615184"/>
            <a:ext cx="6858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arrow-121"/>
          <p:cNvSpPr/>
          <p:nvPr/>
        </p:nvSpPr>
        <p:spPr>
          <a:xfrm>
            <a:off x="4206240" y="261518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arrow-122"/>
          <p:cNvSpPr/>
          <p:nvPr/>
        </p:nvSpPr>
        <p:spPr>
          <a:xfrm>
            <a:off x="1257300" y="2898648"/>
            <a:ext cx="0" cy="10332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label-123"/>
          <p:cNvSpPr txBox="1"/>
          <p:nvPr/>
        </p:nvSpPr>
        <p:spPr>
          <a:xfrm>
            <a:off x="134874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未通过门禁</a:t>
            </a:r>
            <a:endParaRPr lang="en-US" sz="1100" dirty="0"/>
          </a:p>
        </p:txBody>
      </p:sp>
      <p:sp>
        <p:nvSpPr>
          <p:cNvPr id="20" name="arrow-124"/>
          <p:cNvSpPr/>
          <p:nvPr/>
        </p:nvSpPr>
        <p:spPr>
          <a:xfrm flipV="1">
            <a:off x="1965960" y="3630168"/>
            <a:ext cx="2926080" cy="585216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21" name="label-125"/>
          <p:cNvSpPr txBox="1"/>
          <p:nvPr/>
        </p:nvSpPr>
        <p:spPr>
          <a:xfrm>
            <a:off x="260604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确认无效</a:t>
            </a:r>
            <a:endParaRPr lang="en-US" sz="1050" dirty="0"/>
          </a:p>
        </p:txBody>
      </p:sp>
      <p:sp>
        <p:nvSpPr>
          <p:cNvPr id="22" name="card-126"/>
          <p:cNvSpPr/>
          <p:nvPr/>
        </p:nvSpPr>
        <p:spPr>
          <a:xfrm>
            <a:off x="548640" y="4590288"/>
            <a:ext cx="6400800" cy="1737360"/>
          </a:xfrm>
          <a:prstGeom prst="roundRect">
            <a:avLst>
              <a:gd name="adj" fmla="val 5263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3" name="label-127"/>
          <p:cNvSpPr txBox="1"/>
          <p:nvPr/>
        </p:nvSpPr>
        <p:spPr>
          <a:xfrm>
            <a:off x="777240" y="46817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案例一：伏塞洛托（Oxbryta），镰状细胞病</a:t>
            </a:r>
            <a:endParaRPr lang="en-US" sz="1400" dirty="0"/>
          </a:p>
        </p:txBody>
      </p:sp>
      <p:sp>
        <p:nvSpPr>
          <p:cNvPr id="24" name="label-128"/>
          <p:cNvSpPr txBox="1"/>
          <p:nvPr/>
        </p:nvSpPr>
        <p:spPr>
          <a:xfrm>
            <a:off x="4754880" y="468172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已写成自动化测试</a:t>
            </a:r>
            <a:endParaRPr lang="en-US" sz="1050" dirty="0"/>
          </a:p>
        </p:txBody>
      </p:sp>
      <p:graphicFrame>
        <p:nvGraphicFramePr>
          <p:cNvPr id="7" name="table-1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5029200"/>
          <a:ext cx="5943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48840"/>
                <a:gridCol w="1554480"/>
                <a:gridCol w="15544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可用于治疗该病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能提高血红蛋白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HOPE 试验 + 加速批准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上市后死亡增多，撤市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不受影响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label-130"/>
          <p:cNvSpPr txBox="1"/>
          <p:nvPr/>
        </p:nvSpPr>
        <p:spPr>
          <a:xfrm>
            <a:off x="777240" y="605332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只降级依赖“批准”的结论：血红蛋白确实升高，但患者结局变差。</a:t>
            </a:r>
            <a:endParaRPr lang="en-US" sz="1050" dirty="0"/>
          </a:p>
        </p:txBody>
      </p:sp>
      <p:sp>
        <p:nvSpPr>
          <p:cNvPr id="27" name="badge-131"/>
          <p:cNvSpPr/>
          <p:nvPr/>
        </p:nvSpPr>
        <p:spPr>
          <a:xfrm>
            <a:off x="7498080" y="16459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label-132"/>
          <p:cNvSpPr txBox="1"/>
          <p:nvPr/>
        </p:nvSpPr>
        <p:spPr>
          <a:xfrm>
            <a:off x="8046720" y="162763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准入门禁</a:t>
            </a:r>
            <a:endParaRPr lang="en-US" sz="1700" dirty="0"/>
          </a:p>
        </p:txBody>
      </p:sp>
      <p:sp>
        <p:nvSpPr>
          <p:cNvPr id="29" name="label-133"/>
          <p:cNvSpPr txBox="1"/>
          <p:nvPr/>
        </p:nvSpPr>
        <p:spPr>
          <a:xfrm>
            <a:off x="8046720" y="208483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来源可追溯、未过期、数值在合理范围、不含未授权患者数据、未被撤稿；任一不过即隔离，原因写入账本。不替代对研究质量的专业判断。</a:t>
            </a:r>
            <a:endParaRPr lang="en-US" sz="1400" dirty="0"/>
          </a:p>
        </p:txBody>
      </p:sp>
      <p:sp>
        <p:nvSpPr>
          <p:cNvPr id="30" name="badge-134"/>
          <p:cNvSpPr/>
          <p:nvPr/>
        </p:nvSpPr>
        <p:spPr>
          <a:xfrm>
            <a:off x="7498080" y="31089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label-135"/>
          <p:cNvSpPr txBox="1"/>
          <p:nvPr/>
        </p:nvSpPr>
        <p:spPr>
          <a:xfrm>
            <a:off x="8046720" y="309067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依赖级联</a:t>
            </a:r>
            <a:endParaRPr lang="en-US" sz="1700" dirty="0"/>
          </a:p>
        </p:txBody>
      </p:sp>
      <p:sp>
        <p:nvSpPr>
          <p:cNvPr id="32" name="label-136"/>
          <p:cNvSpPr txBox="1"/>
          <p:nvPr/>
        </p:nvSpPr>
        <p:spPr>
          <a:xfrm>
            <a:off x="8046720" y="354787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证据失效时，依赖它的结论自动降级；恢复证据不会自动恢复结论。</a:t>
            </a:r>
            <a:endParaRPr lang="en-US" sz="1400" dirty="0"/>
          </a:p>
        </p:txBody>
      </p:sp>
      <p:sp>
        <p:nvSpPr>
          <p:cNvPr id="33" name="badge-137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label-138"/>
          <p:cNvSpPr txBox="1"/>
          <p:nvPr/>
        </p:nvSpPr>
        <p:spPr>
          <a:xfrm>
            <a:off x="8046720" y="455371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防篡改</a:t>
            </a:r>
            <a:endParaRPr lang="en-US" sz="1700" dirty="0"/>
          </a:p>
        </p:txBody>
      </p:sp>
      <p:sp>
        <p:nvSpPr>
          <p:cNvPr id="35" name="label-139"/>
          <p:cNvSpPr txBox="1"/>
          <p:nvPr/>
        </p:nvSpPr>
        <p:spPr>
          <a:xfrm>
            <a:off x="8046720" y="501091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每次变更追加写入哈希链；文件被改动会被发现，账本随即锁为只读。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案例二：Makena——确证性试验推翻早期结论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证据相互矛盾时，账本保留分歧、不替人裁决；新结论有据可查地取代旧结论。</a:t>
            </a:r>
            <a:endParaRPr lang="en-US" sz="1500" dirty="0"/>
          </a:p>
        </p:txBody>
      </p:sp>
      <p:sp>
        <p:nvSpPr>
          <p:cNvPr id="4" name="timeline-140"/>
          <p:cNvSpPr/>
          <p:nvPr/>
        </p:nvSpPr>
        <p:spPr>
          <a:xfrm>
            <a:off x="1371600" y="2148840"/>
            <a:ext cx="9448495" cy="0"/>
          </a:xfrm>
          <a:prstGeom prst="line">
            <a:avLst/>
          </a:prstGeom>
          <a:noFill/>
          <a:ln w="25400">
            <a:solidFill>
              <a:srgbClr val="C3CCD6"/>
            </a:solidFill>
            <a:prstDash val="solid"/>
          </a:ln>
        </p:spPr>
      </p:sp>
      <p:sp>
        <p:nvSpPr>
          <p:cNvPr id="5" name="dot-141"/>
          <p:cNvSpPr/>
          <p:nvPr/>
        </p:nvSpPr>
        <p:spPr>
          <a:xfrm>
            <a:off x="1243584" y="202082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label-142"/>
          <p:cNvSpPr txBox="1"/>
          <p:nvPr/>
        </p:nvSpPr>
        <p:spPr>
          <a:xfrm>
            <a:off x="182880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2003</a:t>
            </a:r>
            <a:endParaRPr lang="en-US" sz="1500" dirty="0"/>
          </a:p>
        </p:txBody>
      </p:sp>
      <p:sp>
        <p:nvSpPr>
          <p:cNvPr id="7" name="label-143"/>
          <p:cNvSpPr txBox="1"/>
          <p:nvPr/>
        </p:nvSpPr>
        <p:spPr>
          <a:xfrm>
            <a:off x="91440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Meis 试验</a:t>
            </a:r>
            <a:endParaRPr lang="en-US" sz="1350" dirty="0"/>
          </a:p>
        </p:txBody>
      </p:sp>
      <p:sp>
        <p:nvSpPr>
          <p:cNvPr id="8" name="label-144"/>
          <p:cNvSpPr txBox="1"/>
          <p:nvPr/>
        </p:nvSpPr>
        <p:spPr>
          <a:xfrm>
            <a:off x="91440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早产风险下降</a:t>
            </a:r>
            <a:endParaRPr lang="en-US" sz="1150" dirty="0"/>
          </a:p>
        </p:txBody>
      </p:sp>
      <p:sp>
        <p:nvSpPr>
          <p:cNvPr id="9" name="dot-145"/>
          <p:cNvSpPr/>
          <p:nvPr/>
        </p:nvSpPr>
        <p:spPr>
          <a:xfrm>
            <a:off x="4393082" y="202082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abel-146"/>
          <p:cNvSpPr txBox="1"/>
          <p:nvPr/>
        </p:nvSpPr>
        <p:spPr>
          <a:xfrm>
            <a:off x="3332378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2011</a:t>
            </a:r>
            <a:endParaRPr lang="en-US" sz="1500" dirty="0"/>
          </a:p>
        </p:txBody>
      </p:sp>
      <p:sp>
        <p:nvSpPr>
          <p:cNvPr id="11" name="label-147"/>
          <p:cNvSpPr txBox="1"/>
          <p:nvPr/>
        </p:nvSpPr>
        <p:spPr>
          <a:xfrm>
            <a:off x="3240938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获加速批准</a:t>
            </a:r>
            <a:endParaRPr lang="en-US" sz="1350" dirty="0"/>
          </a:p>
        </p:txBody>
      </p:sp>
      <p:sp>
        <p:nvSpPr>
          <p:cNvPr id="12" name="label-148"/>
          <p:cNvSpPr txBox="1"/>
          <p:nvPr/>
        </p:nvSpPr>
        <p:spPr>
          <a:xfrm>
            <a:off x="3240938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依据上述试验</a:t>
            </a:r>
            <a:endParaRPr lang="en-US" sz="1150" dirty="0"/>
          </a:p>
        </p:txBody>
      </p:sp>
      <p:sp>
        <p:nvSpPr>
          <p:cNvPr id="13" name="dot-149"/>
          <p:cNvSpPr/>
          <p:nvPr/>
        </p:nvSpPr>
        <p:spPr>
          <a:xfrm>
            <a:off x="7542581" y="202082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abel-150"/>
          <p:cNvSpPr txBox="1"/>
          <p:nvPr/>
        </p:nvSpPr>
        <p:spPr>
          <a:xfrm>
            <a:off x="6481877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2019–20</a:t>
            </a:r>
            <a:endParaRPr lang="en-US" sz="1500" dirty="0"/>
          </a:p>
        </p:txBody>
      </p:sp>
      <p:sp>
        <p:nvSpPr>
          <p:cNvPr id="15" name="label-151"/>
          <p:cNvSpPr txBox="1"/>
          <p:nvPr/>
        </p:nvSpPr>
        <p:spPr>
          <a:xfrm>
            <a:off x="6390437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确证试验 PROLONG</a:t>
            </a:r>
            <a:endParaRPr lang="en-US" sz="1350" dirty="0"/>
          </a:p>
        </p:txBody>
      </p:sp>
      <p:sp>
        <p:nvSpPr>
          <p:cNvPr id="16" name="label-152"/>
          <p:cNvSpPr txBox="1"/>
          <p:nvPr/>
        </p:nvSpPr>
        <p:spPr>
          <a:xfrm>
            <a:off x="6390437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未见降低早产</a:t>
            </a:r>
            <a:endParaRPr lang="en-US" sz="1150" dirty="0"/>
          </a:p>
        </p:txBody>
      </p:sp>
      <p:sp>
        <p:nvSpPr>
          <p:cNvPr id="17" name="dot-153"/>
          <p:cNvSpPr/>
          <p:nvPr/>
        </p:nvSpPr>
        <p:spPr>
          <a:xfrm>
            <a:off x="10692079" y="2020824"/>
            <a:ext cx="256032" cy="256032"/>
          </a:xfrm>
          <a:prstGeom prst="ellipse">
            <a:avLst/>
          </a:prstGeom>
          <a:solidFill>
            <a:srgbClr val="B423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label-154"/>
          <p:cNvSpPr txBox="1"/>
          <p:nvPr/>
        </p:nvSpPr>
        <p:spPr>
          <a:xfrm>
            <a:off x="9631375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2023</a:t>
            </a:r>
            <a:endParaRPr lang="en-US" sz="1500" dirty="0"/>
          </a:p>
        </p:txBody>
      </p:sp>
      <p:sp>
        <p:nvSpPr>
          <p:cNvPr id="19" name="label-155"/>
          <p:cNvSpPr txBox="1"/>
          <p:nvPr/>
        </p:nvSpPr>
        <p:spPr>
          <a:xfrm>
            <a:off x="9539935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FDA 撤销批准</a:t>
            </a:r>
            <a:endParaRPr lang="en-US" sz="1350" dirty="0"/>
          </a:p>
        </p:txBody>
      </p:sp>
      <p:sp>
        <p:nvSpPr>
          <p:cNvPr id="20" name="label-156"/>
          <p:cNvSpPr txBox="1"/>
          <p:nvPr/>
        </p:nvSpPr>
        <p:spPr>
          <a:xfrm>
            <a:off x="9539935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药品退出市场</a:t>
            </a:r>
            <a:endParaRPr lang="en-US" sz="1150" dirty="0"/>
          </a:p>
        </p:txBody>
      </p:sp>
      <p:sp>
        <p:nvSpPr>
          <p:cNvPr id="21" name="card-157"/>
          <p:cNvSpPr/>
          <p:nvPr/>
        </p:nvSpPr>
        <p:spPr>
          <a:xfrm>
            <a:off x="548640" y="3200400"/>
            <a:ext cx="6949440" cy="2743200"/>
          </a:xfrm>
          <a:prstGeom prst="roundRect">
            <a:avLst>
              <a:gd name="adj" fmla="val 3333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2" name="label-158"/>
          <p:cNvSpPr txBox="1"/>
          <p:nvPr/>
        </p:nvSpPr>
        <p:spPr>
          <a:xfrm>
            <a:off x="777240" y="331012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账本里发生了什么（结论 A：“17-OHPC 可降低早产风险”）</a:t>
            </a:r>
            <a:endParaRPr lang="en-US" sz="1400" dirty="0"/>
          </a:p>
        </p:txBody>
      </p:sp>
      <p:graphicFrame>
        <p:nvGraphicFramePr>
          <p:cNvPr id="8" name="table-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730752"/>
          <a:ext cx="6492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063240"/>
                <a:gridCol w="27432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账本动作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A 的状态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Meis 试验、批准两条证据通过门禁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PROLONG 作为反证录入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有争议：两项试验结论相反，分歧被保留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批准证据撤销；新结论 A′“确证试验未见效果”通过验证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5F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已取代：由 A′ 取代，历史可查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label-160"/>
          <p:cNvSpPr txBox="1"/>
          <p:nvPr/>
        </p:nvSpPr>
        <p:spPr>
          <a:xfrm>
            <a:off x="7818120" y="324612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这个案例说明</a:t>
            </a:r>
            <a:endParaRPr lang="en-US" sz="1600" dirty="0"/>
          </a:p>
        </p:txBody>
      </p:sp>
      <p:sp>
        <p:nvSpPr>
          <p:cNvPr id="25" name="badge-161"/>
          <p:cNvSpPr/>
          <p:nvPr/>
        </p:nvSpPr>
        <p:spPr>
          <a:xfrm>
            <a:off x="7818120" y="376732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label-162"/>
          <p:cNvSpPr txBox="1"/>
          <p:nvPr/>
        </p:nvSpPr>
        <p:spPr>
          <a:xfrm>
            <a:off x="8257032" y="3749040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新证据不覆盖旧证据</a:t>
            </a:r>
            <a:endParaRPr lang="en-US" sz="1300" dirty="0"/>
          </a:p>
        </p:txBody>
      </p:sp>
      <p:sp>
        <p:nvSpPr>
          <p:cNvPr id="27" name="label-163"/>
          <p:cNvSpPr txBox="1"/>
          <p:nvPr/>
        </p:nvSpPr>
        <p:spPr>
          <a:xfrm>
            <a:off x="8257032" y="4032504"/>
            <a:ext cx="33860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Meis 试验仍在账本中，两项试验的分歧被如实记录。</a:t>
            </a:r>
            <a:endParaRPr lang="en-US" sz="1150" dirty="0"/>
          </a:p>
        </p:txBody>
      </p:sp>
      <p:sp>
        <p:nvSpPr>
          <p:cNvPr id="28" name="badge-164"/>
          <p:cNvSpPr/>
          <p:nvPr/>
        </p:nvSpPr>
        <p:spPr>
          <a:xfrm>
            <a:off x="7818120" y="449884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label-165"/>
          <p:cNvSpPr txBox="1"/>
          <p:nvPr/>
        </p:nvSpPr>
        <p:spPr>
          <a:xfrm>
            <a:off x="8257032" y="4480560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不替人裁决</a:t>
            </a:r>
            <a:endParaRPr lang="en-US" sz="1300" dirty="0"/>
          </a:p>
        </p:txBody>
      </p:sp>
      <p:sp>
        <p:nvSpPr>
          <p:cNvPr id="30" name="label-166"/>
          <p:cNvSpPr txBox="1"/>
          <p:nvPr/>
        </p:nvSpPr>
        <p:spPr>
          <a:xfrm>
            <a:off x="8257032" y="4764024"/>
            <a:ext cx="33860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证据冲突时标为“有争议”，等待专家复核。</a:t>
            </a:r>
            <a:endParaRPr lang="en-US" sz="1150" dirty="0"/>
          </a:p>
        </p:txBody>
      </p:sp>
      <p:sp>
        <p:nvSpPr>
          <p:cNvPr id="31" name="badge-167"/>
          <p:cNvSpPr/>
          <p:nvPr/>
        </p:nvSpPr>
        <p:spPr>
          <a:xfrm>
            <a:off x="7818120" y="523036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label-168"/>
          <p:cNvSpPr txBox="1"/>
          <p:nvPr/>
        </p:nvSpPr>
        <p:spPr>
          <a:xfrm>
            <a:off x="8257032" y="5212080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结论有继承关系</a:t>
            </a:r>
            <a:endParaRPr lang="en-US" sz="1300" dirty="0"/>
          </a:p>
        </p:txBody>
      </p:sp>
      <p:sp>
        <p:nvSpPr>
          <p:cNvPr id="33" name="label-169"/>
          <p:cNvSpPr txBox="1"/>
          <p:nvPr/>
        </p:nvSpPr>
        <p:spPr>
          <a:xfrm>
            <a:off x="8257032" y="5495544"/>
            <a:ext cx="33860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A′ 取代 A；A 从验证到被取代的每一步都可追溯。</a:t>
            </a:r>
            <a:endParaRPr lang="en-US" sz="1150" dirty="0"/>
          </a:p>
        </p:txBody>
      </p:sp>
      <p:sp>
        <p:nvSpPr>
          <p:cNvPr id="34" name="label-170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文献：Meis 等，NEJM 2003（PMID 12802023）；PROLONG，Am J Perinatol 2020（PMID 31652479）。已写成自动化测试；“反证录入”和“结论取代”目前通过接口完成，界面入口待补。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设计点②③：分歧时先查什么，结论何时能下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② 与 ③：用实测数据决定先查什么；用统计校准决定能否下结论。</a:t>
            </a:r>
            <a:endParaRPr lang="en-US" sz="1500" dirty="0"/>
          </a:p>
        </p:txBody>
      </p:sp>
      <p:sp>
        <p:nvSpPr>
          <p:cNvPr id="4" name="card-171"/>
          <p:cNvSpPr/>
          <p:nvPr/>
        </p:nvSpPr>
        <p:spPr>
          <a:xfrm>
            <a:off x="548640" y="1554480"/>
            <a:ext cx="6903720" cy="4526280"/>
          </a:xfrm>
          <a:prstGeom prst="roundRect">
            <a:avLst>
              <a:gd name="adj" fmla="val 202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17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6" name="label-173"/>
          <p:cNvSpPr txBox="1"/>
          <p:nvPr/>
        </p:nvSpPr>
        <p:spPr>
          <a:xfrm>
            <a:off x="1325880" y="1709928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信息增益取证：用实测数据决定先查什么</a:t>
            </a:r>
            <a:endParaRPr lang="en-US" sz="1700" dirty="0"/>
          </a:p>
        </p:txBody>
      </p:sp>
      <p:sp>
        <p:nvSpPr>
          <p:cNvPr id="7" name="box-174"/>
          <p:cNvSpPr/>
          <p:nvPr/>
        </p:nvSpPr>
        <p:spPr>
          <a:xfrm>
            <a:off x="822960" y="2194560"/>
            <a:ext cx="6355080" cy="384048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类比：量体温分不开流感和感冒，抗原检测才分得开。信息增益衡量的就是“能分开多少”。</a:t>
            </a:r>
            <a:endParaRPr lang="en-US" sz="1150" dirty="0"/>
          </a:p>
        </p:txBody>
      </p:sp>
      <p:sp>
        <p:nvSpPr>
          <p:cNvPr id="8" name="label-175"/>
          <p:cNvSpPr txBox="1"/>
          <p:nvPr/>
        </p:nvSpPr>
        <p:spPr>
          <a:xfrm>
            <a:off x="822960" y="265176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实测：真实靶点，已获批（成立）vs 因疗效不足而失败（不成立）</a:t>
            </a:r>
            <a:endParaRPr lang="en-US" sz="1200" dirty="0"/>
          </a:p>
        </p:txBody>
      </p:sp>
      <p:sp>
        <p:nvSpPr>
          <p:cNvPr id="9" name="label-176"/>
          <p:cNvSpPr txBox="1"/>
          <p:nvPr/>
        </p:nvSpPr>
        <p:spPr>
          <a:xfrm>
            <a:off x="2423160" y="292608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成立 vs 不成立</a:t>
            </a:r>
            <a:endParaRPr lang="en-US" sz="950" dirty="0"/>
          </a:p>
        </p:txBody>
      </p:sp>
      <p:sp>
        <p:nvSpPr>
          <p:cNvPr id="10" name="label-177"/>
          <p:cNvSpPr txBox="1"/>
          <p:nvPr/>
        </p:nvSpPr>
        <p:spPr>
          <a:xfrm>
            <a:off x="3749040" y="29260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信息增益（比特）</a:t>
            </a:r>
            <a:endParaRPr lang="en-US" sz="950" dirty="0"/>
          </a:p>
        </p:txBody>
      </p:sp>
      <p:sp>
        <p:nvSpPr>
          <p:cNvPr id="11" name="label-178"/>
          <p:cNvSpPr txBox="1"/>
          <p:nvPr/>
        </p:nvSpPr>
        <p:spPr>
          <a:xfrm>
            <a:off x="822960" y="3163824"/>
            <a:ext cx="6355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只看靶点本身</a:t>
            </a:r>
            <a:endParaRPr lang="en-US" sz="1100" dirty="0"/>
          </a:p>
        </p:txBody>
      </p:sp>
      <p:sp>
        <p:nvSpPr>
          <p:cNvPr id="12" name="label-179"/>
          <p:cNvSpPr txBox="1"/>
          <p:nvPr/>
        </p:nvSpPr>
        <p:spPr>
          <a:xfrm>
            <a:off x="960120" y="3410712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查靶点序列</a:t>
            </a:r>
            <a:endParaRPr lang="en-US" sz="1100" dirty="0"/>
          </a:p>
        </p:txBody>
      </p:sp>
      <p:sp>
        <p:nvSpPr>
          <p:cNvPr id="13" name="label-180"/>
          <p:cNvSpPr txBox="1"/>
          <p:nvPr/>
        </p:nvSpPr>
        <p:spPr>
          <a:xfrm>
            <a:off x="2423160" y="3410712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100% vs 100%</a:t>
            </a:r>
            <a:endParaRPr lang="en-US" sz="1100" dirty="0"/>
          </a:p>
        </p:txBody>
      </p:sp>
      <p:sp>
        <p:nvSpPr>
          <p:cNvPr id="14" name="label-181"/>
          <p:cNvSpPr txBox="1"/>
          <p:nvPr/>
        </p:nvSpPr>
        <p:spPr>
          <a:xfrm>
            <a:off x="3803904" y="3410712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</a:t>
            </a:r>
            <a:endParaRPr lang="en-US" sz="1050" dirty="0"/>
          </a:p>
        </p:txBody>
      </p:sp>
      <p:sp>
        <p:nvSpPr>
          <p:cNvPr id="15" name="label-182"/>
          <p:cNvSpPr txBox="1"/>
          <p:nvPr/>
        </p:nvSpPr>
        <p:spPr>
          <a:xfrm>
            <a:off x="960120" y="367588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查临床试验登记</a:t>
            </a:r>
            <a:endParaRPr lang="en-US" sz="1100" dirty="0"/>
          </a:p>
        </p:txBody>
      </p:sp>
      <p:sp>
        <p:nvSpPr>
          <p:cNvPr id="16" name="label-183"/>
          <p:cNvSpPr txBox="1"/>
          <p:nvPr/>
        </p:nvSpPr>
        <p:spPr>
          <a:xfrm>
            <a:off x="2423160" y="3675888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100% vs 100%</a:t>
            </a:r>
            <a:endParaRPr lang="en-US" sz="1100" dirty="0"/>
          </a:p>
        </p:txBody>
      </p:sp>
      <p:sp>
        <p:nvSpPr>
          <p:cNvPr id="17" name="label-184"/>
          <p:cNvSpPr txBox="1"/>
          <p:nvPr/>
        </p:nvSpPr>
        <p:spPr>
          <a:xfrm>
            <a:off x="3803904" y="367588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</a:t>
            </a:r>
            <a:endParaRPr lang="en-US" sz="1050" dirty="0"/>
          </a:p>
        </p:txBody>
      </p:sp>
      <p:sp>
        <p:nvSpPr>
          <p:cNvPr id="18" name="label-185"/>
          <p:cNvSpPr txBox="1"/>
          <p:nvPr/>
        </p:nvSpPr>
        <p:spPr>
          <a:xfrm>
            <a:off x="960120" y="394106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查强活性化合物</a:t>
            </a:r>
            <a:endParaRPr lang="en-US" sz="1100" dirty="0"/>
          </a:p>
        </p:txBody>
      </p:sp>
      <p:sp>
        <p:nvSpPr>
          <p:cNvPr id="19" name="label-186"/>
          <p:cNvSpPr txBox="1"/>
          <p:nvPr/>
        </p:nvSpPr>
        <p:spPr>
          <a:xfrm>
            <a:off x="2423160" y="3941064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88% vs 81%</a:t>
            </a:r>
            <a:endParaRPr lang="en-US" sz="1100" dirty="0"/>
          </a:p>
        </p:txBody>
      </p:sp>
      <p:sp>
        <p:nvSpPr>
          <p:cNvPr id="20" name="bar-187"/>
          <p:cNvSpPr/>
          <p:nvPr/>
        </p:nvSpPr>
        <p:spPr>
          <a:xfrm>
            <a:off x="3749040" y="3986784"/>
            <a:ext cx="443132" cy="155448"/>
          </a:xfrm>
          <a:prstGeom prst="rect">
            <a:avLst/>
          </a:prstGeom>
          <a:solidFill>
            <a:srgbClr val="B4BFCC"/>
          </a:solidFill>
          <a:ln w="12700">
            <a:solidFill>
              <a:srgbClr val="B4BFCC"/>
            </a:solidFill>
            <a:prstDash val="solid"/>
          </a:ln>
        </p:spPr>
      </p:sp>
      <p:sp>
        <p:nvSpPr>
          <p:cNvPr id="21" name="label-188"/>
          <p:cNvSpPr txBox="1"/>
          <p:nvPr/>
        </p:nvSpPr>
        <p:spPr>
          <a:xfrm>
            <a:off x="4247036" y="3941064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0.006</a:t>
            </a:r>
            <a:endParaRPr lang="en-US" sz="1050" dirty="0"/>
          </a:p>
        </p:txBody>
      </p:sp>
      <p:sp>
        <p:nvSpPr>
          <p:cNvPr id="22" name="label-189"/>
          <p:cNvSpPr txBox="1"/>
          <p:nvPr/>
        </p:nvSpPr>
        <p:spPr>
          <a:xfrm>
            <a:off x="822960" y="4242816"/>
            <a:ext cx="6355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看靶点与疾病的关系</a:t>
            </a:r>
            <a:endParaRPr lang="en-US" sz="1100" dirty="0"/>
          </a:p>
        </p:txBody>
      </p:sp>
      <p:sp>
        <p:nvSpPr>
          <p:cNvPr id="23" name="label-190"/>
          <p:cNvSpPr txBox="1"/>
          <p:nvPr/>
        </p:nvSpPr>
        <p:spPr>
          <a:xfrm>
            <a:off x="960120" y="448970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动物模型证据</a:t>
            </a:r>
            <a:endParaRPr lang="en-US" sz="1100" dirty="0"/>
          </a:p>
        </p:txBody>
      </p:sp>
      <p:sp>
        <p:nvSpPr>
          <p:cNvPr id="24" name="label-191"/>
          <p:cNvSpPr txBox="1"/>
          <p:nvPr/>
        </p:nvSpPr>
        <p:spPr>
          <a:xfrm>
            <a:off x="2423160" y="4489704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38% vs 17%</a:t>
            </a:r>
            <a:endParaRPr lang="en-US" sz="1100" dirty="0"/>
          </a:p>
        </p:txBody>
      </p:sp>
      <p:sp>
        <p:nvSpPr>
          <p:cNvPr id="25" name="bar-192"/>
          <p:cNvSpPr/>
          <p:nvPr/>
        </p:nvSpPr>
        <p:spPr>
          <a:xfrm>
            <a:off x="3749040" y="4535424"/>
            <a:ext cx="2880360" cy="155448"/>
          </a:xfrm>
          <a:prstGeom prst="rect">
            <a:avLst/>
          </a:prstGeom>
          <a:solidFill>
            <a:srgbClr val="0E8A7E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26" name="label-193"/>
          <p:cNvSpPr txBox="1"/>
          <p:nvPr/>
        </p:nvSpPr>
        <p:spPr>
          <a:xfrm>
            <a:off x="6684264" y="4489704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0.039</a:t>
            </a:r>
            <a:endParaRPr lang="en-US" sz="1050" dirty="0"/>
          </a:p>
        </p:txBody>
      </p:sp>
      <p:sp>
        <p:nvSpPr>
          <p:cNvPr id="27" name="label-194"/>
          <p:cNvSpPr txBox="1"/>
          <p:nvPr/>
        </p:nvSpPr>
        <p:spPr>
          <a:xfrm>
            <a:off x="960120" y="4754880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人类遗传学证据</a:t>
            </a:r>
            <a:endParaRPr lang="en-US" sz="1100" dirty="0"/>
          </a:p>
        </p:txBody>
      </p:sp>
      <p:sp>
        <p:nvSpPr>
          <p:cNvPr id="28" name="label-195"/>
          <p:cNvSpPr txBox="1"/>
          <p:nvPr/>
        </p:nvSpPr>
        <p:spPr>
          <a:xfrm>
            <a:off x="2423160" y="4754880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35% vs 17%</a:t>
            </a:r>
            <a:endParaRPr lang="en-US" sz="1100" dirty="0"/>
          </a:p>
        </p:txBody>
      </p:sp>
      <p:sp>
        <p:nvSpPr>
          <p:cNvPr id="29" name="bar-196"/>
          <p:cNvSpPr/>
          <p:nvPr/>
        </p:nvSpPr>
        <p:spPr>
          <a:xfrm>
            <a:off x="3749040" y="4800600"/>
            <a:ext cx="1994095" cy="155448"/>
          </a:xfrm>
          <a:prstGeom prst="rect">
            <a:avLst/>
          </a:prstGeom>
          <a:solidFill>
            <a:srgbClr val="0E8A7E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0" name="label-197"/>
          <p:cNvSpPr txBox="1"/>
          <p:nvPr/>
        </p:nvSpPr>
        <p:spPr>
          <a:xfrm>
            <a:off x="5797999" y="47548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0.027</a:t>
            </a:r>
            <a:endParaRPr lang="en-US" sz="1050" dirty="0"/>
          </a:p>
        </p:txBody>
      </p:sp>
      <p:sp>
        <p:nvSpPr>
          <p:cNvPr id="31" name="box-198"/>
          <p:cNvSpPr/>
          <p:nvPr/>
        </p:nvSpPr>
        <p:spPr>
          <a:xfrm>
            <a:off x="822960" y="5093208"/>
            <a:ext cx="6355080" cy="530352"/>
          </a:xfrm>
          <a:prstGeom prst="roundRect">
            <a:avLst>
              <a:gd name="adj" fmla="val 13793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结论：只看靶点本身分不出有效与否；靶点与疾病之间的证据才有区分力——与 Nature 2024 一致（有遗传学支持的药物机制，成功率高 2.6 倍）。</a:t>
            </a:r>
            <a:endParaRPr lang="en-US" sz="1100" dirty="0"/>
          </a:p>
        </p:txBody>
      </p:sp>
      <p:sp>
        <p:nvSpPr>
          <p:cNvPr id="32" name="label-199"/>
          <p:cNvSpPr txBox="1"/>
          <p:nvPr/>
        </p:nvSpPr>
        <p:spPr>
          <a:xfrm>
            <a:off x="822960" y="5696712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普适性：方法通用，数字随问题类型而定——换一类问题，用该类已知答案的案例重测一次。</a:t>
            </a:r>
            <a:endParaRPr lang="en-US" sz="1050" dirty="0"/>
          </a:p>
        </p:txBody>
      </p:sp>
      <p:sp>
        <p:nvSpPr>
          <p:cNvPr id="33" name="card-200"/>
          <p:cNvSpPr/>
          <p:nvPr/>
        </p:nvSpPr>
        <p:spPr>
          <a:xfrm>
            <a:off x="7726680" y="1554480"/>
            <a:ext cx="3916375" cy="4526280"/>
          </a:xfrm>
          <a:prstGeom prst="roundRect">
            <a:avLst>
              <a:gd name="adj" fmla="val 23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badge-201"/>
          <p:cNvSpPr/>
          <p:nvPr/>
        </p:nvSpPr>
        <p:spPr>
          <a:xfrm>
            <a:off x="8001000" y="17373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label-202"/>
          <p:cNvSpPr txBox="1"/>
          <p:nvPr/>
        </p:nvSpPr>
        <p:spPr>
          <a:xfrm>
            <a:off x="8503920" y="1709928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共形三分判定</a:t>
            </a:r>
            <a:endParaRPr lang="en-US" sz="1800" dirty="0"/>
          </a:p>
        </p:txBody>
      </p:sp>
      <p:sp>
        <p:nvSpPr>
          <p:cNvPr id="36" name="label-203"/>
          <p:cNvSpPr txBox="1"/>
          <p:nvPr/>
        </p:nvSpPr>
        <p:spPr>
          <a:xfrm>
            <a:off x="8001000" y="2286000"/>
            <a:ext cx="3367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背景</a:t>
            </a:r>
            <a:endParaRPr lang="en-US" sz="1250" dirty="0"/>
          </a:p>
        </p:txBody>
      </p:sp>
      <p:sp>
        <p:nvSpPr>
          <p:cNvPr id="37" name="label-204"/>
          <p:cNvSpPr txBox="1"/>
          <p:nvPr/>
        </p:nvSpPr>
        <p:spPr>
          <a:xfrm>
            <a:off x="8001000" y="2560320"/>
            <a:ext cx="3367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共形预测（Vovk 等）是一种统计方法：用一批已标注结果的历史假设做校准，保证“出错率不超过 α”。它不给分数，而是给出可能成立的结果集合：</a:t>
            </a:r>
            <a:endParaRPr lang="en-US" sz="1150" dirty="0"/>
          </a:p>
        </p:txBody>
      </p:sp>
      <p:graphicFrame>
        <p:nvGraphicFramePr>
          <p:cNvPr id="9" name="table-2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3474720"/>
          <a:ext cx="3367735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658368"/>
                <a:gridCol w="1410919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结果集合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只有“支持”说得通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反驳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只有“反驳”说得通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支持，反驳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证据分不出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}（空）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罕见，需人工复核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label-206"/>
          <p:cNvSpPr txBox="1"/>
          <p:nvPr/>
        </p:nvSpPr>
        <p:spPr>
          <a:xfrm>
            <a:off x="8001000" y="5257800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校准后每类出错率不超过 α（如 10%）；未校准时界面明确显示“未校准”。评分只看证据，与靶点名称无关。</a:t>
            </a:r>
            <a:endParaRPr lang="en-US" sz="1100" dirty="0"/>
          </a:p>
        </p:txBody>
      </p:sp>
      <p:sp>
        <p:nvSpPr>
          <p:cNvPr id="40" name="label-207"/>
          <p:cNvSpPr txBox="1"/>
          <p:nvPr/>
        </p:nvSpPr>
        <p:spPr>
          <a:xfrm>
            <a:off x="548640" y="6153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说明：靶点本身 114 例、靶点–疾病 94 例；动物模型差异 p = 0.023，遗传学 p = 0.062。系统目前仍按靶点查询，按“靶点–疾病”查询将在下一版接入。数据与脚本已存档，可复现。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支撑设计：多智能体协作与本地运行时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类管“谁来做、谁把关”，C 类管“在哪里跑、用谁的额度”；两者在 2.x 已具备，3.0 继续完善。</a:t>
            </a:r>
            <a:endParaRPr lang="en-US" sz="1500" dirty="0"/>
          </a:p>
        </p:txBody>
      </p:sp>
      <p:sp>
        <p:nvSpPr>
          <p:cNvPr id="4" name="card-208"/>
          <p:cNvSpPr/>
          <p:nvPr/>
        </p:nvSpPr>
        <p:spPr>
          <a:xfrm>
            <a:off x="548640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g-209"/>
          <p:cNvSpPr/>
          <p:nvPr/>
        </p:nvSpPr>
        <p:spPr>
          <a:xfrm>
            <a:off x="822960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label-210"/>
          <p:cNvSpPr txBox="1"/>
          <p:nvPr/>
        </p:nvSpPr>
        <p:spPr>
          <a:xfrm>
            <a:off x="1371600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多智能体协作：像课题组一样分工</a:t>
            </a:r>
            <a:endParaRPr lang="en-US" sz="1700" dirty="0"/>
          </a:p>
        </p:txBody>
      </p:sp>
      <p:sp>
        <p:nvSpPr>
          <p:cNvPr id="7" name="box-211"/>
          <p:cNvSpPr/>
          <p:nvPr/>
        </p:nvSpPr>
        <p:spPr>
          <a:xfrm>
            <a:off x="82296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研究课题</a:t>
            </a:r>
            <a:endParaRPr lang="en-US" sz="1250" dirty="0"/>
          </a:p>
        </p:txBody>
      </p:sp>
      <p:sp>
        <p:nvSpPr>
          <p:cNvPr id="8" name="arrow-212"/>
          <p:cNvSpPr/>
          <p:nvPr/>
        </p:nvSpPr>
        <p:spPr>
          <a:xfrm>
            <a:off x="165259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box-213"/>
          <p:cNvSpPr/>
          <p:nvPr/>
        </p:nvSpPr>
        <p:spPr>
          <a:xfrm>
            <a:off x="183547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10" name="arrow-214"/>
          <p:cNvSpPr/>
          <p:nvPr/>
        </p:nvSpPr>
        <p:spPr>
          <a:xfrm>
            <a:off x="266511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box-215"/>
          <p:cNvSpPr/>
          <p:nvPr/>
        </p:nvSpPr>
        <p:spPr>
          <a:xfrm>
            <a:off x="284799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成员并行</a:t>
            </a:r>
            <a:endParaRPr lang="en-US" sz="1250" dirty="0"/>
          </a:p>
        </p:txBody>
      </p:sp>
      <p:sp>
        <p:nvSpPr>
          <p:cNvPr id="12" name="arrow-216"/>
          <p:cNvSpPr/>
          <p:nvPr/>
        </p:nvSpPr>
        <p:spPr>
          <a:xfrm>
            <a:off x="367762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217"/>
          <p:cNvSpPr/>
          <p:nvPr/>
        </p:nvSpPr>
        <p:spPr>
          <a:xfrm>
            <a:off x="386050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质量门</a:t>
            </a:r>
            <a:endParaRPr lang="en-US" sz="1250" dirty="0"/>
          </a:p>
        </p:txBody>
      </p:sp>
      <p:sp>
        <p:nvSpPr>
          <p:cNvPr id="14" name="arrow-218"/>
          <p:cNvSpPr/>
          <p:nvPr/>
        </p:nvSpPr>
        <p:spPr>
          <a:xfrm>
            <a:off x="469014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5" name="box-219"/>
          <p:cNvSpPr/>
          <p:nvPr/>
        </p:nvSpPr>
        <p:spPr>
          <a:xfrm>
            <a:off x="487302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综合报告</a:t>
            </a:r>
            <a:endParaRPr lang="en-US" sz="1250" dirty="0"/>
          </a:p>
        </p:txBody>
      </p:sp>
      <p:sp>
        <p:nvSpPr>
          <p:cNvPr id="16" name="bullets-220"/>
          <p:cNvSpPr txBox="1"/>
          <p:nvPr/>
        </p:nvSpPr>
        <p:spPr>
          <a:xfrm>
            <a:off x="822960" y="3337560"/>
            <a:ext cx="48614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队长（PI）把课题拆成有依赖的任务，可要求先审批计划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成员交接时，每条发现都必须附证据编号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质量门：规则检查 + 科研审查员；工具失败不算“阴性结果”</a:t>
            </a:r>
            <a:endParaRPr lang="en-US" sz="1300" dirty="0"/>
          </a:p>
        </p:txBody>
      </p:sp>
      <p:sp>
        <p:nvSpPr>
          <p:cNvPr id="17" name="label-221"/>
          <p:cNvSpPr txBox="1"/>
          <p:nvPr/>
        </p:nvSpPr>
        <p:spPr>
          <a:xfrm>
            <a:off x="822960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26 位</a:t>
            </a:r>
            <a:endParaRPr lang="en-US" sz="2000" dirty="0"/>
          </a:p>
        </p:txBody>
      </p:sp>
      <p:sp>
        <p:nvSpPr>
          <p:cNvPr id="18" name="label-222"/>
          <p:cNvSpPr txBox="1"/>
          <p:nvPr/>
        </p:nvSpPr>
        <p:spPr>
          <a:xfrm>
            <a:off x="822960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</a:t>
            </a:r>
            <a:endParaRPr lang="en-US" sz="1150" dirty="0"/>
          </a:p>
        </p:txBody>
      </p:sp>
      <p:sp>
        <p:nvSpPr>
          <p:cNvPr id="19" name="label-223"/>
          <p:cNvSpPr txBox="1"/>
          <p:nvPr/>
        </p:nvSpPr>
        <p:spPr>
          <a:xfrm>
            <a:off x="2443429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 个</a:t>
            </a:r>
            <a:endParaRPr lang="en-US" sz="2000" dirty="0"/>
          </a:p>
        </p:txBody>
      </p:sp>
      <p:sp>
        <p:nvSpPr>
          <p:cNvPr id="20" name="label-224"/>
          <p:cNvSpPr txBox="1"/>
          <p:nvPr/>
        </p:nvSpPr>
        <p:spPr>
          <a:xfrm>
            <a:off x="2443429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团队模板</a:t>
            </a:r>
            <a:endParaRPr lang="en-US" sz="1150" dirty="0"/>
          </a:p>
        </p:txBody>
      </p:sp>
      <p:sp>
        <p:nvSpPr>
          <p:cNvPr id="21" name="label-225"/>
          <p:cNvSpPr txBox="1"/>
          <p:nvPr/>
        </p:nvSpPr>
        <p:spPr>
          <a:xfrm>
            <a:off x="4063898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@</a:t>
            </a:r>
            <a:endParaRPr lang="en-US" sz="2000" dirty="0"/>
          </a:p>
        </p:txBody>
      </p:sp>
      <p:sp>
        <p:nvSpPr>
          <p:cNvPr id="22" name="label-226"/>
          <p:cNvSpPr txBox="1"/>
          <p:nvPr/>
        </p:nvSpPr>
        <p:spPr>
          <a:xfrm>
            <a:off x="4063898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直接点名专家</a:t>
            </a:r>
            <a:endParaRPr lang="en-US" sz="1150" dirty="0"/>
          </a:p>
        </p:txBody>
      </p:sp>
      <p:sp>
        <p:nvSpPr>
          <p:cNvPr id="23" name="card-227"/>
          <p:cNvSpPr/>
          <p:nvPr/>
        </p:nvSpPr>
        <p:spPr>
          <a:xfrm>
            <a:off x="6233008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ag-228"/>
          <p:cNvSpPr/>
          <p:nvPr/>
        </p:nvSpPr>
        <p:spPr>
          <a:xfrm>
            <a:off x="6507328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label-229"/>
          <p:cNvSpPr txBox="1"/>
          <p:nvPr/>
        </p:nvSpPr>
        <p:spPr>
          <a:xfrm>
            <a:off x="7055968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本地运行时：直接用已有 AI 订阅</a:t>
            </a:r>
            <a:endParaRPr lang="en-US" sz="1700" dirty="0"/>
          </a:p>
        </p:txBody>
      </p:sp>
      <p:sp>
        <p:nvSpPr>
          <p:cNvPr id="26" name="box-230"/>
          <p:cNvSpPr/>
          <p:nvPr/>
        </p:nvSpPr>
        <p:spPr>
          <a:xfrm>
            <a:off x="6507328" y="2697480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研究请求</a:t>
            </a:r>
            <a:endParaRPr lang="en-US" sz="1300" dirty="0"/>
          </a:p>
        </p:txBody>
      </p:sp>
      <p:sp>
        <p:nvSpPr>
          <p:cNvPr id="27" name="arrow-231"/>
          <p:cNvSpPr/>
          <p:nvPr/>
        </p:nvSpPr>
        <p:spPr>
          <a:xfrm>
            <a:off x="7833208" y="298094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ox-232"/>
          <p:cNvSpPr/>
          <p:nvPr/>
        </p:nvSpPr>
        <p:spPr>
          <a:xfrm>
            <a:off x="8107528" y="2697480"/>
            <a:ext cx="114300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执行路由</a:t>
            </a:r>
            <a:endParaRPr lang="en-US" sz="1300" dirty="0"/>
          </a:p>
        </p:txBody>
      </p:sp>
      <p:sp>
        <p:nvSpPr>
          <p:cNvPr id="29" name="arrow-233"/>
          <p:cNvSpPr/>
          <p:nvPr/>
        </p:nvSpPr>
        <p:spPr>
          <a:xfrm flipV="1">
            <a:off x="9250528" y="2587752"/>
            <a:ext cx="320040" cy="29260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arrow-234"/>
          <p:cNvSpPr/>
          <p:nvPr/>
        </p:nvSpPr>
        <p:spPr>
          <a:xfrm>
            <a:off x="9250528" y="3081528"/>
            <a:ext cx="32004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box-235"/>
          <p:cNvSpPr/>
          <p:nvPr/>
        </p:nvSpPr>
        <p:spPr>
          <a:xfrm>
            <a:off x="9570568" y="237744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32" name="box-236"/>
          <p:cNvSpPr/>
          <p:nvPr/>
        </p:nvSpPr>
        <p:spPr>
          <a:xfrm>
            <a:off x="9570568" y="315468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33" name="bullets-237"/>
          <p:cNvSpPr txBox="1"/>
          <p:nvPr/>
        </p:nvSpPr>
        <p:spPr>
          <a:xfrm>
            <a:off x="6507328" y="3886200"/>
            <a:ext cx="48614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</p:txBody>
      </p:sp>
      <p:sp>
        <p:nvSpPr>
          <p:cNvPr id="34" name="label-238"/>
          <p:cNvSpPr txBox="1"/>
          <p:nvPr/>
        </p:nvSpPr>
        <p:spPr>
          <a:xfrm>
            <a:off x="6507328" y="553212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239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240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241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242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243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244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245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246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247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248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在“证据账本”查看每条证据的状态、来源与历史。</a:t>
            </a:r>
            <a:endParaRPr lang="en-US" sz="1200" dirty="0"/>
          </a:p>
        </p:txBody>
      </p:sp>
      <p:pic>
        <p:nvPicPr>
          <p:cNvPr id="14" name="screenshot-249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250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51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252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253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254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255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256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257" descr="证据账本：状态、来源、完整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258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259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证据账本：状态、来源、完整历史</a:t>
            </a:r>
            <a:endParaRPr lang="en-US" sz="1100" dirty="0"/>
          </a:p>
        </p:txBody>
      </p:sp>
      <p:sp>
        <p:nvSpPr>
          <p:cNvPr id="25" name="label-260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设计已全部落地并可下载使用；有效性还需要真实任务上的对照实验来证明。</a:t>
            </a:r>
            <a:endParaRPr lang="en-US" sz="1500" dirty="0"/>
          </a:p>
        </p:txBody>
      </p:sp>
      <p:sp>
        <p:nvSpPr>
          <p:cNvPr id="4" name="card-261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6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63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64"/>
          <p:cNvSpPr txBox="1"/>
          <p:nvPr/>
        </p:nvSpPr>
        <p:spPr>
          <a:xfrm>
            <a:off x="822960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v3.0.0 已发布：macOS、Windows、Linux 安装包和本地 Web 版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三类设计全部落地，并接入桌面端界面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自动化测试在三个平台持续通过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评分只看证据，不再受靶点名称影响</a:t>
            </a:r>
            <a:endParaRPr lang="en-US" sz="1400" dirty="0"/>
          </a:p>
        </p:txBody>
      </p:sp>
      <p:sp>
        <p:nvSpPr>
          <p:cNvPr id="8" name="card-265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66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267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尚待验证</a:t>
            </a:r>
            <a:endParaRPr lang="en-US" sz="1800" dirty="0"/>
          </a:p>
        </p:txBody>
      </p:sp>
      <p:sp>
        <p:nvSpPr>
          <p:cNvPr id="11" name="bullets-268"/>
          <p:cNvSpPr txBox="1"/>
          <p:nvPr/>
        </p:nvSpPr>
        <p:spPr>
          <a:xfrm>
            <a:off x="4612538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尚未在真实科研任务上做对照实验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判定目前处于“未校准”状态，尚无覆盖率保证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部分本地命令行工具仅为通用接入，待逐一验证</a:t>
            </a:r>
            <a:endParaRPr lang="en-US" sz="1400" dirty="0"/>
          </a:p>
        </p:txBody>
      </p:sp>
      <p:sp>
        <p:nvSpPr>
          <p:cNvPr id="12" name="card-269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270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71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72"/>
          <p:cNvSpPr txBox="1"/>
          <p:nvPr/>
        </p:nvSpPr>
        <p:spPr>
          <a:xfrm>
            <a:off x="8402117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组织领域专家标注一批真实假设（支持 / 反驳），用于校准与评测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开展同等预算的对照实验：与扁平记忆、多智能体辩论比较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查询改为按“靶点–疾病”，优先遗传学与动物模型证据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400" dirty="0"/>
          </a:p>
        </p:txBody>
      </p:sp>
      <p:sp>
        <p:nvSpPr>
          <p:cNvPr id="16" name="ask-273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74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请审阅：是否支持开展专家标注与同等预算对照实验（下一步第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2026-10-06T04:32:13Z</dcterms:created>
  <dcterms:modified xsi:type="dcterms:W3CDTF">2026-10-06T04:32:13Z</dcterms:modified>
</cp:coreProperties>
</file>