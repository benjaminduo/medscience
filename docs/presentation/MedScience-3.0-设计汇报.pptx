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ebc0d3f6-ec91-f90c-0e57-804fe9925a7b}">
          <p14:sldIdLst>
            <p14:sldId id="256"/>
          </p14:sldIdLst>
        </p14:section>
        <p14:section name="为什么" id="{2d036f6a-b4b4-4971-0396-274a0f775817}">
          <p14:sldIdLst>
            <p14:sldId id="257"/>
            <p14:sldId id="258"/>
          </p14:sldIdLst>
        </p14:section>
        <p14:section name="怎么设计" id="{fd78fabd-657e-e495-6bd8-1e340af607f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怎么用" id="{ac40c178-c40f-489b-6f45-411acd977429}">
          <p14:sldIdLst>
            <p14:sldId id="267"/>
          </p14:sldIdLst>
        </p14:section>
        <p14:section name="下一步" id="{2811433b-60de-5174-253e-1536469f474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开场一句话：MedScience 是一个面向生物医学研究的科研智能体系统，不是通用聊天助手。3.0 的重点不是让 AI 说得更多，而是让它的结论站得住：有证据、能撤回、可信度说得清，并且数据留在本机。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这一页给出全貌：问题是什么、我们怎么做、做到哪一步。后面按“为什么、怎么设计、怎么用、下一步”的顺序展开，共 13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列是四个痛点，中间是同类方案通常怎么做，右列是我们的设计。前三个痛点对应证据治理的三个设计：依据已经失效、模型仍把它当作有效支持，对应时间证据状态机；同一试验的多篇论文被当成多条独立证据、而简单去重又会丢信息，对应临床试验等价类聚合；检索时只找支持性文献、形成确认偏差，对应矛盾优先主动验证。第四个痛点是数据与成本，对应本地运行时。同类方案只引用公开资料，不评价其未公开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这一页同时回答“有哪几类设计”和“它们在系统里的位置”。A 类证据治理是绿色这一层：时间证据状态机（已有原型）、临床试验等价类聚合、矛盾优先主动验证（设计中）；B 类是协作层，即科研小队的组织方式；C 类是运行与部署，包括使用入口、执行层和本机数据层，在 2.x 已具备。右侧防护钩子贯穿每一次工具调用。需要强调：这些都是智能体系统层面的设计，没有训练或修改大模型本身。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上排是一次科研提问的完整路径，每一步下面的小字是这一步产生的数据。绿色三步是证据治理层：先把检索到的论文按 claim、试验、患者队列聚合成等价类；再在固定预算内优先查找最可能改变结论的证据，包括反证和失败复现；最后由时间证据状态机更新每个 claim 的状态。下方是新事件到来时的回路：撤回、试验终止、失败复现或安全信号出现后，只更新受影响的 claim 或 endpoint，其余结论保持不变。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第一个设计是时间证据状态机。痛点是：模型训练知识或旧检索结果里，包含已经撤回、终止、失败复现或出现安全信号的证据，模型仍把它们当作有效支持。设计上，每个 claim 维护四种状态：supported、contested、refuted、expired；新事件被分类为撤回、试验终止、失败复现、安全信号等；只更新受影响的 claim 或 endpoint，不允许无关证据失效导致整个报告一起崩溃。右下的伏塞洛托是真实例子：2024 年因上市后安全信号撤市，依赖“批准”的 claim A 被更新，而只依赖 HOPE 试验的 claim B 不受影响。3.0 的证据账本已经实现了依赖级联和撤稿扫描，是这个设计的原型，状态名称会对齐。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第二个设计是临床试验等价类聚合。痛点是：同一临床试验、同一患者队列可能产生多篇论文，模型容易把论文数量误认为独立证据数量；但简单去重又会丢掉长期随访、安全性和亚组信息。设计上，证据按 claim、study/trial、patient cohort 三层组织：同一试验的多篇论文只贡献一次独立性权重，不同论文提供的互补 endpoint 仍然保留；独立研究增加证据强度，同源论文主要增加信息覆盖，而不是独立性。右边是真实例子：阿贝西利的前 20 篇检索结果中，有 6 篇来自同一个试验 monarchE，它们的独立性权重是 1，但主结果、亚组、长期随访、安全性这些信息都保留。需要如实说明：我们的实测显示同源论文很普遍，但在给出摘要的条件下，模型受影响只有约 1 分，只给标题的情况还没有检验。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设计是矛盾优先主动验证。痛点是：普通检索智能体倾向于继续寻找支持性文献，很少主动寻找反证、失败复现或独立来源，容易形成确认偏差。设计上，在固定证据预算下，优先选择最可能改变当前结论的证据、与现有结论矛盾的证据、与已有来源最不依赖的证据，以及预期信息增益最高的证据。它不是简单选择“相关性最高”的论文，而是主动寻找最有可能改变决策的证据。下一页用 CETP 抑制剂的真实例子说明。实现上，3.0 已有按预期信息增益排序的规划器原型，“矛盾优先”和“来源独立性”两个排序因素是新增的设计。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这一页用一个真实例子说明矛盾优先主动验证。结论是：用 CETP 抑制剂升高“好胆固醇” HDL，可以降低心血管风险。只按相关性检索，看到的是大量 HDL 越高、风险越低的观察性研究，以及 CETP 抑制剂能大幅升高 HDL 的研究，看起来全都支持。按矛盾优先，会先去找四类证据：与结论矛盾的，是托彻普的 ILLUMINATE 试验，心血管事件和死亡反而增加；与已有来源最不依赖的，是孟德尔随机化研究，用基因数据检验，基因决定的 HDL 升高并不降低心肌梗死风险，这是独立于观察性研究的另一类证据；最可能改变结论的，是以临床硬终点为结局的大型随机试验；预期信息增益最高的，就是基因证据和硬终点试验，而不是再多一篇观察性研究。后来，一万两千多人的 ACCELERATE 试验因疗效不足终止，同类药物的 dal-OUTCOMES 试验也没有显示获益。要讲的一句话是：在 ACCELERATE 开始入组之前，这些反向证据都已经发表；只按相关性检索，它们会被淹没，矛盾优先会把它们放到决策者面前。注意，我们不说“用了系统就能避免这个试验”，那是无法证明的反事实。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类设计是多智能体协作，像课题组一样分工。队长（PI）把课题拆成有依赖的任务，可以要求先审批计划；领域专家成员并行执行，交接时每条发现都必须附证据编号；质量门由规则检查和科研审查员组成，工具失败不算“阴性结果”；最后由写作专家综合成文。系统内置 26 位领域专家角色、15 个团队模板，也可以用 @ 直接点名某位专家。这部分在 2.x 已经具备，3.0 继续完善。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类设计是本地运行时，直接用已有 AI 订阅。很多团队已经买了 ChatGPT（Codex）或 Claude 的订阅，MedScience 可以直接调用本机已登录的命令行工具，沿用现有额度，不需要另付 API 费用；同时科研与临床数据留在本机，原始病历与影像在本机沙盒内处理，外发需要授权。右边是真实截图：运行时页面自动检测到了本机的 Claude Code。需要说明：除 Codex 和 Claude Code 外，其余工具是通用接入，并请确认订阅条款允许这样使用。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四步即可：安装、配置运行时、提问、查看证据。左图是运行时自动检测到本机的 Claude Code；中间是用 @ 点名专家，以及智能体调用工具的记录；右图是 3.0 的证据页，每条证据的来源和状态都能查到。截图都来自真实运行的 3.0 应用。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最后是进展和请求。B、C 两类设计已经落地并发布。A 类三个设计中，时间证据状态机已有原型：3.0 的证据账本实现了依赖级联和撤稿扫描，并用真实案例写成了自动化测试，下一步要把状态对齐为 supported、contested、refuted、expired 四种，并接入试验终止、安全信号等事件源；临床试验等价类聚合和矛盾优先主动验证还在设计中。下一步是实现这三个设计，并用公开结局做无人工标注的评测；同时在结论不确定的问题上复核同源影响。结果稳定后发布正式版，并整理成论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83080"/>
            <a:ext cx="1005840" cy="82296"/>
          </a:xfrm>
          <a:prstGeom prst="rect">
            <a:avLst/>
          </a:prstGeom>
          <a:solidFill>
            <a:srgbClr val="0E8A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5F8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MedScience 3.0 · 设计汇报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103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MedScience 3.0</a:t>
            </a:r>
            <a:endParaRPr lang="en-US" sz="48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32918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面向生物医学研究的科研智能体系统 · 设计汇报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B6B7C"/>
                </a:solidFill>
              </a:rPr>
              <a:t>让每一个科研结论都有据可查、可以撤回、说得清可信度</a:t>
            </a:r>
            <a:endParaRPr lang="en-US" sz="2200" dirty="0"/>
          </a:p>
        </p:txBody>
      </p:sp>
      <p:sp>
        <p:nvSpPr>
          <p:cNvPr id="4" name="label-1"/>
          <p:cNvSpPr txBox="1"/>
          <p:nvPr/>
        </p:nvSpPr>
        <p:spPr>
          <a:xfrm>
            <a:off x="54864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2026 年 10 月  ·  版本 v3.0.0（预发布）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一页概要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一句话：面向生物医学研究——让科研结论有证据、能撤回、说得清可信度，科研数据不出本机。</a:t>
            </a:r>
            <a:endParaRPr lang="en-US" sz="1500" dirty="0"/>
          </a:p>
        </p:txBody>
      </p:sp>
      <p:sp>
        <p:nvSpPr>
          <p:cNvPr id="4" name="card-2"/>
          <p:cNvSpPr/>
          <p:nvPr/>
        </p:nvSpPr>
        <p:spPr>
          <a:xfrm>
            <a:off x="548640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3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4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要解决的问题</a:t>
            </a:r>
            <a:endParaRPr lang="en-US" sz="1800" dirty="0"/>
          </a:p>
        </p:txBody>
      </p:sp>
      <p:sp>
        <p:nvSpPr>
          <p:cNvPr id="7" name="label-5"/>
          <p:cNvSpPr txBox="1"/>
          <p:nvPr/>
        </p:nvSpPr>
        <p:spPr>
          <a:xfrm>
            <a:off x="822960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能很快给出科研结论，但依据哪些文献和数据、依据被新研究推翻后怎么办、可信度多高，往往说不清。</a:t>
            </a:r>
            <a:endParaRPr lang="en-US" sz="1500" dirty="0"/>
          </a:p>
        </p:txBody>
      </p:sp>
      <p:sp>
        <p:nvSpPr>
          <p:cNvPr id="8" name="card-6"/>
          <p:cNvSpPr/>
          <p:nvPr/>
        </p:nvSpPr>
        <p:spPr>
          <a:xfrm>
            <a:off x="4338218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7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8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我们的做法</a:t>
            </a:r>
            <a:endParaRPr lang="en-US" sz="1800" dirty="0"/>
          </a:p>
        </p:txBody>
      </p:sp>
      <p:sp>
        <p:nvSpPr>
          <p:cNvPr id="11" name="label-9"/>
          <p:cNvSpPr txBox="1"/>
          <p:nvPr/>
        </p:nvSpPr>
        <p:spPr>
          <a:xfrm>
            <a:off x="4612538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三类设计：证据治理（时间证据状态机、临床试验等价类聚合、矛盾优先主动验证）、多智能体协作（像课题组一样分工）、本地运行（数据留在本机）。</a:t>
            </a:r>
            <a:endParaRPr lang="en-US" sz="1500" dirty="0"/>
          </a:p>
        </p:txBody>
      </p:sp>
      <p:sp>
        <p:nvSpPr>
          <p:cNvPr id="12" name="card-10"/>
          <p:cNvSpPr/>
          <p:nvPr/>
        </p:nvSpPr>
        <p:spPr>
          <a:xfrm>
            <a:off x="8127797" y="1645920"/>
            <a:ext cx="3515258" cy="2606040"/>
          </a:xfrm>
          <a:prstGeom prst="roundRect">
            <a:avLst>
              <a:gd name="adj" fmla="val 3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11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12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当前进展</a:t>
            </a:r>
            <a:endParaRPr lang="en-US" sz="1800" dirty="0"/>
          </a:p>
        </p:txBody>
      </p:sp>
      <p:sp>
        <p:nvSpPr>
          <p:cNvPr id="15" name="label-13"/>
          <p:cNvSpPr txBox="1"/>
          <p:nvPr/>
        </p:nvSpPr>
        <p:spPr>
          <a:xfrm>
            <a:off x="8402117" y="2468880"/>
            <a:ext cx="296661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v3.0.0 已发布：三平台安装包和本地 Web 版。B、C 已落地；A 类中状态机已有原型，等价类聚合与矛盾优先验证在设计中。</a:t>
            </a:r>
            <a:endParaRPr lang="en-US" sz="1500" dirty="0"/>
          </a:p>
        </p:txBody>
      </p:sp>
      <p:sp>
        <p:nvSpPr>
          <p:cNvPr id="16" name="label-14"/>
          <p:cNvSpPr txBox="1"/>
          <p:nvPr/>
        </p:nvSpPr>
        <p:spPr>
          <a:xfrm>
            <a:off x="548640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类</a:t>
            </a:r>
            <a:endParaRPr lang="en-US" sz="3400" dirty="0"/>
          </a:p>
        </p:txBody>
      </p:sp>
      <p:sp>
        <p:nvSpPr>
          <p:cNvPr id="17" name="label-15"/>
          <p:cNvSpPr txBox="1"/>
          <p:nvPr/>
        </p:nvSpPr>
        <p:spPr>
          <a:xfrm>
            <a:off x="548640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系统设计</a:t>
            </a:r>
            <a:endParaRPr lang="en-US" sz="1300" dirty="0"/>
          </a:p>
        </p:txBody>
      </p:sp>
      <p:sp>
        <p:nvSpPr>
          <p:cNvPr id="18" name="label-16"/>
          <p:cNvSpPr txBox="1"/>
          <p:nvPr/>
        </p:nvSpPr>
        <p:spPr>
          <a:xfrm>
            <a:off x="3322244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位</a:t>
            </a:r>
            <a:endParaRPr lang="en-US" sz="3400" dirty="0"/>
          </a:p>
        </p:txBody>
      </p:sp>
      <p:sp>
        <p:nvSpPr>
          <p:cNvPr id="19" name="label-17"/>
          <p:cNvSpPr txBox="1"/>
          <p:nvPr/>
        </p:nvSpPr>
        <p:spPr>
          <a:xfrm>
            <a:off x="3322244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科研领域专家角色</a:t>
            </a:r>
            <a:endParaRPr lang="en-US" sz="1300" dirty="0"/>
          </a:p>
        </p:txBody>
      </p:sp>
      <p:sp>
        <p:nvSpPr>
          <p:cNvPr id="20" name="label-18"/>
          <p:cNvSpPr txBox="1"/>
          <p:nvPr/>
        </p:nvSpPr>
        <p:spPr>
          <a:xfrm>
            <a:off x="6095848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26 种</a:t>
            </a:r>
            <a:endParaRPr lang="en-US" sz="3400" dirty="0"/>
          </a:p>
        </p:txBody>
      </p:sp>
      <p:sp>
        <p:nvSpPr>
          <p:cNvPr id="21" name="label-19"/>
          <p:cNvSpPr txBox="1"/>
          <p:nvPr/>
        </p:nvSpPr>
        <p:spPr>
          <a:xfrm>
            <a:off x="6095848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本地 AI 命令行工具可接入</a:t>
            </a:r>
            <a:endParaRPr lang="en-US" sz="1300" dirty="0"/>
          </a:p>
        </p:txBody>
      </p:sp>
      <p:sp>
        <p:nvSpPr>
          <p:cNvPr id="22" name="label-20"/>
          <p:cNvSpPr txBox="1"/>
          <p:nvPr/>
        </p:nvSpPr>
        <p:spPr>
          <a:xfrm>
            <a:off x="8869451" y="4617720"/>
            <a:ext cx="27736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 种</a:t>
            </a:r>
            <a:endParaRPr lang="en-US" sz="3400" dirty="0"/>
          </a:p>
        </p:txBody>
      </p:sp>
      <p:sp>
        <p:nvSpPr>
          <p:cNvPr id="23" name="label-21"/>
          <p:cNvSpPr txBox="1"/>
          <p:nvPr/>
        </p:nvSpPr>
        <p:spPr>
          <a:xfrm>
            <a:off x="8869451" y="5303520"/>
            <a:ext cx="2773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使用方式（三平台 + Web）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问题与定位：科研场景的四个痛点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同类科研智能体各有所长；MedScience 的差异在于“结论治理”与“本地可用”。</a:t>
            </a:r>
            <a:endParaRPr lang="en-US" sz="1500" dirty="0"/>
          </a:p>
        </p:txBody>
      </p:sp>
      <p:graphicFrame>
        <p:nvGraphicFramePr>
          <p:cNvPr id="4" name="table-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2743200"/>
                <a:gridCol w="268193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痛点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同类方案的常见做法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MedScience 的设计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4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依据已失效，模型仍当作有效支持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模型训练知识或旧检索结果中包含已经撤回、终止、失败复现或出现安全信号的证据，但模型仍把它们当作有效支持。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依赖模型训练知识或一次性检索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OpenAI Deep Research）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A1 时间证据状态机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论文数量被误认为独立证据数量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同一临床试验、同一患者队列可能产生多篇论文。模型容易把论文数量误认为独立证据数量；但简单去重又会丢掉长期随访、安全性和亚组信息。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按篇列出引用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（公开资料未见同源识别）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A2 临床试验等价类聚合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只找支持性文献，形成确认偏差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普通检索智能体倾向于继续寻找支持性文献，很少主动寻找反证、失败复现或独立来源，容易形成确认偏差。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按相关性检索；多智能体生成与辩论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（如 Google AI co-scientist）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A3 矛盾优先主动验证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数据与成本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临床数据不应出本机；已有订阅仍要另付 API 费。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以云端服务为主，按 API 调用计费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本地运行时：数据留本机，复用已订阅的 AI 命令行工具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abel-23"/>
          <p:cNvSpPr txBox="1"/>
          <p:nvPr/>
        </p:nvSpPr>
        <p:spPr>
          <a:xfrm>
            <a:off x="548640" y="6053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注：同类方案仅依据其公开发布的资料概括，不推断未公开的内部能力。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总体架构：三类设计落在五层结构中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均为科研智能体系统层面的架构设计，不修改基础大模型；底层模型可以随时替换。</a:t>
            </a:r>
            <a:endParaRPr lang="en-US" sz="1500" dirty="0"/>
          </a:p>
        </p:txBody>
      </p:sp>
      <p:sp>
        <p:nvSpPr>
          <p:cNvPr id="4" name="tag-24"/>
          <p:cNvSpPr/>
          <p:nvPr/>
        </p:nvSpPr>
        <p:spPr>
          <a:xfrm>
            <a:off x="54864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</a:t>
            </a:r>
            <a:endParaRPr lang="en-US" sz="1500" dirty="0"/>
          </a:p>
        </p:txBody>
      </p:sp>
      <p:sp>
        <p:nvSpPr>
          <p:cNvPr id="5" name="label-25"/>
          <p:cNvSpPr txBox="1"/>
          <p:nvPr/>
        </p:nvSpPr>
        <p:spPr>
          <a:xfrm>
            <a:off x="1051560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证据治理设计</a:t>
            </a:r>
            <a:endParaRPr lang="en-US" sz="1400" dirty="0"/>
          </a:p>
        </p:txBody>
      </p:sp>
      <p:sp>
        <p:nvSpPr>
          <p:cNvPr id="6" name="label-26"/>
          <p:cNvSpPr txBox="1"/>
          <p:nvPr/>
        </p:nvSpPr>
        <p:spPr>
          <a:xfrm>
            <a:off x="1051560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管“结论凭什么成立”</a:t>
            </a:r>
            <a:endParaRPr lang="en-US" sz="1150" dirty="0"/>
          </a:p>
        </p:txBody>
      </p:sp>
      <p:sp>
        <p:nvSpPr>
          <p:cNvPr id="7" name="tag-27"/>
          <p:cNvSpPr/>
          <p:nvPr/>
        </p:nvSpPr>
        <p:spPr>
          <a:xfrm>
            <a:off x="4246778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</a:t>
            </a:r>
            <a:endParaRPr lang="en-US" sz="1500" dirty="0"/>
          </a:p>
        </p:txBody>
      </p:sp>
      <p:sp>
        <p:nvSpPr>
          <p:cNvPr id="8" name="label-28"/>
          <p:cNvSpPr txBox="1"/>
          <p:nvPr/>
        </p:nvSpPr>
        <p:spPr>
          <a:xfrm>
            <a:off x="4749698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多智能体协作设计</a:t>
            </a:r>
            <a:endParaRPr lang="en-US" sz="1400" dirty="0"/>
          </a:p>
        </p:txBody>
      </p:sp>
      <p:sp>
        <p:nvSpPr>
          <p:cNvPr id="9" name="label-29"/>
          <p:cNvSpPr txBox="1"/>
          <p:nvPr/>
        </p:nvSpPr>
        <p:spPr>
          <a:xfrm>
            <a:off x="4749698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管“谁来做、谁把关”</a:t>
            </a:r>
            <a:endParaRPr lang="en-US" sz="1150" dirty="0"/>
          </a:p>
        </p:txBody>
      </p:sp>
      <p:sp>
        <p:nvSpPr>
          <p:cNvPr id="10" name="tag-30"/>
          <p:cNvSpPr/>
          <p:nvPr/>
        </p:nvSpPr>
        <p:spPr>
          <a:xfrm>
            <a:off x="7944917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</a:t>
            </a:r>
            <a:endParaRPr lang="en-US" sz="1500" dirty="0"/>
          </a:p>
        </p:txBody>
      </p:sp>
      <p:sp>
        <p:nvSpPr>
          <p:cNvPr id="11" name="label-31"/>
          <p:cNvSpPr txBox="1"/>
          <p:nvPr/>
        </p:nvSpPr>
        <p:spPr>
          <a:xfrm>
            <a:off x="8447837" y="1517904"/>
            <a:ext cx="31494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运行时与部署设计</a:t>
            </a:r>
            <a:endParaRPr lang="en-US" sz="1400" dirty="0"/>
          </a:p>
        </p:txBody>
      </p:sp>
      <p:sp>
        <p:nvSpPr>
          <p:cNvPr id="12" name="label-32"/>
          <p:cNvSpPr txBox="1"/>
          <p:nvPr/>
        </p:nvSpPr>
        <p:spPr>
          <a:xfrm>
            <a:off x="8447837" y="1764792"/>
            <a:ext cx="31494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管“在哪里跑、用谁的额度”</a:t>
            </a:r>
            <a:endParaRPr lang="en-US" sz="1150" dirty="0"/>
          </a:p>
        </p:txBody>
      </p:sp>
      <p:sp>
        <p:nvSpPr>
          <p:cNvPr id="13" name="box-33"/>
          <p:cNvSpPr/>
          <p:nvPr/>
        </p:nvSpPr>
        <p:spPr>
          <a:xfrm>
            <a:off x="548640" y="224028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使用入口</a:t>
            </a:r>
            <a:endParaRPr lang="en-US" sz="1400" dirty="0"/>
          </a:p>
        </p:txBody>
      </p:sp>
      <p:sp>
        <p:nvSpPr>
          <p:cNvPr id="14" name="layer-34"/>
          <p:cNvSpPr/>
          <p:nvPr/>
        </p:nvSpPr>
        <p:spPr>
          <a:xfrm>
            <a:off x="2286000" y="224028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5" name="box-35"/>
          <p:cNvSpPr/>
          <p:nvPr/>
        </p:nvSpPr>
        <p:spPr>
          <a:xfrm>
            <a:off x="242316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桌面端（macOS / Windows / Linux）</a:t>
            </a:r>
            <a:endParaRPr lang="en-US" sz="1250" dirty="0"/>
          </a:p>
        </p:txBody>
      </p:sp>
      <p:sp>
        <p:nvSpPr>
          <p:cNvPr id="16" name="box-36"/>
          <p:cNvSpPr/>
          <p:nvPr/>
        </p:nvSpPr>
        <p:spPr>
          <a:xfrm>
            <a:off x="6172200" y="2350008"/>
            <a:ext cx="361188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Web（仅本机可访问）</a:t>
            </a:r>
            <a:endParaRPr lang="en-US" sz="1250" dirty="0"/>
          </a:p>
        </p:txBody>
      </p:sp>
      <p:sp>
        <p:nvSpPr>
          <p:cNvPr id="17" name="box-37"/>
          <p:cNvSpPr/>
          <p:nvPr/>
        </p:nvSpPr>
        <p:spPr>
          <a:xfrm>
            <a:off x="548640" y="301752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 · 协作层</a:t>
            </a:r>
            <a:endParaRPr lang="en-US" sz="1400" dirty="0"/>
          </a:p>
        </p:txBody>
      </p:sp>
      <p:sp>
        <p:nvSpPr>
          <p:cNvPr id="18" name="layer-38"/>
          <p:cNvSpPr/>
          <p:nvPr/>
        </p:nvSpPr>
        <p:spPr>
          <a:xfrm>
            <a:off x="2286000" y="301752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19" name="box-39"/>
          <p:cNvSpPr/>
          <p:nvPr/>
        </p:nvSpPr>
        <p:spPr>
          <a:xfrm>
            <a:off x="242316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队长规划</a:t>
            </a:r>
            <a:endParaRPr lang="en-US" sz="1250" dirty="0"/>
          </a:p>
        </p:txBody>
      </p:sp>
      <p:sp>
        <p:nvSpPr>
          <p:cNvPr id="20" name="box-40"/>
          <p:cNvSpPr/>
          <p:nvPr/>
        </p:nvSpPr>
        <p:spPr>
          <a:xfrm>
            <a:off x="429768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成员并行执行</a:t>
            </a:r>
            <a:endParaRPr lang="en-US" sz="1250" dirty="0"/>
          </a:p>
        </p:txBody>
      </p:sp>
      <p:sp>
        <p:nvSpPr>
          <p:cNvPr id="21" name="box-41"/>
          <p:cNvSpPr/>
          <p:nvPr/>
        </p:nvSpPr>
        <p:spPr>
          <a:xfrm>
            <a:off x="617220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审查员质量门</a:t>
            </a:r>
            <a:endParaRPr lang="en-US" sz="1250" dirty="0"/>
          </a:p>
        </p:txBody>
      </p:sp>
      <p:sp>
        <p:nvSpPr>
          <p:cNvPr id="22" name="box-42"/>
          <p:cNvSpPr/>
          <p:nvPr/>
        </p:nvSpPr>
        <p:spPr>
          <a:xfrm>
            <a:off x="8046720" y="312724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写作专家综合</a:t>
            </a:r>
            <a:endParaRPr lang="en-US" sz="1250" dirty="0"/>
          </a:p>
        </p:txBody>
      </p:sp>
      <p:sp>
        <p:nvSpPr>
          <p:cNvPr id="23" name="box-43"/>
          <p:cNvSpPr/>
          <p:nvPr/>
        </p:nvSpPr>
        <p:spPr>
          <a:xfrm>
            <a:off x="548640" y="379476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· 证据治理层</a:t>
            </a:r>
            <a:endParaRPr lang="en-US" sz="1400" dirty="0"/>
          </a:p>
        </p:txBody>
      </p:sp>
      <p:sp>
        <p:nvSpPr>
          <p:cNvPr id="24" name="layer-44"/>
          <p:cNvSpPr/>
          <p:nvPr/>
        </p:nvSpPr>
        <p:spPr>
          <a:xfrm>
            <a:off x="2286000" y="379476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E3F3F1"/>
          </a:solidFill>
          <a:ln w="19050">
            <a:solidFill>
              <a:srgbClr val="0E8A7E"/>
            </a:solidFill>
            <a:prstDash val="solid"/>
          </a:ln>
        </p:spPr>
      </p:sp>
      <p:sp>
        <p:nvSpPr>
          <p:cNvPr id="25" name="box-45"/>
          <p:cNvSpPr/>
          <p:nvPr/>
        </p:nvSpPr>
        <p:spPr>
          <a:xfrm>
            <a:off x="2423160" y="3904488"/>
            <a:ext cx="236220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时间证据状态机</a:t>
            </a:r>
            <a:endParaRPr lang="en-US" sz="1250" dirty="0"/>
          </a:p>
        </p:txBody>
      </p:sp>
      <p:sp>
        <p:nvSpPr>
          <p:cNvPr id="26" name="box-46"/>
          <p:cNvSpPr/>
          <p:nvPr/>
        </p:nvSpPr>
        <p:spPr>
          <a:xfrm>
            <a:off x="4922520" y="3904488"/>
            <a:ext cx="236220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临床试验等价类聚合</a:t>
            </a:r>
            <a:endParaRPr lang="en-US" sz="1250" dirty="0"/>
          </a:p>
        </p:txBody>
      </p:sp>
      <p:sp>
        <p:nvSpPr>
          <p:cNvPr id="27" name="box-47"/>
          <p:cNvSpPr/>
          <p:nvPr/>
        </p:nvSpPr>
        <p:spPr>
          <a:xfrm>
            <a:off x="7421880" y="3904488"/>
            <a:ext cx="236220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矛盾优先主动验证</a:t>
            </a:r>
            <a:endParaRPr lang="en-US" sz="1250" dirty="0"/>
          </a:p>
        </p:txBody>
      </p:sp>
      <p:sp>
        <p:nvSpPr>
          <p:cNvPr id="28" name="box-48"/>
          <p:cNvSpPr/>
          <p:nvPr/>
        </p:nvSpPr>
        <p:spPr>
          <a:xfrm>
            <a:off x="548640" y="457200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执行层</a:t>
            </a:r>
            <a:endParaRPr lang="en-US" sz="1400" dirty="0"/>
          </a:p>
        </p:txBody>
      </p:sp>
      <p:sp>
        <p:nvSpPr>
          <p:cNvPr id="29" name="layer-49"/>
          <p:cNvSpPr/>
          <p:nvPr/>
        </p:nvSpPr>
        <p:spPr>
          <a:xfrm>
            <a:off x="2286000" y="457200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0" name="box-50"/>
          <p:cNvSpPr/>
          <p:nvPr/>
        </p:nvSpPr>
        <p:spPr>
          <a:xfrm>
            <a:off x="242316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模型 API</a:t>
            </a:r>
            <a:endParaRPr lang="en-US" sz="1250" dirty="0"/>
          </a:p>
        </p:txBody>
      </p:sp>
      <p:sp>
        <p:nvSpPr>
          <p:cNvPr id="31" name="box-51"/>
          <p:cNvSpPr/>
          <p:nvPr/>
        </p:nvSpPr>
        <p:spPr>
          <a:xfrm>
            <a:off x="429768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本地 CLI 运行时</a:t>
            </a:r>
            <a:endParaRPr lang="en-US" sz="1250" dirty="0"/>
          </a:p>
        </p:txBody>
      </p:sp>
      <p:sp>
        <p:nvSpPr>
          <p:cNvPr id="32" name="box-52"/>
          <p:cNvSpPr/>
          <p:nvPr/>
        </p:nvSpPr>
        <p:spPr>
          <a:xfrm>
            <a:off x="617220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科研数据库连接器</a:t>
            </a:r>
            <a:endParaRPr lang="en-US" sz="1250" dirty="0"/>
          </a:p>
        </p:txBody>
      </p:sp>
      <p:sp>
        <p:nvSpPr>
          <p:cNvPr id="33" name="box-53"/>
          <p:cNvSpPr/>
          <p:nvPr/>
        </p:nvSpPr>
        <p:spPr>
          <a:xfrm>
            <a:off x="8046720" y="4681728"/>
            <a:ext cx="173736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内核级沙盒</a:t>
            </a:r>
            <a:endParaRPr lang="en-US" sz="1250" dirty="0"/>
          </a:p>
        </p:txBody>
      </p:sp>
      <p:sp>
        <p:nvSpPr>
          <p:cNvPr id="34" name="box-54"/>
          <p:cNvSpPr/>
          <p:nvPr/>
        </p:nvSpPr>
        <p:spPr>
          <a:xfrm>
            <a:off x="548640" y="5349240"/>
            <a:ext cx="1600200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 · 数据层</a:t>
            </a:r>
            <a:endParaRPr lang="en-US" sz="1400" dirty="0"/>
          </a:p>
        </p:txBody>
      </p:sp>
      <p:sp>
        <p:nvSpPr>
          <p:cNvPr id="35" name="layer-55"/>
          <p:cNvSpPr/>
          <p:nvPr/>
        </p:nvSpPr>
        <p:spPr>
          <a:xfrm>
            <a:off x="2286000" y="5349240"/>
            <a:ext cx="7635240" cy="658368"/>
          </a:xfrm>
          <a:prstGeom prst="roundRect">
            <a:avLst>
              <a:gd name="adj" fmla="val 11111"/>
            </a:avLst>
          </a:prstGeom>
          <a:solidFill>
            <a:srgbClr val="F2F5F8"/>
          </a:solidFill>
          <a:ln w="6350">
            <a:solidFill>
              <a:srgbClr val="F2F5F8"/>
            </a:solidFill>
            <a:prstDash val="solid"/>
          </a:ln>
        </p:spPr>
      </p:sp>
      <p:sp>
        <p:nvSpPr>
          <p:cNvPr id="36" name="box-56"/>
          <p:cNvSpPr/>
          <p:nvPr/>
        </p:nvSpPr>
        <p:spPr>
          <a:xfrm>
            <a:off x="2423160" y="5458968"/>
            <a:ext cx="7360920" cy="4389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本机 ~/.medscience：会话 · 加密密钥库 · 配置 · 公开数据缓存</a:t>
            </a:r>
            <a:endParaRPr lang="en-US" sz="1250" dirty="0"/>
          </a:p>
        </p:txBody>
      </p:sp>
      <p:sp>
        <p:nvSpPr>
          <p:cNvPr id="37" name="hooks-57"/>
          <p:cNvSpPr/>
          <p:nvPr/>
        </p:nvSpPr>
        <p:spPr>
          <a:xfrm>
            <a:off x="10104120" y="2240280"/>
            <a:ext cx="1538935" cy="3767328"/>
          </a:xfrm>
          <a:prstGeom prst="roundRect">
            <a:avLst>
              <a:gd name="adj" fmla="val 475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label-58"/>
          <p:cNvSpPr txBox="1"/>
          <p:nvPr/>
        </p:nvSpPr>
        <p:spPr>
          <a:xfrm>
            <a:off x="10195560" y="2377440"/>
            <a:ext cx="1356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防护钩子</a:t>
            </a:r>
            <a:endParaRPr lang="en-US" sz="1500" dirty="0"/>
          </a:p>
        </p:txBody>
      </p:sp>
      <p:sp>
        <p:nvSpPr>
          <p:cNvPr id="39" name="label-59"/>
          <p:cNvSpPr txBox="1"/>
          <p:nvPr/>
        </p:nvSpPr>
        <p:spPr>
          <a:xfrm>
            <a:off x="10195560" y="2715768"/>
            <a:ext cx="1356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9C7D6"/>
                </a:solidFill>
              </a:rPr>
              <a:t>贯穿每次工具调用</a:t>
            </a:r>
            <a:endParaRPr lang="en-US" sz="1050" dirty="0"/>
          </a:p>
        </p:txBody>
      </p:sp>
      <p:sp>
        <p:nvSpPr>
          <p:cNvPr id="40" name="box-60"/>
          <p:cNvSpPr/>
          <p:nvPr/>
        </p:nvSpPr>
        <p:spPr>
          <a:xfrm>
            <a:off x="10268712" y="3108960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密钥脱敏</a:t>
            </a:r>
            <a:endParaRPr lang="en-US" sz="1200" dirty="0"/>
          </a:p>
        </p:txBody>
      </p:sp>
      <p:sp>
        <p:nvSpPr>
          <p:cNvPr id="41" name="box-61"/>
          <p:cNvSpPr/>
          <p:nvPr/>
        </p:nvSpPr>
        <p:spPr>
          <a:xfrm>
            <a:off x="10268712" y="3767328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临床数据门</a:t>
            </a:r>
            <a:endParaRPr lang="en-US" sz="1200" dirty="0"/>
          </a:p>
        </p:txBody>
      </p:sp>
      <p:sp>
        <p:nvSpPr>
          <p:cNvPr id="42" name="box-62"/>
          <p:cNvSpPr/>
          <p:nvPr/>
        </p:nvSpPr>
        <p:spPr>
          <a:xfrm>
            <a:off x="10268712" y="4425696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证据数值核验</a:t>
            </a:r>
            <a:endParaRPr lang="en-US" sz="1200" dirty="0"/>
          </a:p>
        </p:txBody>
      </p:sp>
      <p:sp>
        <p:nvSpPr>
          <p:cNvPr id="43" name="box-63"/>
          <p:cNvSpPr/>
          <p:nvPr/>
        </p:nvSpPr>
        <p:spPr>
          <a:xfrm>
            <a:off x="10268712" y="5084064"/>
            <a:ext cx="1209751" cy="512064"/>
          </a:xfrm>
          <a:prstGeom prst="roundRect">
            <a:avLst>
              <a:gd name="adj" fmla="val 14286"/>
            </a:avLst>
          </a:prstGeom>
          <a:solidFill>
            <a:srgbClr val="27466A"/>
          </a:solidFill>
          <a:ln w="6350">
            <a:solidFill>
              <a:srgbClr val="27466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引用完整性检查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一次科研提问的数据流转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每一步都留下记录；依据被新研究推翻时，结论会被“追回”。</a:t>
            </a:r>
            <a:endParaRPr lang="en-US" sz="1500" dirty="0"/>
          </a:p>
        </p:txBody>
      </p:sp>
      <p:sp>
        <p:nvSpPr>
          <p:cNvPr id="4" name="badge-64"/>
          <p:cNvSpPr/>
          <p:nvPr/>
        </p:nvSpPr>
        <p:spPr>
          <a:xfrm>
            <a:off x="988295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box-65"/>
          <p:cNvSpPr/>
          <p:nvPr/>
        </p:nvSpPr>
        <p:spPr>
          <a:xfrm>
            <a:off x="54864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提问</a:t>
            </a:r>
            <a:endParaRPr lang="en-US" sz="1350" dirty="0"/>
          </a:p>
        </p:txBody>
      </p:sp>
      <p:sp>
        <p:nvSpPr>
          <p:cNvPr id="6" name="label-66"/>
          <p:cNvSpPr txBox="1"/>
          <p:nvPr/>
        </p:nvSpPr>
        <p:spPr>
          <a:xfrm>
            <a:off x="50292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研究问题</a:t>
            </a:r>
            <a:endParaRPr lang="en-US" sz="1150" dirty="0"/>
          </a:p>
        </p:txBody>
      </p:sp>
      <p:sp>
        <p:nvSpPr>
          <p:cNvPr id="7" name="arrow-67"/>
          <p:cNvSpPr/>
          <p:nvPr/>
        </p:nvSpPr>
        <p:spPr>
          <a:xfrm>
            <a:off x="1793710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badge-68"/>
          <p:cNvSpPr/>
          <p:nvPr/>
        </p:nvSpPr>
        <p:spPr>
          <a:xfrm>
            <a:off x="2397957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box-69"/>
          <p:cNvSpPr/>
          <p:nvPr/>
        </p:nvSpPr>
        <p:spPr>
          <a:xfrm>
            <a:off x="1958302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规划分工</a:t>
            </a:r>
            <a:endParaRPr lang="en-US" sz="1350" dirty="0"/>
          </a:p>
        </p:txBody>
      </p:sp>
      <p:sp>
        <p:nvSpPr>
          <p:cNvPr id="10" name="label-70"/>
          <p:cNvSpPr txBox="1"/>
          <p:nvPr/>
        </p:nvSpPr>
        <p:spPr>
          <a:xfrm>
            <a:off x="1912582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任务清单</a:t>
            </a:r>
            <a:endParaRPr lang="en-US" sz="1150" dirty="0"/>
          </a:p>
        </p:txBody>
      </p:sp>
      <p:sp>
        <p:nvSpPr>
          <p:cNvPr id="11" name="arrow-71"/>
          <p:cNvSpPr/>
          <p:nvPr/>
        </p:nvSpPr>
        <p:spPr>
          <a:xfrm>
            <a:off x="3203372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badge-72"/>
          <p:cNvSpPr/>
          <p:nvPr/>
        </p:nvSpPr>
        <p:spPr>
          <a:xfrm>
            <a:off x="3807619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box-73"/>
          <p:cNvSpPr/>
          <p:nvPr/>
        </p:nvSpPr>
        <p:spPr>
          <a:xfrm>
            <a:off x="3367964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检索证据</a:t>
            </a:r>
            <a:endParaRPr lang="en-US" sz="1350" dirty="0"/>
          </a:p>
        </p:txBody>
      </p:sp>
      <p:sp>
        <p:nvSpPr>
          <p:cNvPr id="14" name="label-74"/>
          <p:cNvSpPr txBox="1"/>
          <p:nvPr/>
        </p:nvSpPr>
        <p:spPr>
          <a:xfrm>
            <a:off x="3322244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标题 + 摘要</a:t>
            </a:r>
            <a:endParaRPr lang="en-US" sz="1150" dirty="0"/>
          </a:p>
        </p:txBody>
      </p:sp>
      <p:sp>
        <p:nvSpPr>
          <p:cNvPr id="15" name="arrow-75"/>
          <p:cNvSpPr/>
          <p:nvPr/>
        </p:nvSpPr>
        <p:spPr>
          <a:xfrm>
            <a:off x="4613034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badge-76"/>
          <p:cNvSpPr/>
          <p:nvPr/>
        </p:nvSpPr>
        <p:spPr>
          <a:xfrm>
            <a:off x="5217281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box-77"/>
          <p:cNvSpPr/>
          <p:nvPr/>
        </p:nvSpPr>
        <p:spPr>
          <a:xfrm>
            <a:off x="4777626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等价类聚合</a:t>
            </a:r>
            <a:endParaRPr lang="en-US" sz="1350" dirty="0"/>
          </a:p>
        </p:txBody>
      </p:sp>
      <p:sp>
        <p:nvSpPr>
          <p:cNvPr id="18" name="label-78"/>
          <p:cNvSpPr txBox="1"/>
          <p:nvPr/>
        </p:nvSpPr>
        <p:spPr>
          <a:xfrm>
            <a:off x="4731906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claim → 试验 → 队列</a:t>
            </a:r>
            <a:endParaRPr lang="en-US" sz="1150" dirty="0"/>
          </a:p>
        </p:txBody>
      </p:sp>
      <p:sp>
        <p:nvSpPr>
          <p:cNvPr id="19" name="arrow-79"/>
          <p:cNvSpPr/>
          <p:nvPr/>
        </p:nvSpPr>
        <p:spPr>
          <a:xfrm>
            <a:off x="6022696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badge-80"/>
          <p:cNvSpPr/>
          <p:nvPr/>
        </p:nvSpPr>
        <p:spPr>
          <a:xfrm>
            <a:off x="6626943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box-81"/>
          <p:cNvSpPr/>
          <p:nvPr/>
        </p:nvSpPr>
        <p:spPr>
          <a:xfrm>
            <a:off x="6187288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矛盾优先验证</a:t>
            </a:r>
            <a:endParaRPr lang="en-US" sz="1350" dirty="0"/>
          </a:p>
        </p:txBody>
      </p:sp>
      <p:sp>
        <p:nvSpPr>
          <p:cNvPr id="22" name="label-82"/>
          <p:cNvSpPr txBox="1"/>
          <p:nvPr/>
        </p:nvSpPr>
        <p:spPr>
          <a:xfrm>
            <a:off x="6141568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反证 / 失败复现</a:t>
            </a:r>
            <a:endParaRPr lang="en-US" sz="1150" dirty="0"/>
          </a:p>
        </p:txBody>
      </p:sp>
      <p:sp>
        <p:nvSpPr>
          <p:cNvPr id="23" name="arrow-83"/>
          <p:cNvSpPr/>
          <p:nvPr/>
        </p:nvSpPr>
        <p:spPr>
          <a:xfrm>
            <a:off x="7432357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4" name="badge-84"/>
          <p:cNvSpPr/>
          <p:nvPr/>
        </p:nvSpPr>
        <p:spPr>
          <a:xfrm>
            <a:off x="8036604" y="160020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box-85"/>
          <p:cNvSpPr/>
          <p:nvPr/>
        </p:nvSpPr>
        <p:spPr>
          <a:xfrm>
            <a:off x="7596950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状态机更新</a:t>
            </a:r>
            <a:endParaRPr lang="en-US" sz="1350" dirty="0"/>
          </a:p>
        </p:txBody>
      </p:sp>
      <p:sp>
        <p:nvSpPr>
          <p:cNvPr id="26" name="label-86"/>
          <p:cNvSpPr txBox="1"/>
          <p:nvPr/>
        </p:nvSpPr>
        <p:spPr>
          <a:xfrm>
            <a:off x="7551230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四种 claim 状态</a:t>
            </a:r>
            <a:endParaRPr lang="en-US" sz="1150" dirty="0"/>
          </a:p>
        </p:txBody>
      </p:sp>
      <p:sp>
        <p:nvSpPr>
          <p:cNvPr id="27" name="arrow-87"/>
          <p:cNvSpPr/>
          <p:nvPr/>
        </p:nvSpPr>
        <p:spPr>
          <a:xfrm>
            <a:off x="8842019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badge-88"/>
          <p:cNvSpPr/>
          <p:nvPr/>
        </p:nvSpPr>
        <p:spPr>
          <a:xfrm>
            <a:off x="9446266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9" name="box-89"/>
          <p:cNvSpPr/>
          <p:nvPr/>
        </p:nvSpPr>
        <p:spPr>
          <a:xfrm>
            <a:off x="9006611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综合判断</a:t>
            </a:r>
            <a:endParaRPr lang="en-US" sz="1350" dirty="0"/>
          </a:p>
        </p:txBody>
      </p:sp>
      <p:sp>
        <p:nvSpPr>
          <p:cNvPr id="30" name="label-90"/>
          <p:cNvSpPr txBox="1"/>
          <p:nvPr/>
        </p:nvSpPr>
        <p:spPr>
          <a:xfrm>
            <a:off x="8960891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审查员把关</a:t>
            </a:r>
            <a:endParaRPr lang="en-US" sz="1150" dirty="0"/>
          </a:p>
        </p:txBody>
      </p:sp>
      <p:sp>
        <p:nvSpPr>
          <p:cNvPr id="31" name="arrow-91"/>
          <p:cNvSpPr/>
          <p:nvPr/>
        </p:nvSpPr>
        <p:spPr>
          <a:xfrm>
            <a:off x="10251681" y="2491740"/>
            <a:ext cx="146304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2" name="badge-92"/>
          <p:cNvSpPr/>
          <p:nvPr/>
        </p:nvSpPr>
        <p:spPr>
          <a:xfrm>
            <a:off x="10855928" y="1600200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33" name="box-93"/>
          <p:cNvSpPr/>
          <p:nvPr/>
        </p:nvSpPr>
        <p:spPr>
          <a:xfrm>
            <a:off x="10416273" y="2057400"/>
            <a:ext cx="1226782" cy="868680"/>
          </a:xfrm>
          <a:prstGeom prst="roundRect">
            <a:avLst>
              <a:gd name="adj" fmla="val 8421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输出结论</a:t>
            </a:r>
            <a:endParaRPr lang="en-US" sz="1350" dirty="0"/>
          </a:p>
        </p:txBody>
      </p:sp>
      <p:sp>
        <p:nvSpPr>
          <p:cNvPr id="34" name="label-94"/>
          <p:cNvSpPr txBox="1"/>
          <p:nvPr/>
        </p:nvSpPr>
        <p:spPr>
          <a:xfrm>
            <a:off x="10370553" y="3017520"/>
            <a:ext cx="13182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结论 + 证据编号</a:t>
            </a:r>
            <a:endParaRPr lang="en-US" sz="1150" dirty="0"/>
          </a:p>
        </p:txBody>
      </p:sp>
      <p:sp>
        <p:nvSpPr>
          <p:cNvPr id="35" name="legend-95"/>
          <p:cNvSpPr/>
          <p:nvPr/>
        </p:nvSpPr>
        <p:spPr>
          <a:xfrm>
            <a:off x="548640" y="3566160"/>
            <a:ext cx="274320" cy="182880"/>
          </a:xfrm>
          <a:prstGeom prst="roundRect">
            <a:avLst>
              <a:gd name="adj" fmla="val 15000"/>
            </a:avLst>
          </a:prstGeom>
          <a:solidFill>
            <a:srgbClr val="E3F3F1"/>
          </a:solidFill>
          <a:ln w="12700">
            <a:solidFill>
              <a:srgbClr val="0E8A7E"/>
            </a:solidFill>
            <a:prstDash val="solid"/>
          </a:ln>
        </p:spPr>
      </p:sp>
      <p:sp>
        <p:nvSpPr>
          <p:cNvPr id="36" name="label-96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绿色：由证据治理层（A 类）完成的步骤</a:t>
            </a:r>
            <a:endParaRPr lang="en-US" sz="1150" dirty="0"/>
          </a:p>
        </p:txBody>
      </p:sp>
      <p:sp>
        <p:nvSpPr>
          <p:cNvPr id="37" name="card-97"/>
          <p:cNvSpPr/>
          <p:nvPr/>
        </p:nvSpPr>
        <p:spPr>
          <a:xfrm>
            <a:off x="548640" y="4160520"/>
            <a:ext cx="11094415" cy="1965960"/>
          </a:xfrm>
          <a:prstGeom prst="roundRect">
            <a:avLst>
              <a:gd name="adj" fmla="val 4651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38" name="label-98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新事件到来时的回路（时间证据状态机）</a:t>
            </a:r>
            <a:endParaRPr lang="en-US" sz="1500" dirty="0"/>
          </a:p>
        </p:txBody>
      </p:sp>
      <p:sp>
        <p:nvSpPr>
          <p:cNvPr id="39" name="box-99"/>
          <p:cNvSpPr/>
          <p:nvPr/>
        </p:nvSpPr>
        <p:spPr>
          <a:xfrm>
            <a:off x="822960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新事件：撤回 / 试验终止 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失败复现 / 安全信号</a:t>
            </a:r>
            <a:endParaRPr lang="en-US" sz="1300" dirty="0"/>
          </a:p>
        </p:txBody>
      </p:sp>
      <p:sp>
        <p:nvSpPr>
          <p:cNvPr id="40" name="arrow-100"/>
          <p:cNvSpPr/>
          <p:nvPr/>
        </p:nvSpPr>
        <p:spPr>
          <a:xfrm>
            <a:off x="3178226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1" name="box-101"/>
          <p:cNvSpPr/>
          <p:nvPr/>
        </p:nvSpPr>
        <p:spPr>
          <a:xfrm>
            <a:off x="3562274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分类事件类型</a:t>
            </a:r>
            <a:endParaRPr lang="en-US" sz="1300" dirty="0"/>
          </a:p>
        </p:txBody>
      </p:sp>
      <p:sp>
        <p:nvSpPr>
          <p:cNvPr id="42" name="arrow-102"/>
          <p:cNvSpPr/>
          <p:nvPr/>
        </p:nvSpPr>
        <p:spPr>
          <a:xfrm>
            <a:off x="5917540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3" name="box-103"/>
          <p:cNvSpPr/>
          <p:nvPr/>
        </p:nvSpPr>
        <p:spPr>
          <a:xfrm>
            <a:off x="6301588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只更新受影响的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claim 或 endpoint</a:t>
            </a:r>
            <a:endParaRPr lang="en-US" sz="1300" dirty="0"/>
          </a:p>
        </p:txBody>
      </p:sp>
      <p:sp>
        <p:nvSpPr>
          <p:cNvPr id="44" name="arrow-104"/>
          <p:cNvSpPr/>
          <p:nvPr/>
        </p:nvSpPr>
        <p:spPr>
          <a:xfrm>
            <a:off x="8656853" y="5257800"/>
            <a:ext cx="35661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5" name="box-105"/>
          <p:cNvSpPr/>
          <p:nvPr/>
        </p:nvSpPr>
        <p:spPr>
          <a:xfrm>
            <a:off x="9040901" y="4846320"/>
            <a:ext cx="2327834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无关结论保持不变，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报告不会整体崩溃</a:t>
            </a:r>
            <a:endParaRPr lang="en-US" sz="1300" dirty="0"/>
          </a:p>
        </p:txBody>
      </p:sp>
      <p:sp>
        <p:nvSpPr>
          <p:cNvPr id="46" name="label-106"/>
          <p:cNvSpPr txBox="1"/>
          <p:nvPr/>
        </p:nvSpPr>
        <p:spPr>
          <a:xfrm>
            <a:off x="822960" y="57607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例：2024 年伏塞洛托（Oxbryta）出现安全信号撤市 → 依赖“批准”的 claim 更新为 refuted → 只依赖 HOPE 试验的“能提高血红蛋白”保持不变。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类设计 1：时间证据状态机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证据会随时间失效；结论的状态必须跟着证据的最新事件走，而且只动受影响的部分。</a:t>
            </a:r>
            <a:endParaRPr lang="en-US" sz="1500" dirty="0"/>
          </a:p>
        </p:txBody>
      </p:sp>
      <p:sp>
        <p:nvSpPr>
          <p:cNvPr id="4" name="card-107"/>
          <p:cNvSpPr/>
          <p:nvPr/>
        </p:nvSpPr>
        <p:spPr>
          <a:xfrm>
            <a:off x="548640" y="1554480"/>
            <a:ext cx="5760720" cy="1325880"/>
          </a:xfrm>
          <a:prstGeom prst="roundRect">
            <a:avLst>
              <a:gd name="adj" fmla="val 6897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5" name="label-108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痛点：</a:t>
            </a:r>
            <a:endParaRPr lang="en-US" sz="1300" dirty="0"/>
          </a:p>
        </p:txBody>
      </p:sp>
      <p:sp>
        <p:nvSpPr>
          <p:cNvPr id="6" name="label-109"/>
          <p:cNvSpPr txBox="1"/>
          <p:nvPr/>
        </p:nvSpPr>
        <p:spPr>
          <a:xfrm>
            <a:off x="777240" y="1984248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模型训练知识或旧检索结果中包含已经撤回、终止、失败复现或出现安全信号的证据，但模型仍把它们当作有效支持。</a:t>
            </a:r>
            <a:endParaRPr lang="en-US" sz="1250" dirty="0"/>
          </a:p>
        </p:txBody>
      </p:sp>
      <p:sp>
        <p:nvSpPr>
          <p:cNvPr id="7" name="card-110"/>
          <p:cNvSpPr/>
          <p:nvPr/>
        </p:nvSpPr>
        <p:spPr>
          <a:xfrm>
            <a:off x="548640" y="3017520"/>
            <a:ext cx="5760720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label-111"/>
          <p:cNvSpPr txBox="1"/>
          <p:nvPr/>
        </p:nvSpPr>
        <p:spPr>
          <a:xfrm>
            <a:off x="777240" y="31272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设计：</a:t>
            </a:r>
            <a:endParaRPr lang="en-US" sz="1300" dirty="0"/>
          </a:p>
        </p:txBody>
      </p:sp>
      <p:sp>
        <p:nvSpPr>
          <p:cNvPr id="9" name="bullets-112"/>
          <p:cNvSpPr txBox="1"/>
          <p:nvPr/>
        </p:nvSpPr>
        <p:spPr>
          <a:xfrm>
            <a:off x="777240" y="3520440"/>
            <a:ext cx="5303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为每个 claim 维护状态：supported、contested、refuted、expired</a:t>
            </a:r>
            <a:endParaRPr lang="en-US" sz="14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将新事件分类为撤回、试验终止、失败复现、安全信号等</a:t>
            </a:r>
            <a:endParaRPr lang="en-US" sz="14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只更新受影响的 claim 或 endpoint</a:t>
            </a:r>
            <a:endParaRPr lang="en-US" sz="14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不允许无关证据失效导致整个报告一起崩溃</a:t>
            </a:r>
            <a:endParaRPr lang="en-US" sz="1450" dirty="0"/>
          </a:p>
        </p:txBody>
      </p:sp>
      <p:sp>
        <p:nvSpPr>
          <p:cNvPr id="10" name="label-113"/>
          <p:cNvSpPr txBox="1"/>
          <p:nvPr/>
        </p:nvSpPr>
        <p:spPr>
          <a:xfrm>
            <a:off x="6583680" y="1572768"/>
            <a:ext cx="5059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claim 的四种状态</a:t>
            </a:r>
            <a:endParaRPr lang="en-US" sz="1300" dirty="0"/>
          </a:p>
        </p:txBody>
      </p:sp>
      <p:sp>
        <p:nvSpPr>
          <p:cNvPr id="11" name="box-114"/>
          <p:cNvSpPr/>
          <p:nvPr/>
        </p:nvSpPr>
        <p:spPr>
          <a:xfrm>
            <a:off x="6583680" y="1920240"/>
            <a:ext cx="1196264" cy="457200"/>
          </a:xfrm>
          <a:prstGeom prst="roundRect">
            <a:avLst>
              <a:gd name="adj" fmla="val 16000"/>
            </a:avLst>
          </a:prstGeom>
          <a:solidFill>
            <a:srgbClr val="0E8A7E"/>
          </a:solidFill>
          <a:ln w="635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supported</a:t>
            </a:r>
            <a:endParaRPr lang="en-US" sz="1200" dirty="0"/>
          </a:p>
        </p:txBody>
      </p:sp>
      <p:sp>
        <p:nvSpPr>
          <p:cNvPr id="12" name="box-115"/>
          <p:cNvSpPr/>
          <p:nvPr/>
        </p:nvSpPr>
        <p:spPr>
          <a:xfrm>
            <a:off x="7871384" y="1920240"/>
            <a:ext cx="1196264" cy="457200"/>
          </a:xfrm>
          <a:prstGeom prst="roundRect">
            <a:avLst>
              <a:gd name="adj" fmla="val 16000"/>
            </a:avLst>
          </a:prstGeom>
          <a:solidFill>
            <a:srgbClr val="C9792A"/>
          </a:solidFill>
          <a:ln w="635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contested</a:t>
            </a:r>
            <a:endParaRPr lang="en-US" sz="1200" dirty="0"/>
          </a:p>
        </p:txBody>
      </p:sp>
      <p:sp>
        <p:nvSpPr>
          <p:cNvPr id="13" name="box-116"/>
          <p:cNvSpPr/>
          <p:nvPr/>
        </p:nvSpPr>
        <p:spPr>
          <a:xfrm>
            <a:off x="9159088" y="1920240"/>
            <a:ext cx="1196264" cy="457200"/>
          </a:xfrm>
          <a:prstGeom prst="roundRect">
            <a:avLst>
              <a:gd name="adj" fmla="val 16000"/>
            </a:avLst>
          </a:prstGeom>
          <a:solidFill>
            <a:srgbClr val="B4233A"/>
          </a:solidFill>
          <a:ln w="6350">
            <a:solidFill>
              <a:srgbClr val="B4233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refuted</a:t>
            </a:r>
            <a:endParaRPr lang="en-US" sz="1200" dirty="0"/>
          </a:p>
        </p:txBody>
      </p:sp>
      <p:sp>
        <p:nvSpPr>
          <p:cNvPr id="14" name="box-117"/>
          <p:cNvSpPr/>
          <p:nvPr/>
        </p:nvSpPr>
        <p:spPr>
          <a:xfrm>
            <a:off x="10446791" y="1920240"/>
            <a:ext cx="1196264" cy="457200"/>
          </a:xfrm>
          <a:prstGeom prst="roundRect">
            <a:avLst>
              <a:gd name="adj" fmla="val 16000"/>
            </a:avLst>
          </a:prstGeom>
          <a:solidFill>
            <a:srgbClr val="5B6B7C"/>
          </a:solidFill>
          <a:ln w="6350">
            <a:solidFill>
              <a:srgbClr val="5B6B7C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expired</a:t>
            </a:r>
            <a:endParaRPr lang="en-US" sz="1200" dirty="0"/>
          </a:p>
        </p:txBody>
      </p:sp>
      <p:sp>
        <p:nvSpPr>
          <p:cNvPr id="15" name="label-118"/>
          <p:cNvSpPr txBox="1"/>
          <p:nvPr/>
        </p:nvSpPr>
        <p:spPr>
          <a:xfrm>
            <a:off x="6583680" y="2542032"/>
            <a:ext cx="5059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触发状态变化的新事件</a:t>
            </a:r>
            <a:endParaRPr lang="en-US" sz="1300" dirty="0"/>
          </a:p>
        </p:txBody>
      </p:sp>
      <p:sp>
        <p:nvSpPr>
          <p:cNvPr id="16" name="box-119"/>
          <p:cNvSpPr/>
          <p:nvPr/>
        </p:nvSpPr>
        <p:spPr>
          <a:xfrm>
            <a:off x="6583680" y="2880360"/>
            <a:ext cx="1196264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撤回</a:t>
            </a:r>
            <a:endParaRPr lang="en-US" sz="1200" dirty="0"/>
          </a:p>
        </p:txBody>
      </p:sp>
      <p:sp>
        <p:nvSpPr>
          <p:cNvPr id="17" name="box-120"/>
          <p:cNvSpPr/>
          <p:nvPr/>
        </p:nvSpPr>
        <p:spPr>
          <a:xfrm>
            <a:off x="7871384" y="2880360"/>
            <a:ext cx="1196264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试验终止</a:t>
            </a:r>
            <a:endParaRPr lang="en-US" sz="1200" dirty="0"/>
          </a:p>
        </p:txBody>
      </p:sp>
      <p:sp>
        <p:nvSpPr>
          <p:cNvPr id="18" name="box-121"/>
          <p:cNvSpPr/>
          <p:nvPr/>
        </p:nvSpPr>
        <p:spPr>
          <a:xfrm>
            <a:off x="9159088" y="2880360"/>
            <a:ext cx="1196264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失败复现</a:t>
            </a:r>
            <a:endParaRPr lang="en-US" sz="1200" dirty="0"/>
          </a:p>
        </p:txBody>
      </p:sp>
      <p:sp>
        <p:nvSpPr>
          <p:cNvPr id="19" name="box-122"/>
          <p:cNvSpPr/>
          <p:nvPr/>
        </p:nvSpPr>
        <p:spPr>
          <a:xfrm>
            <a:off x="10446791" y="2880360"/>
            <a:ext cx="1196264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安全信号</a:t>
            </a:r>
            <a:endParaRPr lang="en-US" sz="1200" dirty="0"/>
          </a:p>
        </p:txBody>
      </p:sp>
      <p:sp>
        <p:nvSpPr>
          <p:cNvPr id="20" name="card-123"/>
          <p:cNvSpPr/>
          <p:nvPr/>
        </p:nvSpPr>
        <p:spPr>
          <a:xfrm>
            <a:off x="6583680" y="3474720"/>
            <a:ext cx="5059375" cy="2606040"/>
          </a:xfrm>
          <a:prstGeom prst="roundRect">
            <a:avLst>
              <a:gd name="adj" fmla="val 3509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21" name="label-124"/>
          <p:cNvSpPr txBox="1"/>
          <p:nvPr/>
        </p:nvSpPr>
        <p:spPr>
          <a:xfrm>
            <a:off x="6766560" y="3566160"/>
            <a:ext cx="4693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例：伏塞洛托（Oxbryta），镰状细胞病</a:t>
            </a:r>
            <a:endParaRPr lang="en-US" sz="1250" dirty="0"/>
          </a:p>
        </p:txBody>
      </p:sp>
      <p:graphicFrame>
        <p:nvGraphicFramePr>
          <p:cNvPr id="7" name="table-1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931920"/>
          <a:ext cx="46936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1325880"/>
                <a:gridCol w="1264615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claim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可用于治疗该病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claim B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能提高血红蛋白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C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2019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HOPE 试验 + 加速批准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supported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8A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supported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安全信号，撤市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refuted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不受影响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3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label-126"/>
          <p:cNvSpPr txBox="1"/>
          <p:nvPr/>
        </p:nvSpPr>
        <p:spPr>
          <a:xfrm>
            <a:off x="6766560" y="5029200"/>
            <a:ext cx="4693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只更新依赖“批准”的 claim A；claim B 只依赖 HOPE 试验，保持不变——无关证据失效不会让整个报告崩溃。HOPE 试验：NEJM 2019，PMID 31199090。</a:t>
            </a:r>
            <a:endParaRPr lang="en-US" sz="1050" dirty="0"/>
          </a:p>
        </p:txBody>
      </p:sp>
      <p:sp>
        <p:nvSpPr>
          <p:cNvPr id="24" name="label-127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实现状态：3.0 证据账本已实现依赖级联与撤稿扫描（原型），状态名称将对齐为上述四种；此例已写成自动化测试。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类设计 2：临床试验等价类聚合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同一试验的多篇论文是一个“等价类”：独立性只算一次，信息一篇不丢。</a:t>
            </a:r>
            <a:endParaRPr lang="en-US" sz="1500" dirty="0"/>
          </a:p>
        </p:txBody>
      </p:sp>
      <p:sp>
        <p:nvSpPr>
          <p:cNvPr id="4" name="card-128"/>
          <p:cNvSpPr/>
          <p:nvPr/>
        </p:nvSpPr>
        <p:spPr>
          <a:xfrm>
            <a:off x="548640" y="1554480"/>
            <a:ext cx="5760720" cy="1554480"/>
          </a:xfrm>
          <a:prstGeom prst="roundRect">
            <a:avLst>
              <a:gd name="adj" fmla="val 5882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5" name="label-129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痛点：</a:t>
            </a:r>
            <a:endParaRPr lang="en-US" sz="1300" dirty="0"/>
          </a:p>
        </p:txBody>
      </p:sp>
      <p:sp>
        <p:nvSpPr>
          <p:cNvPr id="6" name="label-130"/>
          <p:cNvSpPr txBox="1"/>
          <p:nvPr/>
        </p:nvSpPr>
        <p:spPr>
          <a:xfrm>
            <a:off x="777240" y="1984248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同一临床试验、同一患者队列可能产生多篇论文。模型容易把论文数量误认为独立证据数量；但简单去重又会丢掉长期随访、安全性和亚组信息。</a:t>
            </a:r>
            <a:endParaRPr lang="en-US" sz="1250" dirty="0"/>
          </a:p>
        </p:txBody>
      </p:sp>
      <p:sp>
        <p:nvSpPr>
          <p:cNvPr id="7" name="card-131"/>
          <p:cNvSpPr/>
          <p:nvPr/>
        </p:nvSpPr>
        <p:spPr>
          <a:xfrm>
            <a:off x="548640" y="3246120"/>
            <a:ext cx="5760720" cy="2834640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label-132"/>
          <p:cNvSpPr txBox="1"/>
          <p:nvPr/>
        </p:nvSpPr>
        <p:spPr>
          <a:xfrm>
            <a:off x="777240" y="33558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设计：</a:t>
            </a:r>
            <a:endParaRPr lang="en-US" sz="1300" dirty="0"/>
          </a:p>
        </p:txBody>
      </p:sp>
      <p:sp>
        <p:nvSpPr>
          <p:cNvPr id="9" name="label-133"/>
          <p:cNvSpPr txBox="1"/>
          <p:nvPr/>
        </p:nvSpPr>
        <p:spPr>
          <a:xfrm>
            <a:off x="777240" y="36758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按三层结构组织证据：</a:t>
            </a:r>
            <a:endParaRPr lang="en-US" sz="1300" dirty="0"/>
          </a:p>
        </p:txBody>
      </p:sp>
      <p:sp>
        <p:nvSpPr>
          <p:cNvPr id="10" name="label-134"/>
          <p:cNvSpPr txBox="1"/>
          <p:nvPr/>
        </p:nvSpPr>
        <p:spPr>
          <a:xfrm>
            <a:off x="777240" y="3986784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claim → study/trial → patient cohort</a:t>
            </a:r>
            <a:endParaRPr lang="en-US" sz="1500" dirty="0"/>
          </a:p>
        </p:txBody>
      </p:sp>
      <p:sp>
        <p:nvSpPr>
          <p:cNvPr id="11" name="bullets-135"/>
          <p:cNvSpPr txBox="1"/>
          <p:nvPr/>
        </p:nvSpPr>
        <p:spPr>
          <a:xfrm>
            <a:off x="777240" y="4434840"/>
            <a:ext cx="5303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同一试验的多篇论文只贡献一次独立性权重；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不同论文提供的互补 endpoint 仍然保留；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独立研究增加证据强度，同源论文主要增加信息覆盖，而不是独立性。</a:t>
            </a:r>
            <a:endParaRPr lang="en-US" sz="1250" dirty="0"/>
          </a:p>
        </p:txBody>
      </p:sp>
      <p:sp>
        <p:nvSpPr>
          <p:cNvPr id="12" name="card-136"/>
          <p:cNvSpPr/>
          <p:nvPr/>
        </p:nvSpPr>
        <p:spPr>
          <a:xfrm>
            <a:off x="6583680" y="1554480"/>
            <a:ext cx="5059375" cy="4526280"/>
          </a:xfrm>
          <a:prstGeom prst="roundRect">
            <a:avLst>
              <a:gd name="adj" fmla="val 202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label-137"/>
          <p:cNvSpPr txBox="1"/>
          <p:nvPr/>
        </p:nvSpPr>
        <p:spPr>
          <a:xfrm>
            <a:off x="6766560" y="1645920"/>
            <a:ext cx="4693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例：阿贝西利用于乳腺癌</a:t>
            </a:r>
            <a:endParaRPr lang="en-US" sz="1250" dirty="0"/>
          </a:p>
        </p:txBody>
      </p:sp>
      <p:sp>
        <p:nvSpPr>
          <p:cNvPr id="14" name="box-138"/>
          <p:cNvSpPr/>
          <p:nvPr/>
        </p:nvSpPr>
        <p:spPr>
          <a:xfrm>
            <a:off x="6766560" y="2011680"/>
            <a:ext cx="4693615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claim：阿贝西利对 HR+/HER2− 乳腺癌有效</a:t>
            </a:r>
            <a:endParaRPr lang="en-US" sz="1200" dirty="0"/>
          </a:p>
        </p:txBody>
      </p:sp>
      <p:sp>
        <p:nvSpPr>
          <p:cNvPr id="15" name="arrow-139"/>
          <p:cNvSpPr/>
          <p:nvPr/>
        </p:nvSpPr>
        <p:spPr>
          <a:xfrm>
            <a:off x="7894244" y="2487168"/>
            <a:ext cx="0" cy="25603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arrow-140"/>
          <p:cNvSpPr/>
          <p:nvPr/>
        </p:nvSpPr>
        <p:spPr>
          <a:xfrm>
            <a:off x="10332491" y="2487168"/>
            <a:ext cx="0" cy="25603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box-141"/>
          <p:cNvSpPr/>
          <p:nvPr/>
        </p:nvSpPr>
        <p:spPr>
          <a:xfrm>
            <a:off x="6766560" y="2761488"/>
            <a:ext cx="2255368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study/trial：monarchE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NCT03155997</a:t>
            </a:r>
            <a:endParaRPr lang="en-US" sz="1100" dirty="0"/>
          </a:p>
        </p:txBody>
      </p:sp>
      <p:sp>
        <p:nvSpPr>
          <p:cNvPr id="18" name="box-142"/>
          <p:cNvSpPr/>
          <p:nvPr/>
        </p:nvSpPr>
        <p:spPr>
          <a:xfrm>
            <a:off x="9204808" y="2761488"/>
            <a:ext cx="225536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study/trial：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其他独立试验</a:t>
            </a:r>
            <a:endParaRPr lang="en-US" sz="1100" dirty="0"/>
          </a:p>
        </p:txBody>
      </p:sp>
      <p:sp>
        <p:nvSpPr>
          <p:cNvPr id="19" name="arrow-143"/>
          <p:cNvSpPr/>
          <p:nvPr/>
        </p:nvSpPr>
        <p:spPr>
          <a:xfrm>
            <a:off x="7894244" y="3346704"/>
            <a:ext cx="0" cy="219456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box-144"/>
          <p:cNvSpPr/>
          <p:nvPr/>
        </p:nvSpPr>
        <p:spPr>
          <a:xfrm>
            <a:off x="6766560" y="3584448"/>
            <a:ext cx="2255368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patient cohort：同一批受试者</a:t>
            </a:r>
            <a:endParaRPr lang="en-US" sz="1050" dirty="0"/>
          </a:p>
        </p:txBody>
      </p:sp>
      <p:sp>
        <p:nvSpPr>
          <p:cNvPr id="21" name="label-145"/>
          <p:cNvSpPr txBox="1"/>
          <p:nvPr/>
        </p:nvSpPr>
        <p:spPr>
          <a:xfrm>
            <a:off x="6766560" y="4069080"/>
            <a:ext cx="225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检索到 6 篇论文：</a:t>
            </a:r>
            <a:endParaRPr lang="en-US" sz="1050" dirty="0"/>
          </a:p>
        </p:txBody>
      </p:sp>
      <p:sp>
        <p:nvSpPr>
          <p:cNvPr id="22" name="box-146"/>
          <p:cNvSpPr/>
          <p:nvPr/>
        </p:nvSpPr>
        <p:spPr>
          <a:xfrm>
            <a:off x="6766560" y="4370832"/>
            <a:ext cx="1100252" cy="329184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主结果</a:t>
            </a:r>
            <a:endParaRPr lang="en-US" sz="1050" dirty="0"/>
          </a:p>
        </p:txBody>
      </p:sp>
      <p:sp>
        <p:nvSpPr>
          <p:cNvPr id="23" name="box-147"/>
          <p:cNvSpPr/>
          <p:nvPr/>
        </p:nvSpPr>
        <p:spPr>
          <a:xfrm>
            <a:off x="7921676" y="4370832"/>
            <a:ext cx="1100252" cy="329184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亚组分析</a:t>
            </a:r>
            <a:endParaRPr lang="en-US" sz="1050" dirty="0"/>
          </a:p>
        </p:txBody>
      </p:sp>
      <p:sp>
        <p:nvSpPr>
          <p:cNvPr id="24" name="box-148"/>
          <p:cNvSpPr/>
          <p:nvPr/>
        </p:nvSpPr>
        <p:spPr>
          <a:xfrm>
            <a:off x="6766560" y="4754880"/>
            <a:ext cx="1100252" cy="329184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长期随访</a:t>
            </a:r>
            <a:endParaRPr lang="en-US" sz="1050" dirty="0"/>
          </a:p>
        </p:txBody>
      </p:sp>
      <p:sp>
        <p:nvSpPr>
          <p:cNvPr id="25" name="box-149"/>
          <p:cNvSpPr/>
          <p:nvPr/>
        </p:nvSpPr>
        <p:spPr>
          <a:xfrm>
            <a:off x="7921676" y="4754880"/>
            <a:ext cx="1100252" cy="329184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安全性</a:t>
            </a:r>
            <a:endParaRPr lang="en-US" sz="1050" dirty="0"/>
          </a:p>
        </p:txBody>
      </p:sp>
      <p:sp>
        <p:nvSpPr>
          <p:cNvPr id="26" name="label-150"/>
          <p:cNvSpPr txBox="1"/>
          <p:nvPr/>
        </p:nvSpPr>
        <p:spPr>
          <a:xfrm>
            <a:off x="9204808" y="3611880"/>
            <a:ext cx="22553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独立性权重：1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（不是 6）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互补 endpoint：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全部保留</a:t>
            </a:r>
            <a:endParaRPr lang="en-US" sz="1200" dirty="0"/>
          </a:p>
        </p:txBody>
      </p:sp>
      <p:sp>
        <p:nvSpPr>
          <p:cNvPr id="27" name="label-151"/>
          <p:cNvSpPr txBox="1"/>
          <p:nvPr/>
        </p:nvSpPr>
        <p:spPr>
          <a:xfrm>
            <a:off x="6766560" y="5193792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实测：94 个问题中，含试验证据的问题 40% 存在同源论文；对照实验中给出摘要时模型受影响约 1 分（满分 100），只给标题时尚待检验。</a:t>
            </a:r>
            <a:endParaRPr lang="en-US" sz="1000" dirty="0"/>
          </a:p>
        </p:txBody>
      </p:sp>
      <p:sp>
        <p:nvSpPr>
          <p:cNvPr id="28" name="label-152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实现状态：设计中；同源识别使用 PubMed 试验关联与摘要中的 NCT 编号，数据与脚本已存档（packages/core/evaluation）。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类设计 3：矛盾优先主动验证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取证不是找“最相关”，而是找“最可能改变结论”的证据。</a:t>
            </a:r>
            <a:endParaRPr lang="en-US" sz="1500" dirty="0"/>
          </a:p>
        </p:txBody>
      </p:sp>
      <p:sp>
        <p:nvSpPr>
          <p:cNvPr id="4" name="card-153"/>
          <p:cNvSpPr/>
          <p:nvPr/>
        </p:nvSpPr>
        <p:spPr>
          <a:xfrm>
            <a:off x="548640" y="1554480"/>
            <a:ext cx="5760720" cy="1325880"/>
          </a:xfrm>
          <a:prstGeom prst="roundRect">
            <a:avLst>
              <a:gd name="adj" fmla="val 6897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5" name="label-154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痛点：</a:t>
            </a:r>
            <a:endParaRPr lang="en-US" sz="1300" dirty="0"/>
          </a:p>
        </p:txBody>
      </p:sp>
      <p:sp>
        <p:nvSpPr>
          <p:cNvPr id="6" name="label-155"/>
          <p:cNvSpPr txBox="1"/>
          <p:nvPr/>
        </p:nvSpPr>
        <p:spPr>
          <a:xfrm>
            <a:off x="777240" y="1984248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普通检索智能体倾向于继续寻找支持性文献，很少主动寻找反证、失败复现或独立来源，容易形成确认偏差。</a:t>
            </a:r>
            <a:endParaRPr lang="en-US" sz="1250" dirty="0"/>
          </a:p>
        </p:txBody>
      </p:sp>
      <p:sp>
        <p:nvSpPr>
          <p:cNvPr id="7" name="card-156"/>
          <p:cNvSpPr/>
          <p:nvPr/>
        </p:nvSpPr>
        <p:spPr>
          <a:xfrm>
            <a:off x="548640" y="3017520"/>
            <a:ext cx="576072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label-157"/>
          <p:cNvSpPr txBox="1"/>
          <p:nvPr/>
        </p:nvSpPr>
        <p:spPr>
          <a:xfrm>
            <a:off x="777240" y="31272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设计：</a:t>
            </a:r>
            <a:endParaRPr lang="en-US" sz="1300" dirty="0"/>
          </a:p>
        </p:txBody>
      </p:sp>
      <p:sp>
        <p:nvSpPr>
          <p:cNvPr id="9" name="label-158"/>
          <p:cNvSpPr txBox="1"/>
          <p:nvPr/>
        </p:nvSpPr>
        <p:spPr>
          <a:xfrm>
            <a:off x="777240" y="345643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在固定证据预算下，优先选择：</a:t>
            </a:r>
            <a:endParaRPr lang="en-US" sz="1300" dirty="0"/>
          </a:p>
        </p:txBody>
      </p:sp>
      <p:sp>
        <p:nvSpPr>
          <p:cNvPr id="10" name="badge-159"/>
          <p:cNvSpPr/>
          <p:nvPr/>
        </p:nvSpPr>
        <p:spPr>
          <a:xfrm>
            <a:off x="822960" y="3822192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label-160"/>
          <p:cNvSpPr txBox="1"/>
          <p:nvPr/>
        </p:nvSpPr>
        <p:spPr>
          <a:xfrm>
            <a:off x="1234440" y="38039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最可能改变当前结论的证据；</a:t>
            </a:r>
            <a:endParaRPr lang="en-US" sz="1300" dirty="0"/>
          </a:p>
        </p:txBody>
      </p:sp>
      <p:sp>
        <p:nvSpPr>
          <p:cNvPr id="12" name="badge-161"/>
          <p:cNvSpPr/>
          <p:nvPr/>
        </p:nvSpPr>
        <p:spPr>
          <a:xfrm>
            <a:off x="822960" y="4251960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label-162"/>
          <p:cNvSpPr txBox="1"/>
          <p:nvPr/>
        </p:nvSpPr>
        <p:spPr>
          <a:xfrm>
            <a:off x="1234440" y="42336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与现有结论矛盾的证据；</a:t>
            </a:r>
            <a:endParaRPr lang="en-US" sz="1300" dirty="0"/>
          </a:p>
        </p:txBody>
      </p:sp>
      <p:sp>
        <p:nvSpPr>
          <p:cNvPr id="14" name="badge-163"/>
          <p:cNvSpPr/>
          <p:nvPr/>
        </p:nvSpPr>
        <p:spPr>
          <a:xfrm>
            <a:off x="822960" y="4681728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label-164"/>
          <p:cNvSpPr txBox="1"/>
          <p:nvPr/>
        </p:nvSpPr>
        <p:spPr>
          <a:xfrm>
            <a:off x="1234440" y="46634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与已有来源最不依赖的证据；</a:t>
            </a:r>
            <a:endParaRPr lang="en-US" sz="1300" dirty="0"/>
          </a:p>
        </p:txBody>
      </p:sp>
      <p:sp>
        <p:nvSpPr>
          <p:cNvPr id="16" name="badge-165"/>
          <p:cNvSpPr/>
          <p:nvPr/>
        </p:nvSpPr>
        <p:spPr>
          <a:xfrm>
            <a:off x="822960" y="5111496"/>
            <a:ext cx="310896" cy="31089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label-166"/>
          <p:cNvSpPr txBox="1"/>
          <p:nvPr/>
        </p:nvSpPr>
        <p:spPr>
          <a:xfrm>
            <a:off x="1234440" y="509320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预期信息增益最高的证据。</a:t>
            </a:r>
            <a:endParaRPr lang="en-US" sz="1300" dirty="0"/>
          </a:p>
        </p:txBody>
      </p:sp>
      <p:sp>
        <p:nvSpPr>
          <p:cNvPr id="18" name="card-167"/>
          <p:cNvSpPr/>
          <p:nvPr/>
        </p:nvSpPr>
        <p:spPr>
          <a:xfrm>
            <a:off x="6583680" y="1554480"/>
            <a:ext cx="2438248" cy="274320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label-168"/>
          <p:cNvSpPr txBox="1"/>
          <p:nvPr/>
        </p:nvSpPr>
        <p:spPr>
          <a:xfrm>
            <a:off x="6766560" y="1664208"/>
            <a:ext cx="207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普通检索智能体</a:t>
            </a:r>
            <a:endParaRPr lang="en-US" sz="1300" dirty="0"/>
          </a:p>
        </p:txBody>
      </p:sp>
      <p:sp>
        <p:nvSpPr>
          <p:cNvPr id="20" name="bullets-169"/>
          <p:cNvSpPr txBox="1"/>
          <p:nvPr/>
        </p:nvSpPr>
        <p:spPr>
          <a:xfrm>
            <a:off x="6766560" y="2057400"/>
            <a:ext cx="207248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按相关性排序取前 N 篇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继续寻找支持性文献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很少主动找反证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容易形成确认偏差</a:t>
            </a:r>
            <a:endParaRPr lang="en-US" sz="1200" dirty="0"/>
          </a:p>
        </p:txBody>
      </p:sp>
      <p:sp>
        <p:nvSpPr>
          <p:cNvPr id="21" name="card-170"/>
          <p:cNvSpPr/>
          <p:nvPr/>
        </p:nvSpPr>
        <p:spPr>
          <a:xfrm>
            <a:off x="9204808" y="1554480"/>
            <a:ext cx="2438248" cy="2743200"/>
          </a:xfrm>
          <a:prstGeom prst="roundRect">
            <a:avLst>
              <a:gd name="adj" fmla="val 3750"/>
            </a:avLst>
          </a:prstGeom>
          <a:solidFill>
            <a:srgbClr val="E3F3F1"/>
          </a:solidFill>
          <a:ln w="12700">
            <a:solidFill>
              <a:srgbClr val="E3F3F1"/>
            </a:solidFill>
            <a:prstDash val="solid"/>
          </a:ln>
        </p:spPr>
      </p:sp>
      <p:sp>
        <p:nvSpPr>
          <p:cNvPr id="22" name="label-171"/>
          <p:cNvSpPr txBox="1"/>
          <p:nvPr/>
        </p:nvSpPr>
        <p:spPr>
          <a:xfrm>
            <a:off x="9387688" y="1664208"/>
            <a:ext cx="2072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MedScience</a:t>
            </a:r>
            <a:endParaRPr lang="en-US" sz="1300" dirty="0"/>
          </a:p>
        </p:txBody>
      </p:sp>
      <p:sp>
        <p:nvSpPr>
          <p:cNvPr id="23" name="bullets-172"/>
          <p:cNvSpPr txBox="1"/>
          <p:nvPr/>
        </p:nvSpPr>
        <p:spPr>
          <a:xfrm>
            <a:off x="9387688" y="2057400"/>
            <a:ext cx="207248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在固定预算内排序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先查可能推翻结论的证据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主动找失败复现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优先找独立来源</a:t>
            </a:r>
            <a:endParaRPr lang="en-US" sz="1200" dirty="0"/>
          </a:p>
        </p:txBody>
      </p:sp>
      <p:sp>
        <p:nvSpPr>
          <p:cNvPr id="24" name="box-173"/>
          <p:cNvSpPr/>
          <p:nvPr/>
        </p:nvSpPr>
        <p:spPr>
          <a:xfrm>
            <a:off x="6583680" y="4434840"/>
            <a:ext cx="5059375" cy="1325880"/>
          </a:xfrm>
          <a:prstGeom prst="roundRect">
            <a:avLst>
              <a:gd name="adj" fmla="val 5517"/>
            </a:avLst>
          </a:prstGeom>
          <a:solidFill>
            <a:srgbClr val="FBF4EC"/>
          </a:solidFill>
          <a:ln w="12700">
            <a:solidFill>
              <a:srgbClr val="C9792A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真实例子见下一页：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CETP 抑制剂与 HDL</a:t>
            </a:r>
            <a:endParaRPr lang="en-US" sz="1500" dirty="0"/>
          </a:p>
        </p:txBody>
      </p:sp>
      <p:sp>
        <p:nvSpPr>
          <p:cNvPr id="25" name="box-174"/>
          <p:cNvSpPr/>
          <p:nvPr/>
        </p:nvSpPr>
        <p:spPr>
          <a:xfrm>
            <a:off x="548640" y="5870448"/>
            <a:ext cx="11094415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rgbClr val="0E8A7E"/>
            </a:solidFill>
          </a:ln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它不是简单选择“相关性最高”的论文，而是主动寻找最有可能改变决策的证据。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类设计 3 例子：CETP 抑制剂与 HDL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在做决定之前，先去找最可能推翻结论的证据。</a:t>
            </a:r>
            <a:endParaRPr lang="en-US" sz="1500" dirty="0"/>
          </a:p>
        </p:txBody>
      </p:sp>
      <p:sp>
        <p:nvSpPr>
          <p:cNvPr id="4" name="box-175"/>
          <p:cNvSpPr/>
          <p:nvPr/>
        </p:nvSpPr>
        <p:spPr>
          <a:xfrm>
            <a:off x="548640" y="1508760"/>
            <a:ext cx="11094415" cy="475488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结论（claim）：用 CETP 抑制剂升高"好胆固醇" HDL，可以降低心血管风险。</a:t>
            </a:r>
            <a:endParaRPr lang="en-US" sz="1500" dirty="0"/>
          </a:p>
        </p:txBody>
      </p:sp>
      <p:sp>
        <p:nvSpPr>
          <p:cNvPr id="5" name="card-176"/>
          <p:cNvSpPr/>
          <p:nvPr/>
        </p:nvSpPr>
        <p:spPr>
          <a:xfrm>
            <a:off x="548640" y="2121408"/>
            <a:ext cx="3794760" cy="1481328"/>
          </a:xfrm>
          <a:prstGeom prst="roundRect">
            <a:avLst>
              <a:gd name="adj" fmla="val 61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abel-177"/>
          <p:cNvSpPr txBox="1"/>
          <p:nvPr/>
        </p:nvSpPr>
        <p:spPr>
          <a:xfrm>
            <a:off x="731520" y="22128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accent6"/>
                </a:solidFill>
              </a:rPr>
              <a:t>按相关性检索会看到什么：</a:t>
            </a:r>
            <a:endParaRPr lang="en-US" sz="1250" dirty="0"/>
          </a:p>
        </p:txBody>
      </p:sp>
      <p:sp>
        <p:nvSpPr>
          <p:cNvPr id="7" name="label-178"/>
          <p:cNvSpPr txBox="1"/>
          <p:nvPr/>
        </p:nvSpPr>
        <p:spPr>
          <a:xfrm>
            <a:off x="731520" y="251460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HDL 越高、心血管风险越低的观察性研究，以及 CETP 抑制剂能大幅升高 HDL 的研究，看起来全都支持这个结论。</a:t>
            </a:r>
            <a:endParaRPr lang="en-US" sz="1150" dirty="0"/>
          </a:p>
        </p:txBody>
      </p:sp>
      <p:sp>
        <p:nvSpPr>
          <p:cNvPr id="8" name="card-179"/>
          <p:cNvSpPr/>
          <p:nvPr/>
        </p:nvSpPr>
        <p:spPr>
          <a:xfrm>
            <a:off x="548640" y="3712464"/>
            <a:ext cx="3794760" cy="1481328"/>
          </a:xfrm>
          <a:prstGeom prst="roundRect">
            <a:avLst>
              <a:gd name="adj" fmla="val 6173"/>
            </a:avLst>
          </a:prstGeom>
          <a:solidFill>
            <a:srgbClr val="FBF4EC"/>
          </a:solidFill>
          <a:ln w="12700">
            <a:solidFill>
              <a:srgbClr val="FBF4EC"/>
            </a:solidFill>
            <a:prstDash val="solid"/>
          </a:ln>
        </p:spPr>
      </p:sp>
      <p:sp>
        <p:nvSpPr>
          <p:cNvPr id="9" name="label-180"/>
          <p:cNvSpPr txBox="1"/>
          <p:nvPr/>
        </p:nvSpPr>
        <p:spPr>
          <a:xfrm>
            <a:off x="731520" y="378561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后来发生了什么：</a:t>
            </a:r>
            <a:endParaRPr lang="en-US" sz="1250" dirty="0"/>
          </a:p>
        </p:txBody>
      </p:sp>
      <p:sp>
        <p:nvSpPr>
          <p:cNvPr id="10" name="bullets-181"/>
          <p:cNvSpPr txBox="1"/>
          <p:nvPr/>
        </p:nvSpPr>
        <p:spPr>
          <a:xfrm>
            <a:off x="731520" y="4078224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ACCELERATE 试验（伊塞曲匹，NCT01687998）于 2012 年 10 月开始入组，共 12,092 人，最终因疗效不足终止（NEJM 2017，PMID 28514624）。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同类药物达塞曲匹的 dal-OUTCOMES 试验也没有显示获益（NEJM 2012，PMID 23126252）。</a:t>
            </a:r>
            <a:endParaRPr lang="en-US" sz="1050" dirty="0"/>
          </a:p>
        </p:txBody>
      </p:sp>
      <p:sp>
        <p:nvSpPr>
          <p:cNvPr id="11" name="label-182"/>
          <p:cNvSpPr txBox="1"/>
          <p:nvPr/>
        </p:nvSpPr>
        <p:spPr>
          <a:xfrm>
            <a:off x="4572000" y="2121408"/>
            <a:ext cx="707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按矛盾优先，会先去找这些证据：</a:t>
            </a:r>
            <a:endParaRPr lang="en-US" sz="1250" dirty="0"/>
          </a:p>
        </p:txBody>
      </p:sp>
      <p:graphicFrame>
        <p:nvGraphicFramePr>
          <p:cNvPr id="10" name="table-1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432304"/>
          <a:ext cx="707105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87649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A3 的四个优先项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对应的真实证据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A7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与现有结论矛盾的证据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托彻普（torcetrapib）的 ILLUMINATE 试验（NEJM 2007，PMID 17984165）：心血管事件和死亡反而增加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与已有来源最不依赖的证据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孟德尔随机化研究（Voight 等，Lancet 2012，PMID 22607825）：用基因数据检验，基因决定的 HDL 升高并不降低心肌梗死风险。这是独立于观察性研究的另一类证据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最可能改变当前结论的证据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以临床硬终点为结局的大型随机试验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2A4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预期信息增益最高的证据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5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以上两类（基因证据、硬终点试验），而不是再多一篇"HDL 与风险相关"的观察性研究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x-184"/>
          <p:cNvSpPr/>
          <p:nvPr/>
        </p:nvSpPr>
        <p:spPr>
          <a:xfrm>
            <a:off x="548640" y="5349240"/>
            <a:ext cx="11094415" cy="804672"/>
          </a:xfrm>
          <a:prstGeom prst="roundRect">
            <a:avLst>
              <a:gd name="adj" fmla="val 9091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这个例子要讲的一句话：在 ACCELERATE 开始入组之前，ILLUMINATE（2007）和孟德尔随机化研究（2012 年 8 月刊出）都已经发表。只按相关性检索，它们会淹没在大量支持性文献里；矛盾优先会把它们放到决策者面前。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 类设计：多智能体协作：像课题组一样分工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 类管“谁来做、谁把关”：像课题组一样，有人规划、有人执行、有人审查、有人成文。</a:t>
            </a:r>
            <a:endParaRPr lang="en-US" sz="1500" dirty="0"/>
          </a:p>
        </p:txBody>
      </p:sp>
      <p:sp>
        <p:nvSpPr>
          <p:cNvPr id="4" name="box-185"/>
          <p:cNvSpPr/>
          <p:nvPr/>
        </p:nvSpPr>
        <p:spPr>
          <a:xfrm>
            <a:off x="548640" y="1691640"/>
            <a:ext cx="1962851" cy="685800"/>
          </a:xfrm>
          <a:prstGeom prst="roundRect">
            <a:avLst>
              <a:gd name="adj" fmla="val 10667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研究课题</a:t>
            </a:r>
            <a:endParaRPr lang="en-US" sz="1500" dirty="0"/>
          </a:p>
        </p:txBody>
      </p:sp>
      <p:sp>
        <p:nvSpPr>
          <p:cNvPr id="5" name="label-186"/>
          <p:cNvSpPr txBox="1"/>
          <p:nvPr/>
        </p:nvSpPr>
        <p:spPr>
          <a:xfrm>
            <a:off x="548640" y="2450592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用户提出</a:t>
            </a:r>
            <a:endParaRPr lang="en-US" sz="1150" dirty="0"/>
          </a:p>
        </p:txBody>
      </p:sp>
      <p:sp>
        <p:nvSpPr>
          <p:cNvPr id="6" name="arrow-187"/>
          <p:cNvSpPr/>
          <p:nvPr/>
        </p:nvSpPr>
        <p:spPr>
          <a:xfrm>
            <a:off x="2538923" y="2029968"/>
            <a:ext cx="26517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7" name="box-188"/>
          <p:cNvSpPr/>
          <p:nvPr/>
        </p:nvSpPr>
        <p:spPr>
          <a:xfrm>
            <a:off x="2831531" y="1691640"/>
            <a:ext cx="1962851" cy="685800"/>
          </a:xfrm>
          <a:prstGeom prst="roundRect">
            <a:avLst>
              <a:gd name="adj" fmla="val 10667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队长规划</a:t>
            </a:r>
            <a:endParaRPr lang="en-US" sz="1500" dirty="0"/>
          </a:p>
        </p:txBody>
      </p:sp>
      <p:sp>
        <p:nvSpPr>
          <p:cNvPr id="8" name="label-189"/>
          <p:cNvSpPr txBox="1"/>
          <p:nvPr/>
        </p:nvSpPr>
        <p:spPr>
          <a:xfrm>
            <a:off x="2831531" y="2450592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PI 拆解任务</a:t>
            </a:r>
            <a:endParaRPr lang="en-US" sz="1150" dirty="0"/>
          </a:p>
        </p:txBody>
      </p:sp>
      <p:sp>
        <p:nvSpPr>
          <p:cNvPr id="9" name="arrow-190"/>
          <p:cNvSpPr/>
          <p:nvPr/>
        </p:nvSpPr>
        <p:spPr>
          <a:xfrm>
            <a:off x="4821814" y="2029968"/>
            <a:ext cx="26517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0" name="box-191"/>
          <p:cNvSpPr/>
          <p:nvPr/>
        </p:nvSpPr>
        <p:spPr>
          <a:xfrm>
            <a:off x="5114422" y="1691640"/>
            <a:ext cx="1962851" cy="685800"/>
          </a:xfrm>
          <a:prstGeom prst="roundRect">
            <a:avLst>
              <a:gd name="adj" fmla="val 10667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成员并行</a:t>
            </a:r>
            <a:endParaRPr lang="en-US" sz="1500" dirty="0"/>
          </a:p>
        </p:txBody>
      </p:sp>
      <p:sp>
        <p:nvSpPr>
          <p:cNvPr id="11" name="label-192"/>
          <p:cNvSpPr txBox="1"/>
          <p:nvPr/>
        </p:nvSpPr>
        <p:spPr>
          <a:xfrm>
            <a:off x="5114422" y="2450592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领域专家执行</a:t>
            </a:r>
            <a:endParaRPr lang="en-US" sz="1150" dirty="0"/>
          </a:p>
        </p:txBody>
      </p:sp>
      <p:sp>
        <p:nvSpPr>
          <p:cNvPr id="12" name="arrow-193"/>
          <p:cNvSpPr/>
          <p:nvPr/>
        </p:nvSpPr>
        <p:spPr>
          <a:xfrm>
            <a:off x="7104705" y="2029968"/>
            <a:ext cx="26517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box-194"/>
          <p:cNvSpPr/>
          <p:nvPr/>
        </p:nvSpPr>
        <p:spPr>
          <a:xfrm>
            <a:off x="7397313" y="1691640"/>
            <a:ext cx="1962851" cy="685800"/>
          </a:xfrm>
          <a:prstGeom prst="roundRect">
            <a:avLst>
              <a:gd name="adj" fmla="val 10667"/>
            </a:avLst>
          </a:prstGeom>
          <a:solidFill>
            <a:srgbClr val="E3F3F1"/>
          </a:solidFill>
          <a:ln w="12700">
            <a:solidFill>
              <a:srgbClr val="0E8A7E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质量门</a:t>
            </a:r>
            <a:endParaRPr lang="en-US" sz="1500" dirty="0"/>
          </a:p>
        </p:txBody>
      </p:sp>
      <p:sp>
        <p:nvSpPr>
          <p:cNvPr id="14" name="label-195"/>
          <p:cNvSpPr txBox="1"/>
          <p:nvPr/>
        </p:nvSpPr>
        <p:spPr>
          <a:xfrm>
            <a:off x="7397313" y="2450592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规则 + 审查员</a:t>
            </a:r>
            <a:endParaRPr lang="en-US" sz="1150" dirty="0"/>
          </a:p>
        </p:txBody>
      </p:sp>
      <p:sp>
        <p:nvSpPr>
          <p:cNvPr id="15" name="arrow-196"/>
          <p:cNvSpPr/>
          <p:nvPr/>
        </p:nvSpPr>
        <p:spPr>
          <a:xfrm>
            <a:off x="9387596" y="2029968"/>
            <a:ext cx="265176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box-197"/>
          <p:cNvSpPr/>
          <p:nvPr/>
        </p:nvSpPr>
        <p:spPr>
          <a:xfrm>
            <a:off x="9680204" y="1691640"/>
            <a:ext cx="1962851" cy="685800"/>
          </a:xfrm>
          <a:prstGeom prst="roundRect">
            <a:avLst>
              <a:gd name="adj" fmla="val 10667"/>
            </a:avLst>
          </a:prstGeom>
          <a:solidFill>
            <a:srgbClr val="F2F5F8"/>
          </a:solidFill>
          <a:ln w="6350">
            <a:solidFill>
              <a:srgbClr val="F2F5F8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综合报告</a:t>
            </a:r>
            <a:endParaRPr lang="en-US" sz="1500" dirty="0"/>
          </a:p>
        </p:txBody>
      </p:sp>
      <p:sp>
        <p:nvSpPr>
          <p:cNvPr id="17" name="label-198"/>
          <p:cNvSpPr txBox="1"/>
          <p:nvPr/>
        </p:nvSpPr>
        <p:spPr>
          <a:xfrm>
            <a:off x="9680204" y="2450592"/>
            <a:ext cx="19628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写作专家成文</a:t>
            </a:r>
            <a:endParaRPr lang="en-US" sz="1150" dirty="0"/>
          </a:p>
        </p:txBody>
      </p:sp>
      <p:sp>
        <p:nvSpPr>
          <p:cNvPr id="18" name="card-199"/>
          <p:cNvSpPr/>
          <p:nvPr/>
        </p:nvSpPr>
        <p:spPr>
          <a:xfrm>
            <a:off x="548640" y="2971800"/>
            <a:ext cx="2602154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-200"/>
          <p:cNvSpPr/>
          <p:nvPr/>
        </p:nvSpPr>
        <p:spPr>
          <a:xfrm>
            <a:off x="777240" y="3154680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0" name="label-201"/>
          <p:cNvSpPr txBox="1"/>
          <p:nvPr/>
        </p:nvSpPr>
        <p:spPr>
          <a:xfrm>
            <a:off x="1234440" y="3136392"/>
            <a:ext cx="17791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队长（PI）</a:t>
            </a:r>
            <a:endParaRPr lang="en-US" sz="1500" dirty="0"/>
          </a:p>
        </p:txBody>
      </p:sp>
      <p:sp>
        <p:nvSpPr>
          <p:cNvPr id="21" name="label-202"/>
          <p:cNvSpPr txBox="1"/>
          <p:nvPr/>
        </p:nvSpPr>
        <p:spPr>
          <a:xfrm>
            <a:off x="777240" y="3657600"/>
            <a:ext cx="21906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把课题拆成有依赖的任务；可要求先审批计划，再开始执行。</a:t>
            </a:r>
            <a:endParaRPr lang="en-US" sz="1250" dirty="0"/>
          </a:p>
        </p:txBody>
      </p:sp>
      <p:sp>
        <p:nvSpPr>
          <p:cNvPr id="22" name="card-203"/>
          <p:cNvSpPr/>
          <p:nvPr/>
        </p:nvSpPr>
        <p:spPr>
          <a:xfrm>
            <a:off x="3379394" y="2971800"/>
            <a:ext cx="2602154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badge-204"/>
          <p:cNvSpPr/>
          <p:nvPr/>
        </p:nvSpPr>
        <p:spPr>
          <a:xfrm>
            <a:off x="3607994" y="3154680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4" name="label-205"/>
          <p:cNvSpPr txBox="1"/>
          <p:nvPr/>
        </p:nvSpPr>
        <p:spPr>
          <a:xfrm>
            <a:off x="4065194" y="3136392"/>
            <a:ext cx="17791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领域专家成员</a:t>
            </a:r>
            <a:endParaRPr lang="en-US" sz="1500" dirty="0"/>
          </a:p>
        </p:txBody>
      </p:sp>
      <p:sp>
        <p:nvSpPr>
          <p:cNvPr id="25" name="label-206"/>
          <p:cNvSpPr txBox="1"/>
          <p:nvPr/>
        </p:nvSpPr>
        <p:spPr>
          <a:xfrm>
            <a:off x="3607994" y="3657600"/>
            <a:ext cx="21906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26 位领域专家角色并行工作；交接时每条发现都必须附证据编号。</a:t>
            </a:r>
            <a:endParaRPr lang="en-US" sz="1250" dirty="0"/>
          </a:p>
        </p:txBody>
      </p:sp>
      <p:sp>
        <p:nvSpPr>
          <p:cNvPr id="26" name="card-207"/>
          <p:cNvSpPr/>
          <p:nvPr/>
        </p:nvSpPr>
        <p:spPr>
          <a:xfrm>
            <a:off x="6210148" y="2971800"/>
            <a:ext cx="2602154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badge-208"/>
          <p:cNvSpPr/>
          <p:nvPr/>
        </p:nvSpPr>
        <p:spPr>
          <a:xfrm>
            <a:off x="6438748" y="3154680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label-209"/>
          <p:cNvSpPr txBox="1"/>
          <p:nvPr/>
        </p:nvSpPr>
        <p:spPr>
          <a:xfrm>
            <a:off x="6895948" y="3136392"/>
            <a:ext cx="17791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质量门</a:t>
            </a:r>
            <a:endParaRPr lang="en-US" sz="1500" dirty="0"/>
          </a:p>
        </p:txBody>
      </p:sp>
      <p:sp>
        <p:nvSpPr>
          <p:cNvPr id="29" name="label-210"/>
          <p:cNvSpPr txBox="1"/>
          <p:nvPr/>
        </p:nvSpPr>
        <p:spPr>
          <a:xfrm>
            <a:off x="6438748" y="3657600"/>
            <a:ext cx="21906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规则检查 + 科研审查员；工具失败不算“阴性结果”。</a:t>
            </a:r>
            <a:endParaRPr lang="en-US" sz="1250" dirty="0"/>
          </a:p>
        </p:txBody>
      </p:sp>
      <p:sp>
        <p:nvSpPr>
          <p:cNvPr id="30" name="card-211"/>
          <p:cNvSpPr/>
          <p:nvPr/>
        </p:nvSpPr>
        <p:spPr>
          <a:xfrm>
            <a:off x="9040901" y="2971800"/>
            <a:ext cx="2602154" cy="196596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badge-212"/>
          <p:cNvSpPr/>
          <p:nvPr/>
        </p:nvSpPr>
        <p:spPr>
          <a:xfrm>
            <a:off x="9269501" y="3154680"/>
            <a:ext cx="365760" cy="36576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32" name="label-213"/>
          <p:cNvSpPr txBox="1"/>
          <p:nvPr/>
        </p:nvSpPr>
        <p:spPr>
          <a:xfrm>
            <a:off x="9726701" y="3136392"/>
            <a:ext cx="17791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写作专家</a:t>
            </a:r>
            <a:endParaRPr lang="en-US" sz="1500" dirty="0"/>
          </a:p>
        </p:txBody>
      </p:sp>
      <p:sp>
        <p:nvSpPr>
          <p:cNvPr id="33" name="label-214"/>
          <p:cNvSpPr txBox="1"/>
          <p:nvPr/>
        </p:nvSpPr>
        <p:spPr>
          <a:xfrm>
            <a:off x="9269501" y="3657600"/>
            <a:ext cx="219067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把通过质量门的发现综合成报告，结论附证据编号。</a:t>
            </a:r>
            <a:endParaRPr lang="en-US" sz="1250" dirty="0"/>
          </a:p>
        </p:txBody>
      </p:sp>
      <p:sp>
        <p:nvSpPr>
          <p:cNvPr id="34" name="label-215"/>
          <p:cNvSpPr txBox="1"/>
          <p:nvPr/>
        </p:nvSpPr>
        <p:spPr>
          <a:xfrm>
            <a:off x="548640" y="5120640"/>
            <a:ext cx="3698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26 位</a:t>
            </a:r>
            <a:endParaRPr lang="en-US" sz="2800" dirty="0"/>
          </a:p>
        </p:txBody>
      </p:sp>
      <p:sp>
        <p:nvSpPr>
          <p:cNvPr id="35" name="label-216"/>
          <p:cNvSpPr txBox="1"/>
          <p:nvPr/>
        </p:nvSpPr>
        <p:spPr>
          <a:xfrm>
            <a:off x="548640" y="5669280"/>
            <a:ext cx="3698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领域专家角色</a:t>
            </a:r>
            <a:endParaRPr lang="en-US" sz="1200" dirty="0"/>
          </a:p>
        </p:txBody>
      </p:sp>
      <p:sp>
        <p:nvSpPr>
          <p:cNvPr id="36" name="label-217"/>
          <p:cNvSpPr txBox="1"/>
          <p:nvPr/>
        </p:nvSpPr>
        <p:spPr>
          <a:xfrm>
            <a:off x="4246778" y="5120640"/>
            <a:ext cx="3698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15 个</a:t>
            </a:r>
            <a:endParaRPr lang="en-US" sz="2800" dirty="0"/>
          </a:p>
        </p:txBody>
      </p:sp>
      <p:sp>
        <p:nvSpPr>
          <p:cNvPr id="37" name="label-218"/>
          <p:cNvSpPr txBox="1"/>
          <p:nvPr/>
        </p:nvSpPr>
        <p:spPr>
          <a:xfrm>
            <a:off x="4246778" y="5669280"/>
            <a:ext cx="3698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团队模板</a:t>
            </a:r>
            <a:endParaRPr lang="en-US" sz="1200" dirty="0"/>
          </a:p>
        </p:txBody>
      </p:sp>
      <p:sp>
        <p:nvSpPr>
          <p:cNvPr id="38" name="label-219"/>
          <p:cNvSpPr txBox="1"/>
          <p:nvPr/>
        </p:nvSpPr>
        <p:spPr>
          <a:xfrm>
            <a:off x="7944917" y="5120640"/>
            <a:ext cx="3698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@</a:t>
            </a:r>
            <a:endParaRPr lang="en-US" sz="2800" dirty="0"/>
          </a:p>
        </p:txBody>
      </p:sp>
      <p:sp>
        <p:nvSpPr>
          <p:cNvPr id="39" name="label-220"/>
          <p:cNvSpPr txBox="1"/>
          <p:nvPr/>
        </p:nvSpPr>
        <p:spPr>
          <a:xfrm>
            <a:off x="7944917" y="5669280"/>
            <a:ext cx="3698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直接点名专家</a:t>
            </a:r>
            <a:endParaRPr lang="en-US" sz="1200" dirty="0"/>
          </a:p>
        </p:txBody>
      </p:sp>
      <p:sp>
        <p:nvSpPr>
          <p:cNvPr id="40" name="label-221"/>
          <p:cNvSpPr txBox="1"/>
          <p:nvPr/>
        </p:nvSpPr>
        <p:spPr>
          <a:xfrm>
            <a:off x="548640" y="614476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实现状态：2.x 已具备，3.0 继续完善。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 类设计：本地运行时：直接用已有 AI 订阅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 类管“在哪里跑、用谁的额度”：科研与临床数据留在本机，复用已订阅的 AI 命令行工具。</a:t>
            </a:r>
            <a:endParaRPr lang="en-US" sz="1500" dirty="0"/>
          </a:p>
        </p:txBody>
      </p:sp>
      <p:sp>
        <p:nvSpPr>
          <p:cNvPr id="4" name="card-222"/>
          <p:cNvSpPr/>
          <p:nvPr/>
        </p:nvSpPr>
        <p:spPr>
          <a:xfrm>
            <a:off x="548640" y="1600200"/>
            <a:ext cx="603504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ox-223"/>
          <p:cNvSpPr/>
          <p:nvPr/>
        </p:nvSpPr>
        <p:spPr>
          <a:xfrm>
            <a:off x="822960" y="214884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6350">
            <a:solidFill>
              <a:schemeClr val="tx2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研究请求</a:t>
            </a:r>
            <a:endParaRPr lang="en-US" sz="1400" dirty="0"/>
          </a:p>
        </p:txBody>
      </p:sp>
      <p:sp>
        <p:nvSpPr>
          <p:cNvPr id="6" name="arrow-224"/>
          <p:cNvSpPr/>
          <p:nvPr/>
        </p:nvSpPr>
        <p:spPr>
          <a:xfrm>
            <a:off x="2304288" y="2468880"/>
            <a:ext cx="34747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7" name="box-225"/>
          <p:cNvSpPr/>
          <p:nvPr/>
        </p:nvSpPr>
        <p:spPr>
          <a:xfrm>
            <a:off x="2651760" y="214884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6350">
            <a:solidFill>
              <a:schemeClr val="accent6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执行路由</a:t>
            </a:r>
            <a:endParaRPr lang="en-US" sz="1400" dirty="0"/>
          </a:p>
        </p:txBody>
      </p:sp>
      <p:sp>
        <p:nvSpPr>
          <p:cNvPr id="8" name="arrow-226"/>
          <p:cNvSpPr/>
          <p:nvPr/>
        </p:nvSpPr>
        <p:spPr>
          <a:xfrm flipV="1">
            <a:off x="4041648" y="1947672"/>
            <a:ext cx="393192" cy="384048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9" name="arrow-227"/>
          <p:cNvSpPr/>
          <p:nvPr/>
        </p:nvSpPr>
        <p:spPr>
          <a:xfrm>
            <a:off x="4041648" y="2606040"/>
            <a:ext cx="393192" cy="384048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0" name="box-228"/>
          <p:cNvSpPr/>
          <p:nvPr/>
        </p:nvSpPr>
        <p:spPr>
          <a:xfrm>
            <a:off x="4434840" y="1737360"/>
            <a:ext cx="187452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rgbClr val="D5DCE4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模型 API · 按调用计费</a:t>
            </a:r>
            <a:endParaRPr lang="en-US" sz="1200" dirty="0"/>
          </a:p>
        </p:txBody>
      </p:sp>
      <p:sp>
        <p:nvSpPr>
          <p:cNvPr id="11" name="box-229"/>
          <p:cNvSpPr/>
          <p:nvPr/>
        </p:nvSpPr>
        <p:spPr>
          <a:xfrm>
            <a:off x="4434840" y="2761488"/>
            <a:ext cx="1874520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本地 CLI · 用已有订阅</a:t>
            </a:r>
            <a:endParaRPr lang="en-US" sz="1200" dirty="0"/>
          </a:p>
        </p:txBody>
      </p:sp>
      <p:sp>
        <p:nvSpPr>
          <p:cNvPr id="12" name="bullets-230"/>
          <p:cNvSpPr txBox="1"/>
          <p:nvPr/>
        </p:nvSpPr>
        <p:spPr>
          <a:xfrm>
            <a:off x="822960" y="35204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自动检测本机已登录的 26 种 AI 命令行工具（如 Codex、Claude Code）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每个会话独立配置目录，不混入日常使用记录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执行命令前先征得同意（Codex 全流程支持）；数据留在本机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临床数据门：原始病历与影像在本机沙盒内处理，外发需授权</a:t>
            </a:r>
            <a:endParaRPr lang="en-US" sz="1300" dirty="0"/>
          </a:p>
        </p:txBody>
      </p:sp>
      <p:sp>
        <p:nvSpPr>
          <p:cNvPr id="13" name="label-231"/>
          <p:cNvSpPr txBox="1"/>
          <p:nvPr/>
        </p:nvSpPr>
        <p:spPr>
          <a:xfrm>
            <a:off x="822960" y="54406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说明：Codex 走完整协议并支持审批；Claude Code 已验证会话隔离；其余工具为通用接入。使用前请确认订阅条款允许此类用法。</a:t>
            </a:r>
            <a:endParaRPr lang="en-US" sz="1050" dirty="0"/>
          </a:p>
        </p:txBody>
      </p:sp>
      <p:pic>
        <p:nvPicPr>
          <p:cNvPr id="14" name="screenshot-232" descr="运行时页面：自动检测到本机的 Claude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9738" y="1600200"/>
            <a:ext cx="4001579" cy="4160520"/>
          </a:xfrm>
          <a:prstGeom prst="rect">
            <a:avLst/>
          </a:prstGeom>
        </p:spPr>
      </p:pic>
      <p:sp>
        <p:nvSpPr>
          <p:cNvPr id="15" name="frame-233"/>
          <p:cNvSpPr/>
          <p:nvPr/>
        </p:nvSpPr>
        <p:spPr>
          <a:xfrm>
            <a:off x="7249738" y="1600200"/>
            <a:ext cx="4001579" cy="41605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label-234"/>
          <p:cNvSpPr txBox="1"/>
          <p:nvPr/>
        </p:nvSpPr>
        <p:spPr>
          <a:xfrm>
            <a:off x="7249738" y="5833872"/>
            <a:ext cx="40015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运行时页面：自动检测到本机的 Claude Code</a:t>
            </a:r>
            <a:endParaRPr lang="en-US" sz="1100" dirty="0"/>
          </a:p>
        </p:txBody>
      </p:sp>
      <p:sp>
        <p:nvSpPr>
          <p:cNvPr id="17" name="label-235"/>
          <p:cNvSpPr txBox="1"/>
          <p:nvPr/>
        </p:nvSpPr>
        <p:spPr>
          <a:xfrm>
            <a:off x="548640" y="614476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实现状态：2.x 已具备，3.0 继续完善。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使用说明：四步完成一次可追溯的研究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截图来自真实运行的 v3.0 应用。</a:t>
            </a:r>
            <a:endParaRPr lang="en-US" sz="1500" dirty="0"/>
          </a:p>
        </p:txBody>
      </p:sp>
      <p:sp>
        <p:nvSpPr>
          <p:cNvPr id="4" name="label-236"/>
          <p:cNvSpPr txBox="1"/>
          <p:nvPr/>
        </p:nvSpPr>
        <p:spPr>
          <a:xfrm>
            <a:off x="548640" y="1481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① 安装：从 GitHub Releases 下载对应平台安装包；或在源码目录运行 npm run web，用浏览器打开。</a:t>
            </a:r>
            <a:endParaRPr lang="en-US" sz="1300" dirty="0"/>
          </a:p>
        </p:txBody>
      </p:sp>
      <p:sp>
        <p:nvSpPr>
          <p:cNvPr id="5" name="badge-237"/>
          <p:cNvSpPr/>
          <p:nvPr/>
        </p:nvSpPr>
        <p:spPr>
          <a:xfrm>
            <a:off x="548640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label-238"/>
          <p:cNvSpPr txBox="1"/>
          <p:nvPr/>
        </p:nvSpPr>
        <p:spPr>
          <a:xfrm>
            <a:off x="1005840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配置运行时</a:t>
            </a:r>
            <a:endParaRPr lang="en-US" sz="1600" dirty="0"/>
          </a:p>
        </p:txBody>
      </p:sp>
      <p:sp>
        <p:nvSpPr>
          <p:cNvPr id="7" name="label-239"/>
          <p:cNvSpPr txBox="1"/>
          <p:nvPr/>
        </p:nvSpPr>
        <p:spPr>
          <a:xfrm>
            <a:off x="548640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安装后打开“运行时（模型配置）”，绑定本机 AI 命令行工具或填写模型 API。</a:t>
            </a:r>
            <a:endParaRPr lang="en-US" sz="1200" dirty="0"/>
          </a:p>
        </p:txBody>
      </p:sp>
      <p:sp>
        <p:nvSpPr>
          <p:cNvPr id="8" name="badge-240"/>
          <p:cNvSpPr/>
          <p:nvPr/>
        </p:nvSpPr>
        <p:spPr>
          <a:xfrm>
            <a:off x="4353458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9" name="label-241"/>
          <p:cNvSpPr txBox="1"/>
          <p:nvPr/>
        </p:nvSpPr>
        <p:spPr>
          <a:xfrm>
            <a:off x="4810658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提问</a:t>
            </a:r>
            <a:endParaRPr lang="en-US" sz="1600" dirty="0"/>
          </a:p>
        </p:txBody>
      </p:sp>
      <p:sp>
        <p:nvSpPr>
          <p:cNvPr id="10" name="label-242"/>
          <p:cNvSpPr txBox="1"/>
          <p:nvPr/>
        </p:nvSpPr>
        <p:spPr>
          <a:xfrm>
            <a:off x="4353458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直接提问；输入 @ 点名专家，或交给科研小队。</a:t>
            </a:r>
            <a:endParaRPr lang="en-US" sz="1200" dirty="0"/>
          </a:p>
        </p:txBody>
      </p:sp>
      <p:sp>
        <p:nvSpPr>
          <p:cNvPr id="11" name="badge-243"/>
          <p:cNvSpPr/>
          <p:nvPr/>
        </p:nvSpPr>
        <p:spPr>
          <a:xfrm>
            <a:off x="8158277" y="1901952"/>
            <a:ext cx="347472" cy="347472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2" name="label-244"/>
          <p:cNvSpPr txBox="1"/>
          <p:nvPr/>
        </p:nvSpPr>
        <p:spPr>
          <a:xfrm>
            <a:off x="8615477" y="1883664"/>
            <a:ext cx="30275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查看证据</a:t>
            </a:r>
            <a:endParaRPr lang="en-US" sz="1600" dirty="0"/>
          </a:p>
        </p:txBody>
      </p:sp>
      <p:sp>
        <p:nvSpPr>
          <p:cNvPr id="13" name="label-245"/>
          <p:cNvSpPr txBox="1"/>
          <p:nvPr/>
        </p:nvSpPr>
        <p:spPr>
          <a:xfrm>
            <a:off x="8158277" y="2304288"/>
            <a:ext cx="3484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查看每条证据的来源与状态（3.0 证据页）。</a:t>
            </a:r>
            <a:endParaRPr lang="en-US" sz="1200" dirty="0"/>
          </a:p>
        </p:txBody>
      </p:sp>
      <p:pic>
        <p:nvPicPr>
          <p:cNvPr id="14" name="screenshot-246" descr="自动检测到本机的 Claude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7854" y="2880360"/>
            <a:ext cx="2726350" cy="2834640"/>
          </a:xfrm>
          <a:prstGeom prst="rect">
            <a:avLst/>
          </a:prstGeom>
        </p:spPr>
      </p:pic>
      <p:sp>
        <p:nvSpPr>
          <p:cNvPr id="15" name="frame-247"/>
          <p:cNvSpPr/>
          <p:nvPr/>
        </p:nvSpPr>
        <p:spPr>
          <a:xfrm>
            <a:off x="927854" y="2880360"/>
            <a:ext cx="2726350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6" name="label-248"/>
          <p:cNvSpPr txBox="1"/>
          <p:nvPr/>
        </p:nvSpPr>
        <p:spPr>
          <a:xfrm>
            <a:off x="927854" y="5788152"/>
            <a:ext cx="27263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自动检测到本机的 Claude Code</a:t>
            </a:r>
            <a:endParaRPr lang="en-US" sz="1100" dirty="0"/>
          </a:p>
        </p:txBody>
      </p:sp>
      <p:pic>
        <p:nvPicPr>
          <p:cNvPr id="17" name="screenshot-249" descr="usage-ask-ment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458" y="2880360"/>
            <a:ext cx="3484778" cy="867323"/>
          </a:xfrm>
          <a:prstGeom prst="rect">
            <a:avLst/>
          </a:prstGeom>
        </p:spPr>
      </p:pic>
      <p:sp>
        <p:nvSpPr>
          <p:cNvPr id="18" name="frame-250"/>
          <p:cNvSpPr/>
          <p:nvPr/>
        </p:nvSpPr>
        <p:spPr>
          <a:xfrm>
            <a:off x="4353458" y="2880360"/>
            <a:ext cx="3484778" cy="867323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pic>
        <p:nvPicPr>
          <p:cNvPr id="19" name="screenshot-251" descr="@ 点名专家；工具调用逐步可查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3931920"/>
            <a:ext cx="3484778" cy="1184825"/>
          </a:xfrm>
          <a:prstGeom prst="rect">
            <a:avLst/>
          </a:prstGeom>
        </p:spPr>
      </p:pic>
      <p:sp>
        <p:nvSpPr>
          <p:cNvPr id="20" name="frame-252"/>
          <p:cNvSpPr/>
          <p:nvPr/>
        </p:nvSpPr>
        <p:spPr>
          <a:xfrm>
            <a:off x="4353458" y="3931920"/>
            <a:ext cx="3484778" cy="118482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1" name="label-253"/>
          <p:cNvSpPr txBox="1"/>
          <p:nvPr/>
        </p:nvSpPr>
        <p:spPr>
          <a:xfrm>
            <a:off x="4353458" y="5189897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@ 点名专家；工具调用逐步可查</a:t>
            </a:r>
            <a:endParaRPr lang="en-US" sz="1100" dirty="0"/>
          </a:p>
        </p:txBody>
      </p:sp>
      <p:pic>
        <p:nvPicPr>
          <p:cNvPr id="22" name="screenshot-254" descr="3.0 证据页：来源、状态、历史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277" y="2880360"/>
            <a:ext cx="3484778" cy="2462577"/>
          </a:xfrm>
          <a:prstGeom prst="rect">
            <a:avLst/>
          </a:prstGeom>
        </p:spPr>
      </p:pic>
      <p:sp>
        <p:nvSpPr>
          <p:cNvPr id="23" name="frame-255"/>
          <p:cNvSpPr/>
          <p:nvPr/>
        </p:nvSpPr>
        <p:spPr>
          <a:xfrm>
            <a:off x="8158277" y="2880360"/>
            <a:ext cx="3484778" cy="246257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4" name="label-256"/>
          <p:cNvSpPr txBox="1"/>
          <p:nvPr/>
        </p:nvSpPr>
        <p:spPr>
          <a:xfrm>
            <a:off x="8158277" y="5416089"/>
            <a:ext cx="3484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3.0 证据页：来源、状态、历史</a:t>
            </a:r>
            <a:endParaRPr lang="en-US" sz="1100" dirty="0"/>
          </a:p>
        </p:txBody>
      </p:sp>
      <p:sp>
        <p:nvSpPr>
          <p:cNvPr id="25" name="label-257"/>
          <p:cNvSpPr txBox="1"/>
          <p:nvPr/>
        </p:nvSpPr>
        <p:spPr>
          <a:xfrm>
            <a:off x="548640" y="61722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演示环境使用离线示例模型生成文字；文献为 PubMed 实时检索结果。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当前进展与下一步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B、C 已落地；A 类三个设计中，时间证据状态机已有原型，其余两个在设计中。</a:t>
            </a:r>
            <a:endParaRPr lang="en-US" sz="1500" dirty="0"/>
          </a:p>
        </p:txBody>
      </p:sp>
      <p:sp>
        <p:nvSpPr>
          <p:cNvPr id="4" name="card-258"/>
          <p:cNvSpPr/>
          <p:nvPr/>
        </p:nvSpPr>
        <p:spPr>
          <a:xfrm>
            <a:off x="548640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259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label-260"/>
          <p:cNvSpPr txBox="1"/>
          <p:nvPr/>
        </p:nvSpPr>
        <p:spPr>
          <a:xfrm>
            <a:off x="1325880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已完成</a:t>
            </a:r>
            <a:endParaRPr lang="en-US" sz="1800" dirty="0"/>
          </a:p>
        </p:txBody>
      </p:sp>
      <p:sp>
        <p:nvSpPr>
          <p:cNvPr id="7" name="bullets-261"/>
          <p:cNvSpPr txBox="1"/>
          <p:nvPr/>
        </p:nvSpPr>
        <p:spPr>
          <a:xfrm>
            <a:off x="822960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v3.0.0 已发布：三平台安装包和本地 Web 版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 多智能体协作、C 本地运行时已落地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A1 状态机原型：依赖级联与撤稿扫描，真实案例写成自动化测试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实测：40% 的问题存在同源论文</a:t>
            </a:r>
            <a:endParaRPr lang="en-US" sz="1400" dirty="0"/>
          </a:p>
        </p:txBody>
      </p:sp>
      <p:sp>
        <p:nvSpPr>
          <p:cNvPr id="8" name="card-262"/>
          <p:cNvSpPr/>
          <p:nvPr/>
        </p:nvSpPr>
        <p:spPr>
          <a:xfrm>
            <a:off x="4338218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263"/>
          <p:cNvSpPr/>
          <p:nvPr/>
        </p:nvSpPr>
        <p:spPr>
          <a:xfrm>
            <a:off x="4612538" y="1874520"/>
            <a:ext cx="384048" cy="384048"/>
          </a:xfrm>
          <a:prstGeom prst="ellipse">
            <a:avLst/>
          </a:prstGeom>
          <a:solidFill>
            <a:schemeClr val="accent3"/>
          </a:solidFill>
          <a:ln w="635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label-264"/>
          <p:cNvSpPr txBox="1"/>
          <p:nvPr/>
        </p:nvSpPr>
        <p:spPr>
          <a:xfrm>
            <a:off x="5115458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尚待完成</a:t>
            </a:r>
            <a:endParaRPr lang="en-US" sz="1800" dirty="0"/>
          </a:p>
        </p:txBody>
      </p:sp>
      <p:sp>
        <p:nvSpPr>
          <p:cNvPr id="11" name="bullets-265"/>
          <p:cNvSpPr txBox="1"/>
          <p:nvPr/>
        </p:nvSpPr>
        <p:spPr>
          <a:xfrm>
            <a:off x="4612538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A1 状态名称对齐四种状态，接入试验终止、安全信号等事件源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A2 等价类聚合、A3 矛盾优先验证尚未实现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文献检索目前只返回标题，需附上摘要</a:t>
            </a:r>
            <a:endParaRPr lang="en-US" sz="1400" dirty="0"/>
          </a:p>
        </p:txBody>
      </p:sp>
      <p:sp>
        <p:nvSpPr>
          <p:cNvPr id="12" name="card-266"/>
          <p:cNvSpPr/>
          <p:nvPr/>
        </p:nvSpPr>
        <p:spPr>
          <a:xfrm>
            <a:off x="8127797" y="1645920"/>
            <a:ext cx="3515258" cy="393192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badge-267"/>
          <p:cNvSpPr/>
          <p:nvPr/>
        </p:nvSpPr>
        <p:spPr>
          <a:xfrm>
            <a:off x="8402117" y="1874520"/>
            <a:ext cx="384048" cy="384048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label-268"/>
          <p:cNvSpPr txBox="1"/>
          <p:nvPr/>
        </p:nvSpPr>
        <p:spPr>
          <a:xfrm>
            <a:off x="8905037" y="1874520"/>
            <a:ext cx="2509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下一步 · 需要的支持</a:t>
            </a:r>
            <a:endParaRPr lang="en-US" sz="1800" dirty="0"/>
          </a:p>
        </p:txBody>
      </p:sp>
      <p:sp>
        <p:nvSpPr>
          <p:cNvPr id="15" name="bullets-269"/>
          <p:cNvSpPr txBox="1"/>
          <p:nvPr/>
        </p:nvSpPr>
        <p:spPr>
          <a:xfrm>
            <a:off x="8402117" y="2514600"/>
            <a:ext cx="301233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实现 A1–A3 三个设计并接入正式流程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无人工标注的评测：用公开结局（获批 / 疗效失败）检验三个设计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在结论不确定的问题上复核同源影响（只给标题 vs 附摘要）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结果稳定后发布正式版，并整理成论文</a:t>
            </a:r>
            <a:endParaRPr lang="en-US" sz="1400" dirty="0"/>
          </a:p>
        </p:txBody>
      </p:sp>
      <p:sp>
        <p:nvSpPr>
          <p:cNvPr id="16" name="ask-270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label-271"/>
          <p:cNvSpPr txBox="1"/>
          <p:nvPr/>
        </p:nvSpPr>
        <p:spPr>
          <a:xfrm>
            <a:off x="822960" y="57607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请审阅：是否支持实现 A 类三个设计并开展评测（下一步第 1、2 项）。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Science Report">
  <a:themeElements>
    <a:clrScheme name="MedScience Report">
      <a:dk1>
        <a:srgbClr val="1B2533"/>
      </a:dk1>
      <a:lt1>
        <a:srgbClr val="FFFFFF"/>
      </a:lt1>
      <a:dk2>
        <a:srgbClr val="0F2A44"/>
      </a:dk2>
      <a:lt2>
        <a:srgbClr val="F2F5F8"/>
      </a:lt2>
      <a:accent1>
        <a:srgbClr val="0E8A7E"/>
      </a:accent1>
      <a:accent2>
        <a:srgbClr val="1F5F99"/>
      </a:accent2>
      <a:accent3>
        <a:srgbClr val="C9792A"/>
      </a:accent3>
      <a:accent4>
        <a:srgbClr val="6B4FA0"/>
      </a:accent4>
      <a:accent5>
        <a:srgbClr val="B4233A"/>
      </a:accent5>
      <a:accent6>
        <a:srgbClr val="5B6B7C"/>
      </a:accent6>
      <a:hlink>
        <a:srgbClr val="1F5F99"/>
      </a:hlink>
      <a:folHlink>
        <a:srgbClr val="6B4FA0"/>
      </a:folHlink>
    </a:clrScheme>
    <a:fontScheme name="MedScience Report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MedScience 3.0 设计汇报</dc:title>
  <dc:subject>可信科研智能体工作站：设计动机、架构与使用说明</dc:subject>
  <dc:creator>MedScience</dc:creator>
  <cp:lastModifiedBy>MedScience</cp:lastModifiedBy>
  <cp:revision>1</cp:revision>
  <dcterms:created xsi:type="dcterms:W3CDTF">2026-10-07T15:16:49Z</dcterms:created>
  <dcterms:modified xsi:type="dcterms:W3CDTF">2026-10-07T15:16:49Z</dcterms:modified>
</cp:coreProperties>
</file>