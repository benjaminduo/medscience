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3a1ce3e7-30c6-bab5-3e73-5fba5bdad4bb}">
          <p14:sldIdLst>
            <p14:sldId id="256"/>
          </p14:sldIdLst>
        </p14:section>
        <p14:section name="为什么" id="{afcbab15-403e-5c75-6ff7-0c8594232d29}">
          <p14:sldIdLst>
            <p14:sldId id="257"/>
            <p14:sldId id="258"/>
          </p14:sldIdLst>
        </p14:section>
        <p14:section name="怎么设计" id="{01b774af-a6cd-6a9f-e931-1478d156a0e7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怎么用" id="{60099f59-dd02-ae71-61b2-28792713299a}">
          <p14:sldIdLst>
            <p14:sldId id="265"/>
          </p14:sldIdLst>
        </p14:section>
        <p14:section name="下一步" id="{0383e884-3dfc-e913-41ca-c2af000ecf4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开场一句话：MedScience 是一个面向生物医学研究的科研智能体系统，不是通用聊天助手。3.0 的重点不是让 AI 说得更多，而是让它的结论站得住：有证据、能撤回、可信度说得清，并且数据留在本机。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这一页给出全貌：问题是什么、我们怎么做、做到哪一步。后面按“为什么、怎么设计、怎么用、下一步”的顺序展开，共 11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列是四个痛点，中间是同类方案通常怎么做，右列是我们的回应。前三个对应证据治理设计，其中第二个“同源证据被重复计数”是我们的核心切入点；第四个对应本地运行时。同类方案只引用公开资料，不评价其未公开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这一页同时回答“有哪几类设计”和“它们在系统里的位置”。A 类证据治理是新的一层（绿色框）：即时溯源、同源合并、独立证据线定级、实时状态核验，已完成实测，待接入系统；B 类是协作层，即科研小队的组织方式；C 类是运行与部署，包括使用入口、执行层和本机数据层，在 2.x 已具备。右侧防护钩子贯穿每一次工具调用。需要强调：这些都是智能体系统层面的设计，没有训练或修改大模型本身。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排是一次科研提问的完整路径，每一步下面的小字是这一步产生的数据。绿色三步是证据治理层：把每条证据追溯到上游的试验或数据集，同源的合并成一条独立证据线，再按支持、反证和证据类型给结论定级。下方是回路：每次回答时实时核验来源的当前状态，比如论文撤稿、试验因无效终止、药品撤市，一旦失效，依赖它的结论当场降级并提示复核。全部用公开数据库现查现算，不需要自建证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A 类的核心设计。现有科研智能体大多按“引用了几篇文献”来呈现证据，但很多论文其实来自同一个试验。看左边这个真实例子：问“阿贝西利能否用于乳腺癌”，系统检索到的前 20 篇论文里，有 6 篇都来自同一个三期试验 monarchE，是同一批受试者的主结果、亚组分析和随访，只能算 1 条证据。我们的做法分三步：第一，即时溯源，把每条证据追到它的上游试验、数据集或原始论文，用的都是公开数据库，每个问题现查现算，不需要自建证据库，也不需要人工标注；第二，同源合并；第三，按独立证据线定级，看遗传学、动物模型、临床试验这几类独立证据是否相互印证，下结论前先主动找反证。下面的定级规则是设计方案，具体阈值会用实测数据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第二个设计点是实时状态核验。证据会被新研究推翻：论文撤稿、试验因无效终止、药品撤市。系统在回答时核验每个来源的当前状态，一旦失效，只降级真正依赖它的结论。左边伏塞洛托：2019 年凭 HOPE 试验中血红蛋白升高获批，2024 年因上市后死亡增多撤市。结论 A“可用于治疗该病”依赖批准，当场降级；结论 B“能提高血红蛋白”只依赖 HOPE 试验，保持不变——这正是替代指标改善不等于临床获益的典型例子。右边 Makena：2003 年 Meis 试验显示早产风险下降，2020 年确证试验 PROLONG 没有重复出效果，两项试验来自不同受试者，是两条方向相反的独立证据线，系统把双方都列出来、标为有争议，不替人裁决；2023 年 FDA 撤销批准后结论降级。这两个案例都在 3.0 原型中写成了自动化测试，文献编号已经 PubMed 核实。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这一页是支撑这个设计的两项实测，全部用公开数据，没有人工标注。左边：我们拿 94 个真实的药物–疾病问题，用系统自带的文献检索各取前 20 篇，一共 1649 篇，再按 PubMed 的试验关联追溯来源。结果是，有试验证据的问题里，40% 存在同源论文；试验类论文中 29% 是重复计数；最多的一个问题里，有 8 篇论文来自同一组试验。这还是下界，因为只识别了明确的试验编号。右边：哪类证据能区分“有效”和“无效”。只看靶点本身，比如有没有强活性化合物、有没有临床试验，两组几乎一样；看靶点和疾病之间的遗传学、动物模型证据，获批组的比例是失败组的两倍左右，和 Nature 2024 的研究结论一致。这告诉我们：定级时应该按独立证据线和证据类型来计，而不是按篇数。样本还小，动物模型差异显著，遗传学接近显著。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左边是多智能体协作：队长拆解任务，成员并行，交接时每条发现都要附证据编号，再过质量门，最后成文。内置 26 位专家、15 个团队模板。右边是本地运行时：很多团队已经买了 ChatGPT（Codex）或 Claude 的订阅，MedScience 可以直接调用本机已登录的命令行工具，沿用现有额度，不需要 API 密钥。注意除 Codex 和 Claude Code 外其他工具是通用接入，并请确认订阅条款允许这样使用。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四步即可：安装、配置运行时、提问、查看证据。左图是运行时自动检测到本机的 Claude Code；中间是用 @ 点名专家，以及智能体调用工具的记录；右图是 3.0 的证据页，每条证据的来源和状态都能查到。截图都来自真实运行的 3.0 应用。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最后是进展和请求。B、C 两类设计已经落地并发布；A 类证据治理的新方案已完成小规模实测，证明同源证据被重复计数的问题普遍存在。下一步首先把即时溯源、独立证据线定级和实时状态核验接入系统；然后做回测实验：用公开的获批和失败结局作为标签，比较“按引用篇数”和“按独立证据线”哪个更能预测结局，整个过程不需要人工标注。结果稳定后发布正式版，并整理成论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783080"/>
            <a:ext cx="1005840" cy="82296"/>
          </a:xfrm>
          <a:prstGeom prst="rect">
            <a:avLst/>
          </a:prstGeom>
          <a:solidFill>
            <a:srgbClr val="0E8A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32918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MedScience 3.0 · 设计汇报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2"/>
                </a:solidFill>
              </a:rPr>
              <a:t>MedScience 3.0</a:t>
            </a:r>
            <a:endParaRPr lang="en-US" sz="48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32918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面向生物医学研究的科研智能体系统 · 设计汇报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B6B7C"/>
                </a:solidFill>
              </a:rPr>
              <a:t>让每一个科研结论都有据可查、可以撤回、说得清可信度</a:t>
            </a:r>
            <a:endParaRPr lang="en-US" sz="2200" dirty="0"/>
          </a:p>
        </p:txBody>
      </p:sp>
      <p:sp>
        <p:nvSpPr>
          <p:cNvPr id="4" name="label-1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2026 年 10 月  ·  版本 v3.0.0（预发布）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一页概要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一句话：面向生物医学研究——让科研结论有证据、能撤回、说得清可信度，科研数据不出本机。</a:t>
            </a:r>
            <a:endParaRPr lang="en-US" sz="1500" dirty="0"/>
          </a:p>
        </p:txBody>
      </p:sp>
      <p:sp>
        <p:nvSpPr>
          <p:cNvPr id="4" name="card-2"/>
          <p:cNvSpPr/>
          <p:nvPr/>
        </p:nvSpPr>
        <p:spPr>
          <a:xfrm>
            <a:off x="548640" y="1645920"/>
            <a:ext cx="3515258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3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label-4"/>
          <p:cNvSpPr txBox="1"/>
          <p:nvPr/>
        </p:nvSpPr>
        <p:spPr>
          <a:xfrm>
            <a:off x="1325880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要解决的问题</a:t>
            </a:r>
            <a:endParaRPr lang="en-US" sz="1800" dirty="0"/>
          </a:p>
        </p:txBody>
      </p:sp>
      <p:sp>
        <p:nvSpPr>
          <p:cNvPr id="7" name="label-5"/>
          <p:cNvSpPr txBox="1"/>
          <p:nvPr/>
        </p:nvSpPr>
        <p:spPr>
          <a:xfrm>
            <a:off x="822960" y="2468880"/>
            <a:ext cx="29666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能很快给出科研结论，但依据哪些文献和数据、依据被新研究推翻后怎么办、可信度多高，往往说不清。</a:t>
            </a:r>
            <a:endParaRPr lang="en-US" sz="1500" dirty="0"/>
          </a:p>
        </p:txBody>
      </p:sp>
      <p:sp>
        <p:nvSpPr>
          <p:cNvPr id="8" name="card-6"/>
          <p:cNvSpPr/>
          <p:nvPr/>
        </p:nvSpPr>
        <p:spPr>
          <a:xfrm>
            <a:off x="4338218" y="1645920"/>
            <a:ext cx="3515258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7"/>
          <p:cNvSpPr/>
          <p:nvPr/>
        </p:nvSpPr>
        <p:spPr>
          <a:xfrm>
            <a:off x="4612538" y="187452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label-8"/>
          <p:cNvSpPr txBox="1"/>
          <p:nvPr/>
        </p:nvSpPr>
        <p:spPr>
          <a:xfrm>
            <a:off x="5115458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我们的做法</a:t>
            </a:r>
            <a:endParaRPr lang="en-US" sz="1800" dirty="0"/>
          </a:p>
        </p:txBody>
      </p:sp>
      <p:sp>
        <p:nvSpPr>
          <p:cNvPr id="11" name="label-9"/>
          <p:cNvSpPr txBox="1"/>
          <p:nvPr/>
        </p:nvSpPr>
        <p:spPr>
          <a:xfrm>
            <a:off x="4612538" y="2468880"/>
            <a:ext cx="29666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三类设计：证据治理（识别同源证据，按独立证据线定级）、多智能体协作（像课题组一样分工、审查把关）、本地运行（科研与临床数据留在本机）。</a:t>
            </a:r>
            <a:endParaRPr lang="en-US" sz="1500" dirty="0"/>
          </a:p>
        </p:txBody>
      </p:sp>
      <p:sp>
        <p:nvSpPr>
          <p:cNvPr id="12" name="card-10"/>
          <p:cNvSpPr/>
          <p:nvPr/>
        </p:nvSpPr>
        <p:spPr>
          <a:xfrm>
            <a:off x="8127797" y="1645920"/>
            <a:ext cx="3515258" cy="260604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-11"/>
          <p:cNvSpPr/>
          <p:nvPr/>
        </p:nvSpPr>
        <p:spPr>
          <a:xfrm>
            <a:off x="8402117" y="187452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label-12"/>
          <p:cNvSpPr txBox="1"/>
          <p:nvPr/>
        </p:nvSpPr>
        <p:spPr>
          <a:xfrm>
            <a:off x="8905037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当前进展</a:t>
            </a:r>
            <a:endParaRPr lang="en-US" sz="1800" dirty="0"/>
          </a:p>
        </p:txBody>
      </p:sp>
      <p:sp>
        <p:nvSpPr>
          <p:cNvPr id="15" name="label-13"/>
          <p:cNvSpPr txBox="1"/>
          <p:nvPr/>
        </p:nvSpPr>
        <p:spPr>
          <a:xfrm>
            <a:off x="8402117" y="2468880"/>
            <a:ext cx="296661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v3.0.0 已发布：三平台安装包和本地 Web 版。证据治理新方案已完成小规模实测（40% 的问题存在同源证据），待接入系统。</a:t>
            </a:r>
            <a:endParaRPr lang="en-US" sz="1500" dirty="0"/>
          </a:p>
        </p:txBody>
      </p:sp>
      <p:sp>
        <p:nvSpPr>
          <p:cNvPr id="16" name="label-14"/>
          <p:cNvSpPr txBox="1"/>
          <p:nvPr/>
        </p:nvSpPr>
        <p:spPr>
          <a:xfrm>
            <a:off x="548640" y="4617720"/>
            <a:ext cx="2773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 类</a:t>
            </a:r>
            <a:endParaRPr lang="en-US" sz="3400" dirty="0"/>
          </a:p>
        </p:txBody>
      </p:sp>
      <p:sp>
        <p:nvSpPr>
          <p:cNvPr id="17" name="label-15"/>
          <p:cNvSpPr txBox="1"/>
          <p:nvPr/>
        </p:nvSpPr>
        <p:spPr>
          <a:xfrm>
            <a:off x="548640" y="5303520"/>
            <a:ext cx="277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系统设计</a:t>
            </a:r>
            <a:endParaRPr lang="en-US" sz="1300" dirty="0"/>
          </a:p>
        </p:txBody>
      </p:sp>
      <p:sp>
        <p:nvSpPr>
          <p:cNvPr id="18" name="label-16"/>
          <p:cNvSpPr txBox="1"/>
          <p:nvPr/>
        </p:nvSpPr>
        <p:spPr>
          <a:xfrm>
            <a:off x="3322244" y="4617720"/>
            <a:ext cx="2773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26 位</a:t>
            </a:r>
            <a:endParaRPr lang="en-US" sz="3400" dirty="0"/>
          </a:p>
        </p:txBody>
      </p:sp>
      <p:sp>
        <p:nvSpPr>
          <p:cNvPr id="19" name="label-17"/>
          <p:cNvSpPr txBox="1"/>
          <p:nvPr/>
        </p:nvSpPr>
        <p:spPr>
          <a:xfrm>
            <a:off x="3322244" y="5303520"/>
            <a:ext cx="277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科研领域专家角色</a:t>
            </a:r>
            <a:endParaRPr lang="en-US" sz="1300" dirty="0"/>
          </a:p>
        </p:txBody>
      </p:sp>
      <p:sp>
        <p:nvSpPr>
          <p:cNvPr id="20" name="label-18"/>
          <p:cNvSpPr txBox="1"/>
          <p:nvPr/>
        </p:nvSpPr>
        <p:spPr>
          <a:xfrm>
            <a:off x="6095848" y="4617720"/>
            <a:ext cx="2773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26 种</a:t>
            </a:r>
            <a:endParaRPr lang="en-US" sz="3400" dirty="0"/>
          </a:p>
        </p:txBody>
      </p:sp>
      <p:sp>
        <p:nvSpPr>
          <p:cNvPr id="21" name="label-19"/>
          <p:cNvSpPr txBox="1"/>
          <p:nvPr/>
        </p:nvSpPr>
        <p:spPr>
          <a:xfrm>
            <a:off x="6095848" y="5303520"/>
            <a:ext cx="277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本地 AI 命令行工具可接入</a:t>
            </a:r>
            <a:endParaRPr lang="en-US" sz="1300" dirty="0"/>
          </a:p>
        </p:txBody>
      </p:sp>
      <p:sp>
        <p:nvSpPr>
          <p:cNvPr id="22" name="label-20"/>
          <p:cNvSpPr txBox="1"/>
          <p:nvPr/>
        </p:nvSpPr>
        <p:spPr>
          <a:xfrm>
            <a:off x="8869451" y="4617720"/>
            <a:ext cx="27736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 种</a:t>
            </a:r>
            <a:endParaRPr lang="en-US" sz="3400" dirty="0"/>
          </a:p>
        </p:txBody>
      </p:sp>
      <p:sp>
        <p:nvSpPr>
          <p:cNvPr id="23" name="label-21"/>
          <p:cNvSpPr txBox="1"/>
          <p:nvPr/>
        </p:nvSpPr>
        <p:spPr>
          <a:xfrm>
            <a:off x="8869451" y="5303520"/>
            <a:ext cx="277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使用方式（三平台 + Web）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问题与定位：科研场景的四个痛点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同类科研智能体各有所长；MedScience 的差异在于“结论治理”与“本地可用”。</a:t>
            </a:r>
            <a:endParaRPr lang="en-US" sz="1500" dirty="0"/>
          </a:p>
        </p:txBody>
      </p:sp>
      <p:graphicFrame>
        <p:nvGraphicFramePr>
          <p:cNvPr id="4" name="table-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383280"/>
                <a:gridCol w="38706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同类方案的常见做法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MedScience 的回应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结论难追溯，错误会固化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依据的试验或数据被新研究推翻，结论仍被反复引用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检索后生成带引用的报告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（如 OpenAI Deep Research）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实时状态核验：依据被推翻，相关结论当场降级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证据看似很多，其实同源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同一试验衍生多篇论文，被重复计数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按篇列出引用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（公开资料未见同源识别）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独立证据线定级：同源合并，看有几条独立证据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假设成立与否，可信度说不清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“80% 可信”从何而来，无法核验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自动打分或排名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（分数本身缺少统计口径）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按证据类型定级：遗传学、动物模型、临床相互印证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数据与成本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临床数据不应出本机；已有订阅仍要另付 API 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以云端服务为主，按 API 调用计费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本地运行：数据留本机，复用已订阅的 AI 命令行工具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abel-23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注：同类方案仅依据其公开发布的资料概括，不推断未公开的内部能力。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总体架构：三类设计落在五层结构中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均为科研智能体系统层面的架构设计，不修改基础大模型；底层模型可以随时替换。</a:t>
            </a:r>
            <a:endParaRPr lang="en-US" sz="1500" dirty="0"/>
          </a:p>
        </p:txBody>
      </p:sp>
      <p:sp>
        <p:nvSpPr>
          <p:cNvPr id="4" name="tag-24"/>
          <p:cNvSpPr/>
          <p:nvPr/>
        </p:nvSpPr>
        <p:spPr>
          <a:xfrm>
            <a:off x="54864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</a:t>
            </a:r>
            <a:endParaRPr lang="en-US" sz="1500" dirty="0"/>
          </a:p>
        </p:txBody>
      </p:sp>
      <p:sp>
        <p:nvSpPr>
          <p:cNvPr id="5" name="label-25"/>
          <p:cNvSpPr txBox="1"/>
          <p:nvPr/>
        </p:nvSpPr>
        <p:spPr>
          <a:xfrm>
            <a:off x="1051560" y="1517904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证据治理设计</a:t>
            </a:r>
            <a:endParaRPr lang="en-US" sz="1400" dirty="0"/>
          </a:p>
        </p:txBody>
      </p:sp>
      <p:sp>
        <p:nvSpPr>
          <p:cNvPr id="6" name="label-26"/>
          <p:cNvSpPr txBox="1"/>
          <p:nvPr/>
        </p:nvSpPr>
        <p:spPr>
          <a:xfrm>
            <a:off x="1051560" y="1764792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管“结论凭什么成立”（新方案，已实测）</a:t>
            </a:r>
            <a:endParaRPr lang="en-US" sz="1150" dirty="0"/>
          </a:p>
        </p:txBody>
      </p:sp>
      <p:sp>
        <p:nvSpPr>
          <p:cNvPr id="7" name="tag-27"/>
          <p:cNvSpPr/>
          <p:nvPr/>
        </p:nvSpPr>
        <p:spPr>
          <a:xfrm>
            <a:off x="4246778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</a:t>
            </a:r>
            <a:endParaRPr lang="en-US" sz="1500" dirty="0"/>
          </a:p>
        </p:txBody>
      </p:sp>
      <p:sp>
        <p:nvSpPr>
          <p:cNvPr id="8" name="label-28"/>
          <p:cNvSpPr txBox="1"/>
          <p:nvPr/>
        </p:nvSpPr>
        <p:spPr>
          <a:xfrm>
            <a:off x="4749698" y="1517904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多智能体协作设计</a:t>
            </a:r>
            <a:endParaRPr lang="en-US" sz="1400" dirty="0"/>
          </a:p>
        </p:txBody>
      </p:sp>
      <p:sp>
        <p:nvSpPr>
          <p:cNvPr id="9" name="label-29"/>
          <p:cNvSpPr txBox="1"/>
          <p:nvPr/>
        </p:nvSpPr>
        <p:spPr>
          <a:xfrm>
            <a:off x="4749698" y="1764792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管“谁来做、谁把关”</a:t>
            </a:r>
            <a:endParaRPr lang="en-US" sz="1150" dirty="0"/>
          </a:p>
        </p:txBody>
      </p:sp>
      <p:sp>
        <p:nvSpPr>
          <p:cNvPr id="10" name="tag-30"/>
          <p:cNvSpPr/>
          <p:nvPr/>
        </p:nvSpPr>
        <p:spPr>
          <a:xfrm>
            <a:off x="7944917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</a:t>
            </a:r>
            <a:endParaRPr lang="en-US" sz="1500" dirty="0"/>
          </a:p>
        </p:txBody>
      </p:sp>
      <p:sp>
        <p:nvSpPr>
          <p:cNvPr id="11" name="label-31"/>
          <p:cNvSpPr txBox="1"/>
          <p:nvPr/>
        </p:nvSpPr>
        <p:spPr>
          <a:xfrm>
            <a:off x="8447837" y="1517904"/>
            <a:ext cx="31494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运行时与部署设计</a:t>
            </a:r>
            <a:endParaRPr lang="en-US" sz="1400" dirty="0"/>
          </a:p>
        </p:txBody>
      </p:sp>
      <p:sp>
        <p:nvSpPr>
          <p:cNvPr id="12" name="label-32"/>
          <p:cNvSpPr txBox="1"/>
          <p:nvPr/>
        </p:nvSpPr>
        <p:spPr>
          <a:xfrm>
            <a:off x="8447837" y="1764792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管“在哪里跑、用谁的额度”</a:t>
            </a:r>
            <a:endParaRPr lang="en-US" sz="1150" dirty="0"/>
          </a:p>
        </p:txBody>
      </p:sp>
      <p:sp>
        <p:nvSpPr>
          <p:cNvPr id="13" name="box-33"/>
          <p:cNvSpPr/>
          <p:nvPr/>
        </p:nvSpPr>
        <p:spPr>
          <a:xfrm>
            <a:off x="548640" y="2240280"/>
            <a:ext cx="1600200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· 使用入口</a:t>
            </a:r>
            <a:endParaRPr lang="en-US" sz="1400" dirty="0"/>
          </a:p>
        </p:txBody>
      </p:sp>
      <p:sp>
        <p:nvSpPr>
          <p:cNvPr id="14" name="layer-34"/>
          <p:cNvSpPr/>
          <p:nvPr/>
        </p:nvSpPr>
        <p:spPr>
          <a:xfrm>
            <a:off x="2286000" y="2240280"/>
            <a:ext cx="7635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</p:sp>
      <p:sp>
        <p:nvSpPr>
          <p:cNvPr id="15" name="box-35"/>
          <p:cNvSpPr/>
          <p:nvPr/>
        </p:nvSpPr>
        <p:spPr>
          <a:xfrm>
            <a:off x="2423160" y="2350008"/>
            <a:ext cx="3611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桌面端（macOS / Windows / Linux）</a:t>
            </a:r>
            <a:endParaRPr lang="en-US" sz="1250" dirty="0"/>
          </a:p>
        </p:txBody>
      </p:sp>
      <p:sp>
        <p:nvSpPr>
          <p:cNvPr id="16" name="box-36"/>
          <p:cNvSpPr/>
          <p:nvPr/>
        </p:nvSpPr>
        <p:spPr>
          <a:xfrm>
            <a:off x="6172200" y="2350008"/>
            <a:ext cx="361188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本地 Web（仅本机可访问）</a:t>
            </a:r>
            <a:endParaRPr lang="en-US" sz="1250" dirty="0"/>
          </a:p>
        </p:txBody>
      </p:sp>
      <p:sp>
        <p:nvSpPr>
          <p:cNvPr id="17" name="box-37"/>
          <p:cNvSpPr/>
          <p:nvPr/>
        </p:nvSpPr>
        <p:spPr>
          <a:xfrm>
            <a:off x="548640" y="3017520"/>
            <a:ext cx="1600200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 · 协作层</a:t>
            </a:r>
            <a:endParaRPr lang="en-US" sz="1400" dirty="0"/>
          </a:p>
        </p:txBody>
      </p:sp>
      <p:sp>
        <p:nvSpPr>
          <p:cNvPr id="18" name="layer-38"/>
          <p:cNvSpPr/>
          <p:nvPr/>
        </p:nvSpPr>
        <p:spPr>
          <a:xfrm>
            <a:off x="2286000" y="3017520"/>
            <a:ext cx="7635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</p:sp>
      <p:sp>
        <p:nvSpPr>
          <p:cNvPr id="19" name="box-39"/>
          <p:cNvSpPr/>
          <p:nvPr/>
        </p:nvSpPr>
        <p:spPr>
          <a:xfrm>
            <a:off x="2423160" y="312724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队长规划</a:t>
            </a:r>
            <a:endParaRPr lang="en-US" sz="1250" dirty="0"/>
          </a:p>
        </p:txBody>
      </p:sp>
      <p:sp>
        <p:nvSpPr>
          <p:cNvPr id="20" name="box-40"/>
          <p:cNvSpPr/>
          <p:nvPr/>
        </p:nvSpPr>
        <p:spPr>
          <a:xfrm>
            <a:off x="4297680" y="312724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成员并行执行</a:t>
            </a:r>
            <a:endParaRPr lang="en-US" sz="1250" dirty="0"/>
          </a:p>
        </p:txBody>
      </p:sp>
      <p:sp>
        <p:nvSpPr>
          <p:cNvPr id="21" name="box-41"/>
          <p:cNvSpPr/>
          <p:nvPr/>
        </p:nvSpPr>
        <p:spPr>
          <a:xfrm>
            <a:off x="6172200" y="312724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审查员质量门</a:t>
            </a:r>
            <a:endParaRPr lang="en-US" sz="1250" dirty="0"/>
          </a:p>
        </p:txBody>
      </p:sp>
      <p:sp>
        <p:nvSpPr>
          <p:cNvPr id="22" name="box-42"/>
          <p:cNvSpPr/>
          <p:nvPr/>
        </p:nvSpPr>
        <p:spPr>
          <a:xfrm>
            <a:off x="8046720" y="312724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写作专家综合</a:t>
            </a:r>
            <a:endParaRPr lang="en-US" sz="1250" dirty="0"/>
          </a:p>
        </p:txBody>
      </p:sp>
      <p:sp>
        <p:nvSpPr>
          <p:cNvPr id="23" name="box-43"/>
          <p:cNvSpPr/>
          <p:nvPr/>
        </p:nvSpPr>
        <p:spPr>
          <a:xfrm>
            <a:off x="548640" y="3794760"/>
            <a:ext cx="1600200" cy="658368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· 证据治理层</a:t>
            </a:r>
            <a:endParaRPr lang="en-US" sz="1400" dirty="0"/>
          </a:p>
        </p:txBody>
      </p:sp>
      <p:sp>
        <p:nvSpPr>
          <p:cNvPr id="24" name="layer-44"/>
          <p:cNvSpPr/>
          <p:nvPr/>
        </p:nvSpPr>
        <p:spPr>
          <a:xfrm>
            <a:off x="2286000" y="3794760"/>
            <a:ext cx="7635240" cy="658368"/>
          </a:xfrm>
          <a:prstGeom prst="roundRect">
            <a:avLst>
              <a:gd name="adj" fmla="val 11111"/>
            </a:avLst>
          </a:prstGeom>
          <a:solidFill>
            <a:srgbClr val="E3F3F1"/>
          </a:solidFill>
          <a:ln w="19050">
            <a:solidFill>
              <a:srgbClr val="0E8A7E"/>
            </a:solidFill>
            <a:prstDash val="solid"/>
          </a:ln>
        </p:spPr>
      </p:sp>
      <p:sp>
        <p:nvSpPr>
          <p:cNvPr id="25" name="box-45"/>
          <p:cNvSpPr/>
          <p:nvPr/>
        </p:nvSpPr>
        <p:spPr>
          <a:xfrm>
            <a:off x="2423160" y="390448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即时来源溯源</a:t>
            </a:r>
            <a:endParaRPr lang="en-US" sz="1250" dirty="0"/>
          </a:p>
        </p:txBody>
      </p:sp>
      <p:sp>
        <p:nvSpPr>
          <p:cNvPr id="26" name="box-46"/>
          <p:cNvSpPr/>
          <p:nvPr/>
        </p:nvSpPr>
        <p:spPr>
          <a:xfrm>
            <a:off x="4297680" y="390448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同源合并</a:t>
            </a:r>
            <a:endParaRPr lang="en-US" sz="1250" dirty="0"/>
          </a:p>
        </p:txBody>
      </p:sp>
      <p:sp>
        <p:nvSpPr>
          <p:cNvPr id="27" name="box-47"/>
          <p:cNvSpPr/>
          <p:nvPr/>
        </p:nvSpPr>
        <p:spPr>
          <a:xfrm>
            <a:off x="6172200" y="390448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独立证据线定级</a:t>
            </a:r>
            <a:endParaRPr lang="en-US" sz="1250" dirty="0"/>
          </a:p>
        </p:txBody>
      </p:sp>
      <p:sp>
        <p:nvSpPr>
          <p:cNvPr id="28" name="box-48"/>
          <p:cNvSpPr/>
          <p:nvPr/>
        </p:nvSpPr>
        <p:spPr>
          <a:xfrm>
            <a:off x="8046720" y="390448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实时状态核验</a:t>
            </a:r>
            <a:endParaRPr lang="en-US" sz="1250" dirty="0"/>
          </a:p>
        </p:txBody>
      </p:sp>
      <p:sp>
        <p:nvSpPr>
          <p:cNvPr id="29" name="box-49"/>
          <p:cNvSpPr/>
          <p:nvPr/>
        </p:nvSpPr>
        <p:spPr>
          <a:xfrm>
            <a:off x="548640" y="4572000"/>
            <a:ext cx="1600200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· 执行层</a:t>
            </a:r>
            <a:endParaRPr lang="en-US" sz="1400" dirty="0"/>
          </a:p>
        </p:txBody>
      </p:sp>
      <p:sp>
        <p:nvSpPr>
          <p:cNvPr id="30" name="layer-50"/>
          <p:cNvSpPr/>
          <p:nvPr/>
        </p:nvSpPr>
        <p:spPr>
          <a:xfrm>
            <a:off x="2286000" y="4572000"/>
            <a:ext cx="7635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</p:sp>
      <p:sp>
        <p:nvSpPr>
          <p:cNvPr id="31" name="box-51"/>
          <p:cNvSpPr/>
          <p:nvPr/>
        </p:nvSpPr>
        <p:spPr>
          <a:xfrm>
            <a:off x="2423160" y="468172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模型 API</a:t>
            </a:r>
            <a:endParaRPr lang="en-US" sz="1250" dirty="0"/>
          </a:p>
        </p:txBody>
      </p:sp>
      <p:sp>
        <p:nvSpPr>
          <p:cNvPr id="32" name="box-52"/>
          <p:cNvSpPr/>
          <p:nvPr/>
        </p:nvSpPr>
        <p:spPr>
          <a:xfrm>
            <a:off x="4297680" y="468172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本地 CLI 运行时</a:t>
            </a:r>
            <a:endParaRPr lang="en-US" sz="1250" dirty="0"/>
          </a:p>
        </p:txBody>
      </p:sp>
      <p:sp>
        <p:nvSpPr>
          <p:cNvPr id="33" name="box-53"/>
          <p:cNvSpPr/>
          <p:nvPr/>
        </p:nvSpPr>
        <p:spPr>
          <a:xfrm>
            <a:off x="6172200" y="468172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科研数据库连接器</a:t>
            </a:r>
            <a:endParaRPr lang="en-US" sz="1250" dirty="0"/>
          </a:p>
        </p:txBody>
      </p:sp>
      <p:sp>
        <p:nvSpPr>
          <p:cNvPr id="34" name="box-54"/>
          <p:cNvSpPr/>
          <p:nvPr/>
        </p:nvSpPr>
        <p:spPr>
          <a:xfrm>
            <a:off x="8046720" y="4681728"/>
            <a:ext cx="173736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内核级沙盒</a:t>
            </a:r>
            <a:endParaRPr lang="en-US" sz="1250" dirty="0"/>
          </a:p>
        </p:txBody>
      </p:sp>
      <p:sp>
        <p:nvSpPr>
          <p:cNvPr id="35" name="box-55"/>
          <p:cNvSpPr/>
          <p:nvPr/>
        </p:nvSpPr>
        <p:spPr>
          <a:xfrm>
            <a:off x="548640" y="5349240"/>
            <a:ext cx="1600200" cy="658368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 · 数据层</a:t>
            </a:r>
            <a:endParaRPr lang="en-US" sz="1400" dirty="0"/>
          </a:p>
        </p:txBody>
      </p:sp>
      <p:sp>
        <p:nvSpPr>
          <p:cNvPr id="36" name="layer-56"/>
          <p:cNvSpPr/>
          <p:nvPr/>
        </p:nvSpPr>
        <p:spPr>
          <a:xfrm>
            <a:off x="2286000" y="5349240"/>
            <a:ext cx="7635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6350">
            <a:solidFill>
              <a:srgbClr val="F2F5F8"/>
            </a:solidFill>
            <a:prstDash val="solid"/>
          </a:ln>
        </p:spPr>
      </p:sp>
      <p:sp>
        <p:nvSpPr>
          <p:cNvPr id="37" name="box-57"/>
          <p:cNvSpPr/>
          <p:nvPr/>
        </p:nvSpPr>
        <p:spPr>
          <a:xfrm>
            <a:off x="2423160" y="5458968"/>
            <a:ext cx="7360920" cy="4389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本机 ~/.medscience：会话 · 加密密钥库 · 配置 · 公开数据缓存</a:t>
            </a:r>
            <a:endParaRPr lang="en-US" sz="1250" dirty="0"/>
          </a:p>
        </p:txBody>
      </p:sp>
      <p:sp>
        <p:nvSpPr>
          <p:cNvPr id="38" name="hooks-58"/>
          <p:cNvSpPr/>
          <p:nvPr/>
        </p:nvSpPr>
        <p:spPr>
          <a:xfrm>
            <a:off x="10104120" y="2240280"/>
            <a:ext cx="1538935" cy="3767328"/>
          </a:xfrm>
          <a:prstGeom prst="roundRect">
            <a:avLst>
              <a:gd name="adj" fmla="val 47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9" name="label-59"/>
          <p:cNvSpPr txBox="1"/>
          <p:nvPr/>
        </p:nvSpPr>
        <p:spPr>
          <a:xfrm>
            <a:off x="10195560" y="2377440"/>
            <a:ext cx="1356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防护钩子</a:t>
            </a:r>
            <a:endParaRPr lang="en-US" sz="1500" dirty="0"/>
          </a:p>
        </p:txBody>
      </p:sp>
      <p:sp>
        <p:nvSpPr>
          <p:cNvPr id="40" name="label-60"/>
          <p:cNvSpPr txBox="1"/>
          <p:nvPr/>
        </p:nvSpPr>
        <p:spPr>
          <a:xfrm>
            <a:off x="10195560" y="2715768"/>
            <a:ext cx="1356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7D6"/>
                </a:solidFill>
              </a:rPr>
              <a:t>贯穿每次工具调用</a:t>
            </a:r>
            <a:endParaRPr lang="en-US" sz="1050" dirty="0"/>
          </a:p>
        </p:txBody>
      </p:sp>
      <p:sp>
        <p:nvSpPr>
          <p:cNvPr id="41" name="box-61"/>
          <p:cNvSpPr/>
          <p:nvPr/>
        </p:nvSpPr>
        <p:spPr>
          <a:xfrm>
            <a:off x="10268712" y="3108960"/>
            <a:ext cx="1209751" cy="512064"/>
          </a:xfrm>
          <a:prstGeom prst="roundRect">
            <a:avLst>
              <a:gd name="adj" fmla="val 14286"/>
            </a:avLst>
          </a:prstGeom>
          <a:solidFill>
            <a:srgbClr val="27466A"/>
          </a:solidFill>
          <a:ln w="6350">
            <a:solidFill>
              <a:srgbClr val="27466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密钥脱敏</a:t>
            </a:r>
            <a:endParaRPr lang="en-US" sz="1200" dirty="0"/>
          </a:p>
        </p:txBody>
      </p:sp>
      <p:sp>
        <p:nvSpPr>
          <p:cNvPr id="42" name="box-62"/>
          <p:cNvSpPr/>
          <p:nvPr/>
        </p:nvSpPr>
        <p:spPr>
          <a:xfrm>
            <a:off x="10268712" y="3767328"/>
            <a:ext cx="1209751" cy="512064"/>
          </a:xfrm>
          <a:prstGeom prst="roundRect">
            <a:avLst>
              <a:gd name="adj" fmla="val 14286"/>
            </a:avLst>
          </a:prstGeom>
          <a:solidFill>
            <a:srgbClr val="27466A"/>
          </a:solidFill>
          <a:ln w="6350">
            <a:solidFill>
              <a:srgbClr val="27466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临床数据门</a:t>
            </a:r>
            <a:endParaRPr lang="en-US" sz="1200" dirty="0"/>
          </a:p>
        </p:txBody>
      </p:sp>
      <p:sp>
        <p:nvSpPr>
          <p:cNvPr id="43" name="box-63"/>
          <p:cNvSpPr/>
          <p:nvPr/>
        </p:nvSpPr>
        <p:spPr>
          <a:xfrm>
            <a:off x="10268712" y="4425696"/>
            <a:ext cx="1209751" cy="512064"/>
          </a:xfrm>
          <a:prstGeom prst="roundRect">
            <a:avLst>
              <a:gd name="adj" fmla="val 14286"/>
            </a:avLst>
          </a:prstGeom>
          <a:solidFill>
            <a:srgbClr val="27466A"/>
          </a:solidFill>
          <a:ln w="6350">
            <a:solidFill>
              <a:srgbClr val="27466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证据数值核验</a:t>
            </a:r>
            <a:endParaRPr lang="en-US" sz="1200" dirty="0"/>
          </a:p>
        </p:txBody>
      </p:sp>
      <p:sp>
        <p:nvSpPr>
          <p:cNvPr id="44" name="box-64"/>
          <p:cNvSpPr/>
          <p:nvPr/>
        </p:nvSpPr>
        <p:spPr>
          <a:xfrm>
            <a:off x="10268712" y="5084064"/>
            <a:ext cx="1209751" cy="512064"/>
          </a:xfrm>
          <a:prstGeom prst="roundRect">
            <a:avLst>
              <a:gd name="adj" fmla="val 14286"/>
            </a:avLst>
          </a:prstGeom>
          <a:solidFill>
            <a:srgbClr val="27466A"/>
          </a:solidFill>
          <a:ln w="6350">
            <a:solidFill>
              <a:srgbClr val="27466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引用完整性检查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一次科研提问的数据流转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每一步都留下记录；依据被新研究推翻时，结论会被“追回”。</a:t>
            </a:r>
            <a:endParaRPr lang="en-US" sz="1500" dirty="0"/>
          </a:p>
        </p:txBody>
      </p:sp>
      <p:sp>
        <p:nvSpPr>
          <p:cNvPr id="4" name="badge-65"/>
          <p:cNvSpPr/>
          <p:nvPr/>
        </p:nvSpPr>
        <p:spPr>
          <a:xfrm>
            <a:off x="988295" y="1600200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box-66"/>
          <p:cNvSpPr/>
          <p:nvPr/>
        </p:nvSpPr>
        <p:spPr>
          <a:xfrm>
            <a:off x="548640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 w="6350">
            <a:solidFill>
              <a:srgbClr val="F2F5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提问</a:t>
            </a:r>
            <a:endParaRPr lang="en-US" sz="1350" dirty="0"/>
          </a:p>
        </p:txBody>
      </p:sp>
      <p:sp>
        <p:nvSpPr>
          <p:cNvPr id="6" name="label-67"/>
          <p:cNvSpPr txBox="1"/>
          <p:nvPr/>
        </p:nvSpPr>
        <p:spPr>
          <a:xfrm>
            <a:off x="502920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研究问题</a:t>
            </a:r>
            <a:endParaRPr lang="en-US" sz="1150" dirty="0"/>
          </a:p>
        </p:txBody>
      </p:sp>
      <p:sp>
        <p:nvSpPr>
          <p:cNvPr id="7" name="arrow-68"/>
          <p:cNvSpPr/>
          <p:nvPr/>
        </p:nvSpPr>
        <p:spPr>
          <a:xfrm>
            <a:off x="1793710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badge-69"/>
          <p:cNvSpPr/>
          <p:nvPr/>
        </p:nvSpPr>
        <p:spPr>
          <a:xfrm>
            <a:off x="2397957" y="1600200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box-70"/>
          <p:cNvSpPr/>
          <p:nvPr/>
        </p:nvSpPr>
        <p:spPr>
          <a:xfrm>
            <a:off x="1958302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 w="6350">
            <a:solidFill>
              <a:srgbClr val="F2F5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规划分工</a:t>
            </a:r>
            <a:endParaRPr lang="en-US" sz="1350" dirty="0"/>
          </a:p>
        </p:txBody>
      </p:sp>
      <p:sp>
        <p:nvSpPr>
          <p:cNvPr id="10" name="label-71"/>
          <p:cNvSpPr txBox="1"/>
          <p:nvPr/>
        </p:nvSpPr>
        <p:spPr>
          <a:xfrm>
            <a:off x="1912582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任务清单</a:t>
            </a:r>
            <a:endParaRPr lang="en-US" sz="1150" dirty="0"/>
          </a:p>
        </p:txBody>
      </p:sp>
      <p:sp>
        <p:nvSpPr>
          <p:cNvPr id="11" name="arrow-72"/>
          <p:cNvSpPr/>
          <p:nvPr/>
        </p:nvSpPr>
        <p:spPr>
          <a:xfrm>
            <a:off x="3203372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badge-73"/>
          <p:cNvSpPr/>
          <p:nvPr/>
        </p:nvSpPr>
        <p:spPr>
          <a:xfrm>
            <a:off x="3807619" y="1600200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box-74"/>
          <p:cNvSpPr/>
          <p:nvPr/>
        </p:nvSpPr>
        <p:spPr>
          <a:xfrm>
            <a:off x="3367964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 w="6350">
            <a:solidFill>
              <a:srgbClr val="F2F5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检索证据</a:t>
            </a:r>
            <a:endParaRPr lang="en-US" sz="1350" dirty="0"/>
          </a:p>
        </p:txBody>
      </p:sp>
      <p:sp>
        <p:nvSpPr>
          <p:cNvPr id="14" name="label-75"/>
          <p:cNvSpPr txBox="1"/>
          <p:nvPr/>
        </p:nvSpPr>
        <p:spPr>
          <a:xfrm>
            <a:off x="3322244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文献与数据库结果</a:t>
            </a:r>
            <a:endParaRPr lang="en-US" sz="1150" dirty="0"/>
          </a:p>
        </p:txBody>
      </p:sp>
      <p:sp>
        <p:nvSpPr>
          <p:cNvPr id="15" name="arrow-76"/>
          <p:cNvSpPr/>
          <p:nvPr/>
        </p:nvSpPr>
        <p:spPr>
          <a:xfrm>
            <a:off x="4613034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badge-77"/>
          <p:cNvSpPr/>
          <p:nvPr/>
        </p:nvSpPr>
        <p:spPr>
          <a:xfrm>
            <a:off x="5217281" y="1600200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box-78"/>
          <p:cNvSpPr/>
          <p:nvPr/>
        </p:nvSpPr>
        <p:spPr>
          <a:xfrm>
            <a:off x="4777626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 w="6350">
            <a:solidFill>
              <a:srgbClr val="F2F5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数值核验</a:t>
            </a:r>
            <a:endParaRPr lang="en-US" sz="1350" dirty="0"/>
          </a:p>
        </p:txBody>
      </p:sp>
      <p:sp>
        <p:nvSpPr>
          <p:cNvPr id="18" name="label-79"/>
          <p:cNvSpPr txBox="1"/>
          <p:nvPr/>
        </p:nvSpPr>
        <p:spPr>
          <a:xfrm>
            <a:off x="4731906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会话证据 EV-n</a:t>
            </a:r>
            <a:endParaRPr lang="en-US" sz="1150" dirty="0"/>
          </a:p>
        </p:txBody>
      </p:sp>
      <p:sp>
        <p:nvSpPr>
          <p:cNvPr id="19" name="arrow-80"/>
          <p:cNvSpPr/>
          <p:nvPr/>
        </p:nvSpPr>
        <p:spPr>
          <a:xfrm>
            <a:off x="6022696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badge-81"/>
          <p:cNvSpPr/>
          <p:nvPr/>
        </p:nvSpPr>
        <p:spPr>
          <a:xfrm>
            <a:off x="6626943" y="160020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box-82"/>
          <p:cNvSpPr/>
          <p:nvPr/>
        </p:nvSpPr>
        <p:spPr>
          <a:xfrm>
            <a:off x="6187288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来源溯源</a:t>
            </a:r>
            <a:endParaRPr lang="en-US" sz="1350" dirty="0"/>
          </a:p>
        </p:txBody>
      </p:sp>
      <p:sp>
        <p:nvSpPr>
          <p:cNvPr id="22" name="label-83"/>
          <p:cNvSpPr txBox="1"/>
          <p:nvPr/>
        </p:nvSpPr>
        <p:spPr>
          <a:xfrm>
            <a:off x="6141568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上游试验 / 数据集</a:t>
            </a:r>
            <a:endParaRPr lang="en-US" sz="1150" dirty="0"/>
          </a:p>
        </p:txBody>
      </p:sp>
      <p:sp>
        <p:nvSpPr>
          <p:cNvPr id="23" name="arrow-84"/>
          <p:cNvSpPr/>
          <p:nvPr/>
        </p:nvSpPr>
        <p:spPr>
          <a:xfrm>
            <a:off x="7432357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badge-85"/>
          <p:cNvSpPr/>
          <p:nvPr/>
        </p:nvSpPr>
        <p:spPr>
          <a:xfrm>
            <a:off x="8036604" y="160020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box-86"/>
          <p:cNvSpPr/>
          <p:nvPr/>
        </p:nvSpPr>
        <p:spPr>
          <a:xfrm>
            <a:off x="7596950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同源合并</a:t>
            </a:r>
            <a:endParaRPr lang="en-US" sz="1350" dirty="0"/>
          </a:p>
        </p:txBody>
      </p:sp>
      <p:sp>
        <p:nvSpPr>
          <p:cNvPr id="26" name="label-87"/>
          <p:cNvSpPr txBox="1"/>
          <p:nvPr/>
        </p:nvSpPr>
        <p:spPr>
          <a:xfrm>
            <a:off x="7551230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独立证据线</a:t>
            </a:r>
            <a:endParaRPr lang="en-US" sz="1150" dirty="0"/>
          </a:p>
        </p:txBody>
      </p:sp>
      <p:sp>
        <p:nvSpPr>
          <p:cNvPr id="27" name="arrow-88"/>
          <p:cNvSpPr/>
          <p:nvPr/>
        </p:nvSpPr>
        <p:spPr>
          <a:xfrm>
            <a:off x="8842019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badge-89"/>
          <p:cNvSpPr/>
          <p:nvPr/>
        </p:nvSpPr>
        <p:spPr>
          <a:xfrm>
            <a:off x="9446266" y="1600200"/>
            <a:ext cx="347472" cy="347472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box-90"/>
          <p:cNvSpPr/>
          <p:nvPr/>
        </p:nvSpPr>
        <p:spPr>
          <a:xfrm>
            <a:off x="9006611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定级</a:t>
            </a:r>
            <a:endParaRPr lang="en-US" sz="1350" dirty="0"/>
          </a:p>
        </p:txBody>
      </p:sp>
      <p:sp>
        <p:nvSpPr>
          <p:cNvPr id="30" name="label-91"/>
          <p:cNvSpPr txBox="1"/>
          <p:nvPr/>
        </p:nvSpPr>
        <p:spPr>
          <a:xfrm>
            <a:off x="8960891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支持 / 反证 / 类型</a:t>
            </a:r>
            <a:endParaRPr lang="en-US" sz="1150" dirty="0"/>
          </a:p>
        </p:txBody>
      </p:sp>
      <p:sp>
        <p:nvSpPr>
          <p:cNvPr id="31" name="arrow-92"/>
          <p:cNvSpPr/>
          <p:nvPr/>
        </p:nvSpPr>
        <p:spPr>
          <a:xfrm>
            <a:off x="10251681" y="2491740"/>
            <a:ext cx="146304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badge-93"/>
          <p:cNvSpPr/>
          <p:nvPr/>
        </p:nvSpPr>
        <p:spPr>
          <a:xfrm>
            <a:off x="10855928" y="1600200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33" name="box-94"/>
          <p:cNvSpPr/>
          <p:nvPr/>
        </p:nvSpPr>
        <p:spPr>
          <a:xfrm>
            <a:off x="10416273" y="2057400"/>
            <a:ext cx="1226782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 w="6350">
            <a:solidFill>
              <a:srgbClr val="F2F5F8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输出结论</a:t>
            </a:r>
            <a:endParaRPr lang="en-US" sz="1350" dirty="0"/>
          </a:p>
        </p:txBody>
      </p:sp>
      <p:sp>
        <p:nvSpPr>
          <p:cNvPr id="34" name="label-95"/>
          <p:cNvSpPr txBox="1"/>
          <p:nvPr/>
        </p:nvSpPr>
        <p:spPr>
          <a:xfrm>
            <a:off x="10370553" y="3017520"/>
            <a:ext cx="13182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结论 + 证据线</a:t>
            </a:r>
            <a:endParaRPr lang="en-US" sz="1150" dirty="0"/>
          </a:p>
        </p:txBody>
      </p:sp>
      <p:sp>
        <p:nvSpPr>
          <p:cNvPr id="35" name="legend-96"/>
          <p:cNvSpPr/>
          <p:nvPr/>
        </p:nvSpPr>
        <p:spPr>
          <a:xfrm>
            <a:off x="548640" y="3566160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E3F3F1"/>
          </a:solidFill>
          <a:ln w="12700">
            <a:solidFill>
              <a:srgbClr val="0E8A7E"/>
            </a:solidFill>
            <a:prstDash val="solid"/>
          </a:ln>
        </p:spPr>
      </p:sp>
      <p:sp>
        <p:nvSpPr>
          <p:cNvPr id="36" name="label-97"/>
          <p:cNvSpPr txBox="1"/>
          <p:nvPr/>
        </p:nvSpPr>
        <p:spPr>
          <a:xfrm>
            <a:off x="9144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绿色：由证据治理层（A 类）完成的步骤</a:t>
            </a:r>
            <a:endParaRPr lang="en-US" sz="1150" dirty="0"/>
          </a:p>
        </p:txBody>
      </p:sp>
      <p:sp>
        <p:nvSpPr>
          <p:cNvPr id="37" name="card-98"/>
          <p:cNvSpPr/>
          <p:nvPr/>
        </p:nvSpPr>
        <p:spPr>
          <a:xfrm>
            <a:off x="548640" y="4160520"/>
            <a:ext cx="11094415" cy="1965960"/>
          </a:xfrm>
          <a:prstGeom prst="roundRect">
            <a:avLst>
              <a:gd name="adj" fmla="val 4651"/>
            </a:avLst>
          </a:prstGeom>
          <a:solidFill>
            <a:srgbClr val="FBF4EC"/>
          </a:solidFill>
          <a:ln w="12700">
            <a:solidFill>
              <a:srgbClr val="FBF4EC"/>
            </a:solidFill>
            <a:prstDash val="solid"/>
          </a:ln>
        </p:spPr>
      </p:sp>
      <p:sp>
        <p:nvSpPr>
          <p:cNvPr id="38" name="label-99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依据被推翻时的回路</a:t>
            </a:r>
            <a:endParaRPr lang="en-US" sz="1500" dirty="0"/>
          </a:p>
        </p:txBody>
      </p:sp>
      <p:sp>
        <p:nvSpPr>
          <p:cNvPr id="39" name="box-100"/>
          <p:cNvSpPr/>
          <p:nvPr/>
        </p:nvSpPr>
        <p:spPr>
          <a:xfrm>
            <a:off x="822960" y="4846320"/>
            <a:ext cx="232783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回答时核验每个来源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（撤稿 / 试验终止 / 撤市）</a:t>
            </a:r>
            <a:endParaRPr lang="en-US" sz="1300" dirty="0"/>
          </a:p>
        </p:txBody>
      </p:sp>
      <p:sp>
        <p:nvSpPr>
          <p:cNvPr id="40" name="arrow-101"/>
          <p:cNvSpPr/>
          <p:nvPr/>
        </p:nvSpPr>
        <p:spPr>
          <a:xfrm>
            <a:off x="3178226" y="5257800"/>
            <a:ext cx="35661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1" name="box-102"/>
          <p:cNvSpPr/>
          <p:nvPr/>
        </p:nvSpPr>
        <p:spPr>
          <a:xfrm>
            <a:off x="3562274" y="4846320"/>
            <a:ext cx="232783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发现已失效的来源</a:t>
            </a:r>
            <a:endParaRPr lang="en-US" sz="1300" dirty="0"/>
          </a:p>
        </p:txBody>
      </p:sp>
      <p:sp>
        <p:nvSpPr>
          <p:cNvPr id="42" name="arrow-103"/>
          <p:cNvSpPr/>
          <p:nvPr/>
        </p:nvSpPr>
        <p:spPr>
          <a:xfrm>
            <a:off x="5917540" y="5257800"/>
            <a:ext cx="35661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3" name="box-104"/>
          <p:cNvSpPr/>
          <p:nvPr/>
        </p:nvSpPr>
        <p:spPr>
          <a:xfrm>
            <a:off x="6301588" y="4846320"/>
            <a:ext cx="232783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依赖它的结论：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当场降级</a:t>
            </a:r>
            <a:endParaRPr lang="en-US" sz="1300" dirty="0"/>
          </a:p>
        </p:txBody>
      </p:sp>
      <p:sp>
        <p:nvSpPr>
          <p:cNvPr id="44" name="arrow-105"/>
          <p:cNvSpPr/>
          <p:nvPr/>
        </p:nvSpPr>
        <p:spPr>
          <a:xfrm>
            <a:off x="8656853" y="5257800"/>
            <a:ext cx="35661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45" name="box-106"/>
          <p:cNvSpPr/>
          <p:nvPr/>
        </p:nvSpPr>
        <p:spPr>
          <a:xfrm>
            <a:off x="9040901" y="4846320"/>
            <a:ext cx="232783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提示复核：列出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受影响的证据线</a:t>
            </a:r>
            <a:endParaRPr lang="en-US" sz="1300" dirty="0"/>
          </a:p>
        </p:txBody>
      </p:sp>
      <p:sp>
        <p:nvSpPr>
          <p:cNvPr id="46" name="label-107"/>
          <p:cNvSpPr txBox="1"/>
          <p:nvPr/>
        </p:nvSpPr>
        <p:spPr>
          <a:xfrm>
            <a:off x="822960" y="57607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例：2024 年伏塞洛托（Oxbryta）因上市后数据显示死亡增多而撤市 → 核验发现“批准”已失效 → “可用于治疗镰状细胞病”的结论当场降级。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核心设计：独立证据线定级——看有几条独立证据，而不是引用了几篇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类设计：即时追溯每条证据的来源，同源合并，按独立证据线给结论定级。</a:t>
            </a:r>
            <a:endParaRPr lang="en-US" sz="1500" dirty="0"/>
          </a:p>
        </p:txBody>
      </p:sp>
      <p:sp>
        <p:nvSpPr>
          <p:cNvPr id="4" name="card-108"/>
          <p:cNvSpPr/>
          <p:nvPr/>
        </p:nvSpPr>
        <p:spPr>
          <a:xfrm>
            <a:off x="548640" y="1600200"/>
            <a:ext cx="667512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abel-109"/>
          <p:cNvSpPr txBox="1"/>
          <p:nvPr/>
        </p:nvSpPr>
        <p:spPr>
          <a:xfrm>
            <a:off x="822960" y="173736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真实例子：“阿贝西利能否用于乳腺癌”，系统检索到的前 20 篇论文</a:t>
            </a:r>
            <a:endParaRPr lang="en-US" sz="1350" dirty="0"/>
          </a:p>
        </p:txBody>
      </p:sp>
      <p:sp>
        <p:nvSpPr>
          <p:cNvPr id="6" name="box-110"/>
          <p:cNvSpPr/>
          <p:nvPr/>
        </p:nvSpPr>
        <p:spPr>
          <a:xfrm>
            <a:off x="822960" y="2240280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1</a:t>
            </a:r>
            <a:endParaRPr lang="en-US" sz="1100" dirty="0"/>
          </a:p>
        </p:txBody>
      </p:sp>
      <p:sp>
        <p:nvSpPr>
          <p:cNvPr id="7" name="box-111"/>
          <p:cNvSpPr/>
          <p:nvPr/>
        </p:nvSpPr>
        <p:spPr>
          <a:xfrm>
            <a:off x="822960" y="2578608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2</a:t>
            </a:r>
            <a:endParaRPr lang="en-US" sz="1100" dirty="0"/>
          </a:p>
        </p:txBody>
      </p:sp>
      <p:sp>
        <p:nvSpPr>
          <p:cNvPr id="8" name="box-112"/>
          <p:cNvSpPr/>
          <p:nvPr/>
        </p:nvSpPr>
        <p:spPr>
          <a:xfrm>
            <a:off x="822960" y="2916936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3</a:t>
            </a:r>
            <a:endParaRPr lang="en-US" sz="1100" dirty="0"/>
          </a:p>
        </p:txBody>
      </p:sp>
      <p:sp>
        <p:nvSpPr>
          <p:cNvPr id="9" name="box-113"/>
          <p:cNvSpPr/>
          <p:nvPr/>
        </p:nvSpPr>
        <p:spPr>
          <a:xfrm>
            <a:off x="822960" y="3255264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4</a:t>
            </a:r>
            <a:endParaRPr lang="en-US" sz="1100" dirty="0"/>
          </a:p>
        </p:txBody>
      </p:sp>
      <p:sp>
        <p:nvSpPr>
          <p:cNvPr id="10" name="box-114"/>
          <p:cNvSpPr/>
          <p:nvPr/>
        </p:nvSpPr>
        <p:spPr>
          <a:xfrm>
            <a:off x="822960" y="3593592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5</a:t>
            </a:r>
            <a:endParaRPr lang="en-US" sz="1100" dirty="0"/>
          </a:p>
        </p:txBody>
      </p:sp>
      <p:sp>
        <p:nvSpPr>
          <p:cNvPr id="11" name="box-115"/>
          <p:cNvSpPr/>
          <p:nvPr/>
        </p:nvSpPr>
        <p:spPr>
          <a:xfrm>
            <a:off x="822960" y="3931920"/>
            <a:ext cx="1417320" cy="274320"/>
          </a:xfrm>
          <a:prstGeom prst="roundRect">
            <a:avLst>
              <a:gd name="adj" fmla="val 26667"/>
            </a:avLst>
          </a:prstGeom>
          <a:solidFill>
            <a:schemeClr val="bg1"/>
          </a:solidFill>
          <a:ln w="12700">
            <a:solidFill>
              <a:srgbClr val="C9792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论文 6</a:t>
            </a:r>
            <a:endParaRPr lang="en-US" sz="1100" dirty="0"/>
          </a:p>
        </p:txBody>
      </p:sp>
      <p:sp>
        <p:nvSpPr>
          <p:cNvPr id="12" name="box-116"/>
          <p:cNvSpPr/>
          <p:nvPr/>
        </p:nvSpPr>
        <p:spPr>
          <a:xfrm>
            <a:off x="822960" y="4325112"/>
            <a:ext cx="14173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其余 14 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（各自独立或无法追溯）</a:t>
            </a:r>
            <a:endParaRPr lang="en-US" sz="950" dirty="0"/>
          </a:p>
        </p:txBody>
      </p:sp>
      <p:sp>
        <p:nvSpPr>
          <p:cNvPr id="13" name="arrow-117"/>
          <p:cNvSpPr/>
          <p:nvPr/>
        </p:nvSpPr>
        <p:spPr>
          <a:xfrm>
            <a:off x="2267712" y="2377440"/>
            <a:ext cx="1179576" cy="8458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4" name="arrow-118"/>
          <p:cNvSpPr/>
          <p:nvPr/>
        </p:nvSpPr>
        <p:spPr>
          <a:xfrm>
            <a:off x="2267712" y="2715768"/>
            <a:ext cx="1179576" cy="50749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arrow-119"/>
          <p:cNvSpPr/>
          <p:nvPr/>
        </p:nvSpPr>
        <p:spPr>
          <a:xfrm>
            <a:off x="2267712" y="3054096"/>
            <a:ext cx="1179576" cy="16916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arrow-120"/>
          <p:cNvSpPr/>
          <p:nvPr/>
        </p:nvSpPr>
        <p:spPr>
          <a:xfrm flipV="1">
            <a:off x="2267712" y="3223260"/>
            <a:ext cx="1179576" cy="169164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7" name="arrow-121"/>
          <p:cNvSpPr/>
          <p:nvPr/>
        </p:nvSpPr>
        <p:spPr>
          <a:xfrm flipV="1">
            <a:off x="2267712" y="3223260"/>
            <a:ext cx="1179576" cy="507492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arrow-122"/>
          <p:cNvSpPr/>
          <p:nvPr/>
        </p:nvSpPr>
        <p:spPr>
          <a:xfrm flipV="1">
            <a:off x="2267712" y="3223260"/>
            <a:ext cx="1179576" cy="84582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label-123"/>
          <p:cNvSpPr txBox="1"/>
          <p:nvPr/>
        </p:nvSpPr>
        <p:spPr>
          <a:xfrm>
            <a:off x="2514600" y="20345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即时溯源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（PubMed 试验关联）</a:t>
            </a:r>
            <a:endParaRPr lang="en-US" sz="1000" dirty="0"/>
          </a:p>
        </p:txBody>
      </p:sp>
      <p:sp>
        <p:nvSpPr>
          <p:cNvPr id="20" name="box-124"/>
          <p:cNvSpPr/>
          <p:nvPr/>
        </p:nvSpPr>
        <p:spPr>
          <a:xfrm>
            <a:off x="3474720" y="290322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monarchE 三期试验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NCT03155997</a:t>
            </a:r>
            <a:endParaRPr lang="en-US" sz="1150" dirty="0"/>
          </a:p>
        </p:txBody>
      </p:sp>
      <p:sp>
        <p:nvSpPr>
          <p:cNvPr id="21" name="arrow-125"/>
          <p:cNvSpPr/>
          <p:nvPr/>
        </p:nvSpPr>
        <p:spPr>
          <a:xfrm>
            <a:off x="5330952" y="3223260"/>
            <a:ext cx="429768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box-126"/>
          <p:cNvSpPr/>
          <p:nvPr/>
        </p:nvSpPr>
        <p:spPr>
          <a:xfrm>
            <a:off x="5788152" y="2857500"/>
            <a:ext cx="1161288" cy="731520"/>
          </a:xfrm>
          <a:prstGeom prst="roundRect">
            <a:avLst>
              <a:gd name="adj" fmla="val 10000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计为 1 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独立证据</a:t>
            </a:r>
            <a:endParaRPr lang="en-US" sz="1300" dirty="0"/>
          </a:p>
        </p:txBody>
      </p:sp>
      <p:sp>
        <p:nvSpPr>
          <p:cNvPr id="23" name="label-127"/>
          <p:cNvSpPr txBox="1"/>
          <p:nvPr/>
        </p:nvSpPr>
        <p:spPr>
          <a:xfrm>
            <a:off x="3291840" y="36804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同一批受试者的主结果、亚组分析、长期随访等 6 篇论文，只能算 1 条证据；按篇数计会被放大 6 倍。</a:t>
            </a:r>
            <a:endParaRPr lang="en-US" sz="1100" dirty="0"/>
          </a:p>
        </p:txBody>
      </p:sp>
      <p:sp>
        <p:nvSpPr>
          <p:cNvPr id="24" name="label-128"/>
          <p:cNvSpPr txBox="1"/>
          <p:nvPr/>
        </p:nvSpPr>
        <p:spPr>
          <a:xfrm>
            <a:off x="822960" y="490118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定级规则（设计）</a:t>
            </a:r>
            <a:endParaRPr lang="en-US" sz="1200" dirty="0"/>
          </a:p>
        </p:txBody>
      </p:sp>
      <p:sp>
        <p:nvSpPr>
          <p:cNvPr id="25" name="box-129"/>
          <p:cNvSpPr/>
          <p:nvPr/>
        </p:nvSpPr>
        <p:spPr>
          <a:xfrm>
            <a:off x="822960" y="5202936"/>
            <a:ext cx="19507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≥ 2 类独立证据线相互印证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较强</a:t>
            </a:r>
            <a:endParaRPr lang="en-US" sz="1100" dirty="0"/>
          </a:p>
        </p:txBody>
      </p:sp>
      <p:sp>
        <p:nvSpPr>
          <p:cNvPr id="26" name="box-130"/>
          <p:cNvSpPr/>
          <p:nvPr/>
        </p:nvSpPr>
        <p:spPr>
          <a:xfrm>
            <a:off x="2910840" y="5202936"/>
            <a:ext cx="19507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仅 1 条独立证据线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待印证</a:t>
            </a:r>
            <a:endParaRPr lang="en-US" sz="1100" dirty="0"/>
          </a:p>
        </p:txBody>
      </p:sp>
      <p:sp>
        <p:nvSpPr>
          <p:cNvPr id="27" name="box-131"/>
          <p:cNvSpPr/>
          <p:nvPr/>
        </p:nvSpPr>
        <p:spPr>
          <a:xfrm>
            <a:off x="4998720" y="5202936"/>
            <a:ext cx="195072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rgbClr val="B4233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存在独立的反向证据线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→ 有争议</a:t>
            </a:r>
            <a:endParaRPr lang="en-US" sz="1100" dirty="0"/>
          </a:p>
        </p:txBody>
      </p:sp>
      <p:sp>
        <p:nvSpPr>
          <p:cNvPr id="28" name="badge-132"/>
          <p:cNvSpPr/>
          <p:nvPr/>
        </p:nvSpPr>
        <p:spPr>
          <a:xfrm>
            <a:off x="7543800" y="16916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9" name="label-133"/>
          <p:cNvSpPr txBox="1"/>
          <p:nvPr/>
        </p:nvSpPr>
        <p:spPr>
          <a:xfrm>
            <a:off x="8074152" y="1673352"/>
            <a:ext cx="35689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即时溯源</a:t>
            </a:r>
            <a:endParaRPr lang="en-US" sz="1600" dirty="0"/>
          </a:p>
        </p:txBody>
      </p:sp>
      <p:sp>
        <p:nvSpPr>
          <p:cNvPr id="30" name="label-134"/>
          <p:cNvSpPr txBox="1"/>
          <p:nvPr/>
        </p:nvSpPr>
        <p:spPr>
          <a:xfrm>
            <a:off x="8074152" y="2103120"/>
            <a:ext cx="35689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每条证据追到上游：哪个试验、数据集、GWAS 研究或原始论文。全部来自公开数据库，现查现算——无需自建证据库，无需人工标注。</a:t>
            </a:r>
            <a:endParaRPr lang="en-US" sz="1250" dirty="0"/>
          </a:p>
        </p:txBody>
      </p:sp>
      <p:sp>
        <p:nvSpPr>
          <p:cNvPr id="31" name="badge-135"/>
          <p:cNvSpPr/>
          <p:nvPr/>
        </p:nvSpPr>
        <p:spPr>
          <a:xfrm>
            <a:off x="7543800" y="3172968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32" name="label-136"/>
          <p:cNvSpPr txBox="1"/>
          <p:nvPr/>
        </p:nvSpPr>
        <p:spPr>
          <a:xfrm>
            <a:off x="8074152" y="3154680"/>
            <a:ext cx="35689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同源合并</a:t>
            </a:r>
            <a:endParaRPr lang="en-US" sz="1600" dirty="0"/>
          </a:p>
        </p:txBody>
      </p:sp>
      <p:sp>
        <p:nvSpPr>
          <p:cNvPr id="33" name="label-137"/>
          <p:cNvSpPr txBox="1"/>
          <p:nvPr/>
        </p:nvSpPr>
        <p:spPr>
          <a:xfrm>
            <a:off x="8074152" y="3584448"/>
            <a:ext cx="35689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同一试验 / 数据集衍生的多篇论文只计 1 条；预印本与正式版、荟萃分析与其纳入研究同理。</a:t>
            </a:r>
            <a:endParaRPr lang="en-US" sz="1250" dirty="0"/>
          </a:p>
        </p:txBody>
      </p:sp>
      <p:sp>
        <p:nvSpPr>
          <p:cNvPr id="34" name="badge-138"/>
          <p:cNvSpPr/>
          <p:nvPr/>
        </p:nvSpPr>
        <p:spPr>
          <a:xfrm>
            <a:off x="7543800" y="4654296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5" name="label-139"/>
          <p:cNvSpPr txBox="1"/>
          <p:nvPr/>
        </p:nvSpPr>
        <p:spPr>
          <a:xfrm>
            <a:off x="8074152" y="4636008"/>
            <a:ext cx="35689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按独立证据线定级</a:t>
            </a:r>
            <a:endParaRPr lang="en-US" sz="1600" dirty="0"/>
          </a:p>
        </p:txBody>
      </p:sp>
      <p:sp>
        <p:nvSpPr>
          <p:cNvPr id="36" name="label-140"/>
          <p:cNvSpPr txBox="1"/>
          <p:nvPr/>
        </p:nvSpPr>
        <p:spPr>
          <a:xfrm>
            <a:off x="8074152" y="5065776"/>
            <a:ext cx="35689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看遗传学、动物模型、临床试验等几类独立证据是否相互印证；下结论前先找反证（失败试验、阴性结果）。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实时状态核验：依据被推翻，结论当场降级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回答时核验每个来源的当前状态（撤稿、试验终止、药品撤市），只降级真正依赖它的结论。</a:t>
            </a:r>
            <a:endParaRPr lang="en-US" sz="1500" dirty="0"/>
          </a:p>
        </p:txBody>
      </p:sp>
      <p:sp>
        <p:nvSpPr>
          <p:cNvPr id="4" name="card-141"/>
          <p:cNvSpPr/>
          <p:nvPr/>
        </p:nvSpPr>
        <p:spPr>
          <a:xfrm>
            <a:off x="548640" y="1600200"/>
            <a:ext cx="5410048" cy="4343400"/>
          </a:xfrm>
          <a:prstGeom prst="roundRect">
            <a:avLst>
              <a:gd name="adj" fmla="val 2105"/>
            </a:avLst>
          </a:prstGeom>
          <a:solidFill>
            <a:srgbClr val="FBF4EC"/>
          </a:solidFill>
          <a:ln w="12700">
            <a:solidFill>
              <a:srgbClr val="FBF4EC"/>
            </a:solidFill>
            <a:prstDash val="solid"/>
          </a:ln>
        </p:spPr>
      </p:sp>
      <p:sp>
        <p:nvSpPr>
          <p:cNvPr id="5" name="label-142"/>
          <p:cNvSpPr txBox="1"/>
          <p:nvPr/>
        </p:nvSpPr>
        <p:spPr>
          <a:xfrm>
            <a:off x="822960" y="1755648"/>
            <a:ext cx="486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案例一：伏塞洛托（Oxbryta），镰状细胞病</a:t>
            </a:r>
            <a:endParaRPr lang="en-US" sz="1400" dirty="0"/>
          </a:p>
        </p:txBody>
      </p:sp>
      <p:sp>
        <p:nvSpPr>
          <p:cNvPr id="6" name="label-143"/>
          <p:cNvSpPr txBox="1"/>
          <p:nvPr/>
        </p:nvSpPr>
        <p:spPr>
          <a:xfrm>
            <a:off x="822960" y="2103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看点：只降级依赖失效来源的结论</a:t>
            </a:r>
            <a:endParaRPr lang="en-US" sz="1150" dirty="0"/>
          </a:p>
        </p:txBody>
      </p:sp>
      <p:graphicFrame>
        <p:nvGraphicFramePr>
          <p:cNvPr id="8" name="table-1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514600"/>
          <a:ext cx="4861408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1719072"/>
                <a:gridCol w="1234440"/>
                <a:gridCol w="13409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 A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可用于治疗该病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 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能提高血红蛋白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2019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HOPE 试验 + 加速批准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上市后死亡增多，撤市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7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 降级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不受影响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label-145"/>
          <p:cNvSpPr txBox="1"/>
          <p:nvPr/>
        </p:nvSpPr>
        <p:spPr>
          <a:xfrm>
            <a:off x="822960" y="3794760"/>
            <a:ext cx="4861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结论 A 依赖“批准”与 HOPE 试验，核验发现批准已撤销，当场降级；结论 B 只依赖 HOPE 试验，血红蛋白确实升高，保持不变。替代指标改善不等于临床获益。</a:t>
            </a:r>
            <a:endParaRPr lang="en-US" sz="1200" dirty="0"/>
          </a:p>
        </p:txBody>
      </p:sp>
      <p:sp>
        <p:nvSpPr>
          <p:cNvPr id="9" name="label-146"/>
          <p:cNvSpPr txBox="1"/>
          <p:nvPr/>
        </p:nvSpPr>
        <p:spPr>
          <a:xfrm>
            <a:off x="822960" y="52578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文献：HOPE 试验，NEJM 2019（PMID 31199090）</a:t>
            </a:r>
            <a:endParaRPr lang="en-US" sz="1000" dirty="0"/>
          </a:p>
        </p:txBody>
      </p:sp>
      <p:sp>
        <p:nvSpPr>
          <p:cNvPr id="10" name="card-147"/>
          <p:cNvSpPr/>
          <p:nvPr/>
        </p:nvSpPr>
        <p:spPr>
          <a:xfrm>
            <a:off x="6233008" y="1600200"/>
            <a:ext cx="5410048" cy="4343400"/>
          </a:xfrm>
          <a:prstGeom prst="roundRect">
            <a:avLst>
              <a:gd name="adj" fmla="val 2105"/>
            </a:avLst>
          </a:prstGeom>
          <a:solidFill>
            <a:srgbClr val="FBF4EC"/>
          </a:solidFill>
          <a:ln w="12700">
            <a:solidFill>
              <a:srgbClr val="FBF4EC"/>
            </a:solidFill>
            <a:prstDash val="solid"/>
          </a:ln>
        </p:spPr>
      </p:sp>
      <p:sp>
        <p:nvSpPr>
          <p:cNvPr id="11" name="label-148"/>
          <p:cNvSpPr txBox="1"/>
          <p:nvPr/>
        </p:nvSpPr>
        <p:spPr>
          <a:xfrm>
            <a:off x="6507328" y="1755648"/>
            <a:ext cx="486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案例二：Makena（17-OHPC），预防早产</a:t>
            </a:r>
            <a:endParaRPr lang="en-US" sz="1400" dirty="0"/>
          </a:p>
        </p:txBody>
      </p:sp>
      <p:sp>
        <p:nvSpPr>
          <p:cNvPr id="12" name="label-149"/>
          <p:cNvSpPr txBox="1"/>
          <p:nvPr/>
        </p:nvSpPr>
        <p:spPr>
          <a:xfrm>
            <a:off x="6507328" y="210312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看点：独立证据线方向相反时，保留分歧、不替人裁决</a:t>
            </a:r>
            <a:endParaRPr lang="en-US" sz="1150" dirty="0"/>
          </a:p>
        </p:txBody>
      </p:sp>
      <p:graphicFrame>
        <p:nvGraphicFramePr>
          <p:cNvPr id="15" name="table-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07328" y="2514600"/>
          <a:ext cx="4861408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2057400"/>
                <a:gridCol w="2237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A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结论“可降低早产风险”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3C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Meis 试验：早产风险下降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支持（1 条证据线）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确证试验 PROLONG：未见效果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79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 有争议：两条独立证据线相反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5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FDA 撤销批准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 降级，并列出双方证据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label-151"/>
          <p:cNvSpPr txBox="1"/>
          <p:nvPr/>
        </p:nvSpPr>
        <p:spPr>
          <a:xfrm>
            <a:off x="6507328" y="4251960"/>
            <a:ext cx="48614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两项试验来自不同受试者，是两条独立证据线；系统把双方都摆出来，标为“有争议”，由专家判断。</a:t>
            </a:r>
            <a:endParaRPr lang="en-US" sz="1200" dirty="0"/>
          </a:p>
        </p:txBody>
      </p:sp>
      <p:sp>
        <p:nvSpPr>
          <p:cNvPr id="15" name="label-152"/>
          <p:cNvSpPr txBox="1"/>
          <p:nvPr/>
        </p:nvSpPr>
        <p:spPr>
          <a:xfrm>
            <a:off x="6507328" y="525780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文献：Meis 等，NEJM 2003（PMID 12802023）；PROLONG，Am J Perinatol 2020（PMID 31652479）</a:t>
            </a:r>
            <a:endParaRPr lang="en-US" sz="1000" dirty="0"/>
          </a:p>
        </p:txBody>
      </p:sp>
      <p:sp>
        <p:nvSpPr>
          <p:cNvPr id="16" name="label-15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两个案例已在 3.0 原型中写成自动化测试；实时核验的数据来源：撤稿库、ClinicalTrials.gov 试验状态、FDA 药品信息。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实测：同源证据普遍存在，证据类型决定区分力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两项小规模实测，标签全部来自公开结局（获批 / 因疗效不足失败），无人工标注。</a:t>
            </a:r>
            <a:endParaRPr lang="en-US" sz="1500" dirty="0"/>
          </a:p>
        </p:txBody>
      </p:sp>
      <p:sp>
        <p:nvSpPr>
          <p:cNvPr id="4" name="card-154"/>
          <p:cNvSpPr/>
          <p:nvPr/>
        </p:nvSpPr>
        <p:spPr>
          <a:xfrm>
            <a:off x="548640" y="1600200"/>
            <a:ext cx="5410048" cy="443484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155"/>
          <p:cNvSpPr/>
          <p:nvPr/>
        </p:nvSpPr>
        <p:spPr>
          <a:xfrm>
            <a:off x="822960" y="1783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label-156"/>
          <p:cNvSpPr txBox="1"/>
          <p:nvPr/>
        </p:nvSpPr>
        <p:spPr>
          <a:xfrm>
            <a:off x="1325880" y="175564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检索到的证据有多少是同源的</a:t>
            </a:r>
            <a:endParaRPr lang="en-US" sz="1600" dirty="0"/>
          </a:p>
        </p:txBody>
      </p:sp>
      <p:sp>
        <p:nvSpPr>
          <p:cNvPr id="7" name="label-157"/>
          <p:cNvSpPr txBox="1"/>
          <p:nvPr/>
        </p:nvSpPr>
        <p:spPr>
          <a:xfrm>
            <a:off x="822960" y="224028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94 个真实“药物–疾病”问题，系统自带文献检索取前 20 篇，共 1649 篇；按 PubMed 试验关联溯源。</a:t>
            </a:r>
            <a:endParaRPr lang="en-US" sz="1100" dirty="0"/>
          </a:p>
        </p:txBody>
      </p:sp>
      <p:sp>
        <p:nvSpPr>
          <p:cNvPr id="8" name="label-158"/>
          <p:cNvSpPr txBox="1"/>
          <p:nvPr/>
        </p:nvSpPr>
        <p:spPr>
          <a:xfrm>
            <a:off x="822960" y="2834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40%</a:t>
            </a:r>
            <a:endParaRPr lang="en-US" sz="3000" dirty="0"/>
          </a:p>
        </p:txBody>
      </p:sp>
      <p:sp>
        <p:nvSpPr>
          <p:cNvPr id="9" name="label-159"/>
          <p:cNvSpPr txBox="1"/>
          <p:nvPr/>
        </p:nvSpPr>
        <p:spPr>
          <a:xfrm>
            <a:off x="2331720" y="2880360"/>
            <a:ext cx="335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含试验证据的问题中，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存在同源论文的比例（25 / 62）</a:t>
            </a:r>
            <a:endParaRPr lang="en-US" sz="1150" dirty="0"/>
          </a:p>
        </p:txBody>
      </p:sp>
      <p:sp>
        <p:nvSpPr>
          <p:cNvPr id="10" name="label-160"/>
          <p:cNvSpPr txBox="1"/>
          <p:nvPr/>
        </p:nvSpPr>
        <p:spPr>
          <a:xfrm>
            <a:off x="82296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29%</a:t>
            </a:r>
            <a:endParaRPr lang="en-US" sz="3000" dirty="0"/>
          </a:p>
        </p:txBody>
      </p:sp>
      <p:sp>
        <p:nvSpPr>
          <p:cNvPr id="11" name="label-161"/>
          <p:cNvSpPr txBox="1"/>
          <p:nvPr/>
        </p:nvSpPr>
        <p:spPr>
          <a:xfrm>
            <a:off x="2331720" y="3749040"/>
            <a:ext cx="335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试验类论文中，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属于重复计数的比例（60 / 207）</a:t>
            </a:r>
            <a:endParaRPr lang="en-US" sz="1150" dirty="0"/>
          </a:p>
        </p:txBody>
      </p:sp>
      <p:sp>
        <p:nvSpPr>
          <p:cNvPr id="12" name="label-162"/>
          <p:cNvSpPr txBox="1"/>
          <p:nvPr/>
        </p:nvSpPr>
        <p:spPr>
          <a:xfrm>
            <a:off x="822960" y="45720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8 篇</a:t>
            </a:r>
            <a:endParaRPr lang="en-US" sz="3000" dirty="0"/>
          </a:p>
        </p:txBody>
      </p:sp>
      <p:sp>
        <p:nvSpPr>
          <p:cNvPr id="13" name="label-163"/>
          <p:cNvSpPr txBox="1"/>
          <p:nvPr/>
        </p:nvSpPr>
        <p:spPr>
          <a:xfrm>
            <a:off x="2331720" y="4617720"/>
            <a:ext cx="335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单个问题中，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来自同一个试验的最多篇数</a:t>
            </a:r>
            <a:endParaRPr lang="en-US" sz="1150" dirty="0"/>
          </a:p>
        </p:txBody>
      </p:sp>
      <p:sp>
        <p:nvSpPr>
          <p:cNvPr id="14" name="label-164"/>
          <p:cNvSpPr txBox="1"/>
          <p:nvPr/>
        </p:nvSpPr>
        <p:spPr>
          <a:xfrm>
            <a:off x="822960" y="5440680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只识别了明确的试验编号；共享队列、数据集、预印本等尚未计入，真实比例只会更高。</a:t>
            </a:r>
            <a:endParaRPr lang="en-US" sz="1050" dirty="0"/>
          </a:p>
        </p:txBody>
      </p:sp>
      <p:sp>
        <p:nvSpPr>
          <p:cNvPr id="15" name="card-165"/>
          <p:cNvSpPr/>
          <p:nvPr/>
        </p:nvSpPr>
        <p:spPr>
          <a:xfrm>
            <a:off x="6233008" y="1600200"/>
            <a:ext cx="5410048" cy="4434840"/>
          </a:xfrm>
          <a:prstGeom prst="roundRect">
            <a:avLst>
              <a:gd name="adj" fmla="val 20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166"/>
          <p:cNvSpPr/>
          <p:nvPr/>
        </p:nvSpPr>
        <p:spPr>
          <a:xfrm>
            <a:off x="6507328" y="178308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label-167"/>
          <p:cNvSpPr txBox="1"/>
          <p:nvPr/>
        </p:nvSpPr>
        <p:spPr>
          <a:xfrm>
            <a:off x="7010248" y="175564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哪类证据能区分“有效 / 无效”</a:t>
            </a:r>
            <a:endParaRPr lang="en-US" sz="1600" dirty="0"/>
          </a:p>
        </p:txBody>
      </p:sp>
      <p:sp>
        <p:nvSpPr>
          <p:cNvPr id="18" name="label-168"/>
          <p:cNvSpPr txBox="1"/>
          <p:nvPr/>
        </p:nvSpPr>
        <p:spPr>
          <a:xfrm>
            <a:off x="6507328" y="224028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已获批靶点 vs 因疗效不足失败的靶点：各类证据出现的比例（114 个靶点 / 94 对靶点–疾病）。</a:t>
            </a:r>
            <a:endParaRPr lang="en-US" sz="1100" dirty="0"/>
          </a:p>
        </p:txBody>
      </p:sp>
      <p:sp>
        <p:nvSpPr>
          <p:cNvPr id="19" name="label-169"/>
          <p:cNvSpPr txBox="1"/>
          <p:nvPr/>
        </p:nvSpPr>
        <p:spPr>
          <a:xfrm>
            <a:off x="8839048" y="2743200"/>
            <a:ext cx="2483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上条：获批组　下条（浅色）：失败组</a:t>
            </a:r>
            <a:endParaRPr lang="en-US" sz="950" dirty="0"/>
          </a:p>
        </p:txBody>
      </p:sp>
      <p:sp>
        <p:nvSpPr>
          <p:cNvPr id="20" name="label-170"/>
          <p:cNvSpPr txBox="1"/>
          <p:nvPr/>
        </p:nvSpPr>
        <p:spPr>
          <a:xfrm>
            <a:off x="6507328" y="3035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只看靶点：有强活性化合物</a:t>
            </a:r>
            <a:endParaRPr lang="en-US" sz="1050" dirty="0"/>
          </a:p>
        </p:txBody>
      </p:sp>
      <p:sp>
        <p:nvSpPr>
          <p:cNvPr id="21" name="bar-171"/>
          <p:cNvSpPr/>
          <p:nvPr/>
        </p:nvSpPr>
        <p:spPr>
          <a:xfrm>
            <a:off x="8839048" y="3072384"/>
            <a:ext cx="1783555" cy="164592"/>
          </a:xfrm>
          <a:prstGeom prst="rect">
            <a:avLst/>
          </a:prstGeom>
          <a:solidFill>
            <a:srgbClr val="B4BFCC"/>
          </a:solidFill>
          <a:ln w="12700">
            <a:solidFill>
              <a:srgbClr val="B4BFCC"/>
            </a:solidFill>
            <a:prstDash val="solid"/>
          </a:ln>
        </p:spPr>
      </p:sp>
      <p:sp>
        <p:nvSpPr>
          <p:cNvPr id="22" name="label-172"/>
          <p:cNvSpPr txBox="1"/>
          <p:nvPr/>
        </p:nvSpPr>
        <p:spPr>
          <a:xfrm>
            <a:off x="10668323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88%</a:t>
            </a:r>
            <a:endParaRPr lang="en-US" sz="950" dirty="0"/>
          </a:p>
        </p:txBody>
      </p:sp>
      <p:sp>
        <p:nvSpPr>
          <p:cNvPr id="23" name="bar-173"/>
          <p:cNvSpPr/>
          <p:nvPr/>
        </p:nvSpPr>
        <p:spPr>
          <a:xfrm>
            <a:off x="8839048" y="3282696"/>
            <a:ext cx="1641682" cy="164592"/>
          </a:xfrm>
          <a:prstGeom prst="rect">
            <a:avLst/>
          </a:prstGeom>
          <a:solidFill>
            <a:srgbClr val="B4BFCC">
              <a:alpha val="45000"/>
            </a:srgbClr>
          </a:solidFill>
          <a:ln w="12700">
            <a:solidFill>
              <a:srgbClr val="B4BFCC">
                <a:alpha val="45000"/>
              </a:srgbClr>
            </a:solidFill>
            <a:prstDash val="solid"/>
          </a:ln>
        </p:spPr>
      </p:sp>
      <p:sp>
        <p:nvSpPr>
          <p:cNvPr id="24" name="label-174"/>
          <p:cNvSpPr txBox="1"/>
          <p:nvPr/>
        </p:nvSpPr>
        <p:spPr>
          <a:xfrm>
            <a:off x="10526449" y="3236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81%</a:t>
            </a:r>
            <a:endParaRPr lang="en-US" sz="950" dirty="0"/>
          </a:p>
        </p:txBody>
      </p:sp>
      <p:sp>
        <p:nvSpPr>
          <p:cNvPr id="25" name="label-175"/>
          <p:cNvSpPr txBox="1"/>
          <p:nvPr/>
        </p:nvSpPr>
        <p:spPr>
          <a:xfrm>
            <a:off x="6507328" y="35844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只看靶点：有临床试验登记</a:t>
            </a:r>
            <a:endParaRPr lang="en-US" sz="1050" dirty="0"/>
          </a:p>
        </p:txBody>
      </p:sp>
      <p:sp>
        <p:nvSpPr>
          <p:cNvPr id="26" name="bar-176"/>
          <p:cNvSpPr/>
          <p:nvPr/>
        </p:nvSpPr>
        <p:spPr>
          <a:xfrm>
            <a:off x="8839048" y="3621024"/>
            <a:ext cx="2026768" cy="164592"/>
          </a:xfrm>
          <a:prstGeom prst="rect">
            <a:avLst/>
          </a:prstGeom>
          <a:solidFill>
            <a:srgbClr val="B4BFCC"/>
          </a:solidFill>
          <a:ln w="12700">
            <a:solidFill>
              <a:srgbClr val="B4BFCC"/>
            </a:solidFill>
            <a:prstDash val="solid"/>
          </a:ln>
        </p:spPr>
      </p:sp>
      <p:sp>
        <p:nvSpPr>
          <p:cNvPr id="27" name="label-177"/>
          <p:cNvSpPr txBox="1"/>
          <p:nvPr/>
        </p:nvSpPr>
        <p:spPr>
          <a:xfrm>
            <a:off x="10911535" y="35661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100%</a:t>
            </a:r>
            <a:endParaRPr lang="en-US" sz="950" dirty="0"/>
          </a:p>
        </p:txBody>
      </p:sp>
      <p:sp>
        <p:nvSpPr>
          <p:cNvPr id="28" name="bar-178"/>
          <p:cNvSpPr/>
          <p:nvPr/>
        </p:nvSpPr>
        <p:spPr>
          <a:xfrm>
            <a:off x="8839048" y="3831336"/>
            <a:ext cx="2026768" cy="164592"/>
          </a:xfrm>
          <a:prstGeom prst="rect">
            <a:avLst/>
          </a:prstGeom>
          <a:solidFill>
            <a:srgbClr val="B4BFCC">
              <a:alpha val="45000"/>
            </a:srgbClr>
          </a:solidFill>
          <a:ln w="12700">
            <a:solidFill>
              <a:srgbClr val="B4BFCC">
                <a:alpha val="45000"/>
              </a:srgbClr>
            </a:solidFill>
            <a:prstDash val="solid"/>
          </a:ln>
        </p:spPr>
      </p:sp>
      <p:sp>
        <p:nvSpPr>
          <p:cNvPr id="29" name="label-179"/>
          <p:cNvSpPr txBox="1"/>
          <p:nvPr/>
        </p:nvSpPr>
        <p:spPr>
          <a:xfrm>
            <a:off x="10911535" y="37856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100%</a:t>
            </a:r>
            <a:endParaRPr lang="en-US" sz="950" dirty="0"/>
          </a:p>
        </p:txBody>
      </p:sp>
      <p:sp>
        <p:nvSpPr>
          <p:cNvPr id="30" name="label-180"/>
          <p:cNvSpPr txBox="1"/>
          <p:nvPr/>
        </p:nvSpPr>
        <p:spPr>
          <a:xfrm>
            <a:off x="6507328" y="41330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靶点–疾病：动物模型证据</a:t>
            </a:r>
            <a:endParaRPr lang="en-US" sz="1050" dirty="0"/>
          </a:p>
        </p:txBody>
      </p:sp>
      <p:sp>
        <p:nvSpPr>
          <p:cNvPr id="31" name="bar-181"/>
          <p:cNvSpPr/>
          <p:nvPr/>
        </p:nvSpPr>
        <p:spPr>
          <a:xfrm>
            <a:off x="8839048" y="4169664"/>
            <a:ext cx="770172" cy="164592"/>
          </a:xfrm>
          <a:prstGeom prst="rect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sp>
        <p:nvSpPr>
          <p:cNvPr id="32" name="label-182"/>
          <p:cNvSpPr txBox="1"/>
          <p:nvPr/>
        </p:nvSpPr>
        <p:spPr>
          <a:xfrm>
            <a:off x="9654939" y="41148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38%</a:t>
            </a:r>
            <a:endParaRPr lang="en-US" sz="950" dirty="0"/>
          </a:p>
        </p:txBody>
      </p:sp>
      <p:sp>
        <p:nvSpPr>
          <p:cNvPr id="33" name="bar-183"/>
          <p:cNvSpPr/>
          <p:nvPr/>
        </p:nvSpPr>
        <p:spPr>
          <a:xfrm>
            <a:off x="8839048" y="4379976"/>
            <a:ext cx="344550" cy="164592"/>
          </a:xfrm>
          <a:prstGeom prst="rect">
            <a:avLst/>
          </a:prstGeom>
          <a:solidFill>
            <a:srgbClr val="0E8A7E">
              <a:alpha val="45000"/>
            </a:srgbClr>
          </a:solidFill>
          <a:ln w="12700">
            <a:solidFill>
              <a:srgbClr val="0E8A7E">
                <a:alpha val="45000"/>
              </a:srgbClr>
            </a:solidFill>
            <a:prstDash val="solid"/>
          </a:ln>
        </p:spPr>
      </p:sp>
      <p:sp>
        <p:nvSpPr>
          <p:cNvPr id="34" name="label-184"/>
          <p:cNvSpPr txBox="1"/>
          <p:nvPr/>
        </p:nvSpPr>
        <p:spPr>
          <a:xfrm>
            <a:off x="9229318" y="43342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17%</a:t>
            </a:r>
            <a:endParaRPr lang="en-US" sz="950" dirty="0"/>
          </a:p>
        </p:txBody>
      </p:sp>
      <p:sp>
        <p:nvSpPr>
          <p:cNvPr id="35" name="label-185"/>
          <p:cNvSpPr txBox="1"/>
          <p:nvPr/>
        </p:nvSpPr>
        <p:spPr>
          <a:xfrm>
            <a:off x="6507328" y="4681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靶点–疾病：人类遗传学证据</a:t>
            </a:r>
            <a:endParaRPr lang="en-US" sz="1050" dirty="0"/>
          </a:p>
        </p:txBody>
      </p:sp>
      <p:sp>
        <p:nvSpPr>
          <p:cNvPr id="36" name="bar-186"/>
          <p:cNvSpPr/>
          <p:nvPr/>
        </p:nvSpPr>
        <p:spPr>
          <a:xfrm>
            <a:off x="8839048" y="4718304"/>
            <a:ext cx="709369" cy="164592"/>
          </a:xfrm>
          <a:prstGeom prst="rect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sp>
        <p:nvSpPr>
          <p:cNvPr id="37" name="label-187"/>
          <p:cNvSpPr txBox="1"/>
          <p:nvPr/>
        </p:nvSpPr>
        <p:spPr>
          <a:xfrm>
            <a:off x="9594136" y="4663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35%</a:t>
            </a:r>
            <a:endParaRPr lang="en-US" sz="950" dirty="0"/>
          </a:p>
        </p:txBody>
      </p:sp>
      <p:sp>
        <p:nvSpPr>
          <p:cNvPr id="38" name="bar-188"/>
          <p:cNvSpPr/>
          <p:nvPr/>
        </p:nvSpPr>
        <p:spPr>
          <a:xfrm>
            <a:off x="8839048" y="4928616"/>
            <a:ext cx="344550" cy="164592"/>
          </a:xfrm>
          <a:prstGeom prst="rect">
            <a:avLst/>
          </a:prstGeom>
          <a:solidFill>
            <a:srgbClr val="0E8A7E">
              <a:alpha val="45000"/>
            </a:srgbClr>
          </a:solidFill>
          <a:ln w="12700">
            <a:solidFill>
              <a:srgbClr val="0E8A7E">
                <a:alpha val="45000"/>
              </a:srgbClr>
            </a:solidFill>
            <a:prstDash val="solid"/>
          </a:ln>
        </p:spPr>
      </p:sp>
      <p:sp>
        <p:nvSpPr>
          <p:cNvPr id="39" name="label-189"/>
          <p:cNvSpPr txBox="1"/>
          <p:nvPr/>
        </p:nvSpPr>
        <p:spPr>
          <a:xfrm>
            <a:off x="9229318" y="488289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17%</a:t>
            </a:r>
            <a:endParaRPr lang="en-US" sz="950" dirty="0"/>
          </a:p>
        </p:txBody>
      </p:sp>
      <p:sp>
        <p:nvSpPr>
          <p:cNvPr id="40" name="box-190"/>
          <p:cNvSpPr/>
          <p:nvPr/>
        </p:nvSpPr>
        <p:spPr>
          <a:xfrm>
            <a:off x="6507328" y="5257800"/>
            <a:ext cx="4861408" cy="658368"/>
          </a:xfrm>
          <a:prstGeom prst="roundRect">
            <a:avLst>
              <a:gd name="adj" fmla="val 11111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1016" tIns="1016" rIns="1016" bIns="1016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只看靶点本身分不出有效与否；遗传学与动物模型证据才有区分力，与 Nature 2024 一致（有遗传学支持的药物机制成功率高 2.6 倍）。</a:t>
            </a:r>
            <a:endParaRPr lang="en-US" sz="1050" dirty="0"/>
          </a:p>
        </p:txBody>
      </p:sp>
      <p:sp>
        <p:nvSpPr>
          <p:cNvPr id="41" name="label-191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样本量小：动物模型差异 p = 0.023，遗传学 p = 0.062。数据与脚本已存档，可复现（packages/core/evaluation）。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支撑设计：多智能体协作与本地运行时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 类管“谁来做、谁把关”，C 类管“在哪里跑、用谁的额度”；两者在 2.x 已具备，3.0 继续完善。</a:t>
            </a:r>
            <a:endParaRPr lang="en-US" sz="1500" dirty="0"/>
          </a:p>
        </p:txBody>
      </p:sp>
      <p:sp>
        <p:nvSpPr>
          <p:cNvPr id="4" name="card-192"/>
          <p:cNvSpPr/>
          <p:nvPr/>
        </p:nvSpPr>
        <p:spPr>
          <a:xfrm>
            <a:off x="548640" y="1600200"/>
            <a:ext cx="5410048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g-193"/>
          <p:cNvSpPr/>
          <p:nvPr/>
        </p:nvSpPr>
        <p:spPr>
          <a:xfrm>
            <a:off x="822960" y="18105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6" name="label-194"/>
          <p:cNvSpPr txBox="1"/>
          <p:nvPr/>
        </p:nvSpPr>
        <p:spPr>
          <a:xfrm>
            <a:off x="1371600" y="1810512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多智能体协作：像课题组一样分工</a:t>
            </a:r>
            <a:endParaRPr lang="en-US" sz="1700" dirty="0"/>
          </a:p>
        </p:txBody>
      </p:sp>
      <p:sp>
        <p:nvSpPr>
          <p:cNvPr id="7" name="box-195"/>
          <p:cNvSpPr/>
          <p:nvPr/>
        </p:nvSpPr>
        <p:spPr>
          <a:xfrm>
            <a:off x="822960" y="2514600"/>
            <a:ext cx="811347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研究课题</a:t>
            </a:r>
            <a:endParaRPr lang="en-US" sz="1250" dirty="0"/>
          </a:p>
        </p:txBody>
      </p:sp>
      <p:sp>
        <p:nvSpPr>
          <p:cNvPr id="8" name="arrow-196"/>
          <p:cNvSpPr/>
          <p:nvPr/>
        </p:nvSpPr>
        <p:spPr>
          <a:xfrm>
            <a:off x="1652595" y="2798064"/>
            <a:ext cx="16459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box-197"/>
          <p:cNvSpPr/>
          <p:nvPr/>
        </p:nvSpPr>
        <p:spPr>
          <a:xfrm>
            <a:off x="1835475" y="2514600"/>
            <a:ext cx="811347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队长规划</a:t>
            </a:r>
            <a:endParaRPr lang="en-US" sz="1250" dirty="0"/>
          </a:p>
        </p:txBody>
      </p:sp>
      <p:sp>
        <p:nvSpPr>
          <p:cNvPr id="10" name="arrow-198"/>
          <p:cNvSpPr/>
          <p:nvPr/>
        </p:nvSpPr>
        <p:spPr>
          <a:xfrm>
            <a:off x="2665110" y="2798064"/>
            <a:ext cx="16459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box-199"/>
          <p:cNvSpPr/>
          <p:nvPr/>
        </p:nvSpPr>
        <p:spPr>
          <a:xfrm>
            <a:off x="2847990" y="2514600"/>
            <a:ext cx="811347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成员并行</a:t>
            </a:r>
            <a:endParaRPr lang="en-US" sz="1250" dirty="0"/>
          </a:p>
        </p:txBody>
      </p:sp>
      <p:sp>
        <p:nvSpPr>
          <p:cNvPr id="12" name="arrow-200"/>
          <p:cNvSpPr/>
          <p:nvPr/>
        </p:nvSpPr>
        <p:spPr>
          <a:xfrm>
            <a:off x="3677625" y="2798064"/>
            <a:ext cx="16459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box-201"/>
          <p:cNvSpPr/>
          <p:nvPr/>
        </p:nvSpPr>
        <p:spPr>
          <a:xfrm>
            <a:off x="3860505" y="2514600"/>
            <a:ext cx="811347" cy="566928"/>
          </a:xfrm>
          <a:prstGeom prst="roundRect">
            <a:avLst>
              <a:gd name="adj" fmla="val 12903"/>
            </a:avLst>
          </a:prstGeom>
          <a:solidFill>
            <a:srgbClr val="E3F3F1"/>
          </a:solidFill>
          <a:ln w="12700">
            <a:solidFill>
              <a:srgbClr val="0E8A7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质量门</a:t>
            </a:r>
            <a:endParaRPr lang="en-US" sz="1250" dirty="0"/>
          </a:p>
        </p:txBody>
      </p:sp>
      <p:sp>
        <p:nvSpPr>
          <p:cNvPr id="14" name="arrow-202"/>
          <p:cNvSpPr/>
          <p:nvPr/>
        </p:nvSpPr>
        <p:spPr>
          <a:xfrm>
            <a:off x="4690140" y="2798064"/>
            <a:ext cx="164592" cy="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box-203"/>
          <p:cNvSpPr/>
          <p:nvPr/>
        </p:nvSpPr>
        <p:spPr>
          <a:xfrm>
            <a:off x="4873020" y="2514600"/>
            <a:ext cx="811347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综合报告</a:t>
            </a:r>
            <a:endParaRPr lang="en-US" sz="1250" dirty="0"/>
          </a:p>
        </p:txBody>
      </p:sp>
      <p:sp>
        <p:nvSpPr>
          <p:cNvPr id="16" name="bullets-204"/>
          <p:cNvSpPr txBox="1"/>
          <p:nvPr/>
        </p:nvSpPr>
        <p:spPr>
          <a:xfrm>
            <a:off x="822960" y="3337560"/>
            <a:ext cx="486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队长（PI）把课题拆成有依赖的任务，可要求先审批计划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成员交接时，每条发现都必须附证据编号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质量门：规则检查 + 科研审查员；工具失败不算“阴性结果”</a:t>
            </a:r>
            <a:endParaRPr lang="en-US" sz="1300" dirty="0"/>
          </a:p>
        </p:txBody>
      </p:sp>
      <p:sp>
        <p:nvSpPr>
          <p:cNvPr id="17" name="label-205"/>
          <p:cNvSpPr txBox="1"/>
          <p:nvPr/>
        </p:nvSpPr>
        <p:spPr>
          <a:xfrm>
            <a:off x="822960" y="5349240"/>
            <a:ext cx="1620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26 位</a:t>
            </a:r>
            <a:endParaRPr lang="en-US" sz="2000" dirty="0"/>
          </a:p>
        </p:txBody>
      </p:sp>
      <p:sp>
        <p:nvSpPr>
          <p:cNvPr id="18" name="label-206"/>
          <p:cNvSpPr txBox="1"/>
          <p:nvPr/>
        </p:nvSpPr>
        <p:spPr>
          <a:xfrm>
            <a:off x="822960" y="5742432"/>
            <a:ext cx="1620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领域专家</a:t>
            </a:r>
            <a:endParaRPr lang="en-US" sz="1150" dirty="0"/>
          </a:p>
        </p:txBody>
      </p:sp>
      <p:sp>
        <p:nvSpPr>
          <p:cNvPr id="19" name="label-207"/>
          <p:cNvSpPr txBox="1"/>
          <p:nvPr/>
        </p:nvSpPr>
        <p:spPr>
          <a:xfrm>
            <a:off x="2443429" y="5349240"/>
            <a:ext cx="1620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15 个</a:t>
            </a:r>
            <a:endParaRPr lang="en-US" sz="2000" dirty="0"/>
          </a:p>
        </p:txBody>
      </p:sp>
      <p:sp>
        <p:nvSpPr>
          <p:cNvPr id="20" name="label-208"/>
          <p:cNvSpPr txBox="1"/>
          <p:nvPr/>
        </p:nvSpPr>
        <p:spPr>
          <a:xfrm>
            <a:off x="2443429" y="5742432"/>
            <a:ext cx="1620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团队模板</a:t>
            </a:r>
            <a:endParaRPr lang="en-US" sz="1150" dirty="0"/>
          </a:p>
        </p:txBody>
      </p:sp>
      <p:sp>
        <p:nvSpPr>
          <p:cNvPr id="21" name="label-209"/>
          <p:cNvSpPr txBox="1"/>
          <p:nvPr/>
        </p:nvSpPr>
        <p:spPr>
          <a:xfrm>
            <a:off x="4063898" y="5349240"/>
            <a:ext cx="16204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@</a:t>
            </a:r>
            <a:endParaRPr lang="en-US" sz="2000" dirty="0"/>
          </a:p>
        </p:txBody>
      </p:sp>
      <p:sp>
        <p:nvSpPr>
          <p:cNvPr id="22" name="label-210"/>
          <p:cNvSpPr txBox="1"/>
          <p:nvPr/>
        </p:nvSpPr>
        <p:spPr>
          <a:xfrm>
            <a:off x="4063898" y="5742432"/>
            <a:ext cx="16204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直接点名专家</a:t>
            </a:r>
            <a:endParaRPr lang="en-US" sz="1150" dirty="0"/>
          </a:p>
        </p:txBody>
      </p:sp>
      <p:sp>
        <p:nvSpPr>
          <p:cNvPr id="23" name="card-211"/>
          <p:cNvSpPr/>
          <p:nvPr/>
        </p:nvSpPr>
        <p:spPr>
          <a:xfrm>
            <a:off x="6233008" y="1600200"/>
            <a:ext cx="5410048" cy="45720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ag-212"/>
          <p:cNvSpPr/>
          <p:nvPr/>
        </p:nvSpPr>
        <p:spPr>
          <a:xfrm>
            <a:off x="6507328" y="1810512"/>
            <a:ext cx="411480" cy="41148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25" name="label-213"/>
          <p:cNvSpPr txBox="1"/>
          <p:nvPr/>
        </p:nvSpPr>
        <p:spPr>
          <a:xfrm>
            <a:off x="7055968" y="1810512"/>
            <a:ext cx="431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本地运行时：直接用已有 AI 订阅</a:t>
            </a:r>
            <a:endParaRPr lang="en-US" sz="1700" dirty="0"/>
          </a:p>
        </p:txBody>
      </p:sp>
      <p:sp>
        <p:nvSpPr>
          <p:cNvPr id="26" name="box-214"/>
          <p:cNvSpPr/>
          <p:nvPr/>
        </p:nvSpPr>
        <p:spPr>
          <a:xfrm>
            <a:off x="6507328" y="2697480"/>
            <a:ext cx="1325880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6350">
            <a:solidFill>
              <a:schemeClr val="tx2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研究请求</a:t>
            </a:r>
            <a:endParaRPr lang="en-US" sz="1300" dirty="0"/>
          </a:p>
        </p:txBody>
      </p:sp>
      <p:sp>
        <p:nvSpPr>
          <p:cNvPr id="27" name="arrow-215"/>
          <p:cNvSpPr/>
          <p:nvPr/>
        </p:nvSpPr>
        <p:spPr>
          <a:xfrm>
            <a:off x="7833208" y="2980944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box-216"/>
          <p:cNvSpPr/>
          <p:nvPr/>
        </p:nvSpPr>
        <p:spPr>
          <a:xfrm>
            <a:off x="8107528" y="2697480"/>
            <a:ext cx="1143000" cy="566928"/>
          </a:xfrm>
          <a:prstGeom prst="roundRect">
            <a:avLst>
              <a:gd name="adj" fmla="val 12903"/>
            </a:avLst>
          </a:prstGeom>
          <a:solidFill>
            <a:schemeClr val="accent6"/>
          </a:solidFill>
          <a:ln w="6350">
            <a:solidFill>
              <a:schemeClr val="accent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执行路由</a:t>
            </a:r>
            <a:endParaRPr lang="en-US" sz="1300" dirty="0"/>
          </a:p>
        </p:txBody>
      </p:sp>
      <p:sp>
        <p:nvSpPr>
          <p:cNvPr id="29" name="arrow-217"/>
          <p:cNvSpPr/>
          <p:nvPr/>
        </p:nvSpPr>
        <p:spPr>
          <a:xfrm flipV="1">
            <a:off x="9250528" y="2587752"/>
            <a:ext cx="320040" cy="29260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arrow-218"/>
          <p:cNvSpPr/>
          <p:nvPr/>
        </p:nvSpPr>
        <p:spPr>
          <a:xfrm>
            <a:off x="9250528" y="3081528"/>
            <a:ext cx="320040" cy="30175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box-219"/>
          <p:cNvSpPr/>
          <p:nvPr/>
        </p:nvSpPr>
        <p:spPr>
          <a:xfrm>
            <a:off x="9570568" y="2377440"/>
            <a:ext cx="1798168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rgbClr val="D5DCE4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模型 API · 按调用计费</a:t>
            </a:r>
            <a:endParaRPr lang="en-US" sz="1200" dirty="0"/>
          </a:p>
        </p:txBody>
      </p:sp>
      <p:sp>
        <p:nvSpPr>
          <p:cNvPr id="32" name="box-220"/>
          <p:cNvSpPr/>
          <p:nvPr/>
        </p:nvSpPr>
        <p:spPr>
          <a:xfrm>
            <a:off x="9570568" y="3154680"/>
            <a:ext cx="1798168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本地 CLI · 用已有订阅</a:t>
            </a:r>
            <a:endParaRPr lang="en-US" sz="1200" dirty="0"/>
          </a:p>
        </p:txBody>
      </p:sp>
      <p:sp>
        <p:nvSpPr>
          <p:cNvPr id="33" name="bullets-221"/>
          <p:cNvSpPr txBox="1"/>
          <p:nvPr/>
        </p:nvSpPr>
        <p:spPr>
          <a:xfrm>
            <a:off x="6507328" y="3886200"/>
            <a:ext cx="486140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自动检测本机已登录的 26 种 AI 命令行工具（如 Codex、Claude Code）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每个会话独立配置目录，不混入日常使用记录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执行命令前先征得同意（Codex 全流程支持）；数据留在本机</a:t>
            </a:r>
            <a:endParaRPr lang="en-US" sz="1300" dirty="0"/>
          </a:p>
        </p:txBody>
      </p:sp>
      <p:sp>
        <p:nvSpPr>
          <p:cNvPr id="34" name="label-222"/>
          <p:cNvSpPr txBox="1"/>
          <p:nvPr/>
        </p:nvSpPr>
        <p:spPr>
          <a:xfrm>
            <a:off x="6507328" y="55321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说明：Codex 走完整协议并支持审批；Claude Code 已验证会话隔离；其余工具为通用接入。使用前请确认订阅条款允许此类用法。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使用说明：四步完成一次可追溯的研究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截图来自真实运行的 v3.0 应用。</a:t>
            </a:r>
            <a:endParaRPr lang="en-US" sz="1500" dirty="0"/>
          </a:p>
        </p:txBody>
      </p:sp>
      <p:sp>
        <p:nvSpPr>
          <p:cNvPr id="4" name="label-223"/>
          <p:cNvSpPr txBox="1"/>
          <p:nvPr/>
        </p:nvSpPr>
        <p:spPr>
          <a:xfrm>
            <a:off x="548640" y="148132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① 安装：从 GitHub Releases 下载对应平台安装包；或在源码目录运行 npm run web，用浏览器打开。</a:t>
            </a:r>
            <a:endParaRPr lang="en-US" sz="1300" dirty="0"/>
          </a:p>
        </p:txBody>
      </p:sp>
      <p:sp>
        <p:nvSpPr>
          <p:cNvPr id="5" name="badge-224"/>
          <p:cNvSpPr/>
          <p:nvPr/>
        </p:nvSpPr>
        <p:spPr>
          <a:xfrm>
            <a:off x="548640" y="1901952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" name="label-225"/>
          <p:cNvSpPr txBox="1"/>
          <p:nvPr/>
        </p:nvSpPr>
        <p:spPr>
          <a:xfrm>
            <a:off x="1005840" y="188366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配置运行时</a:t>
            </a:r>
            <a:endParaRPr lang="en-US" sz="1600" dirty="0"/>
          </a:p>
        </p:txBody>
      </p:sp>
      <p:sp>
        <p:nvSpPr>
          <p:cNvPr id="7" name="label-226"/>
          <p:cNvSpPr txBox="1"/>
          <p:nvPr/>
        </p:nvSpPr>
        <p:spPr>
          <a:xfrm>
            <a:off x="548640" y="2304288"/>
            <a:ext cx="3484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安装后打开“运行时（模型配置）”，绑定本机 AI 命令行工具或填写模型 API。</a:t>
            </a:r>
            <a:endParaRPr lang="en-US" sz="1200" dirty="0"/>
          </a:p>
        </p:txBody>
      </p:sp>
      <p:sp>
        <p:nvSpPr>
          <p:cNvPr id="8" name="badge-227"/>
          <p:cNvSpPr/>
          <p:nvPr/>
        </p:nvSpPr>
        <p:spPr>
          <a:xfrm>
            <a:off x="4353458" y="1901952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label-228"/>
          <p:cNvSpPr txBox="1"/>
          <p:nvPr/>
        </p:nvSpPr>
        <p:spPr>
          <a:xfrm>
            <a:off x="4810658" y="188366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提问</a:t>
            </a:r>
            <a:endParaRPr lang="en-US" sz="1600" dirty="0"/>
          </a:p>
        </p:txBody>
      </p:sp>
      <p:sp>
        <p:nvSpPr>
          <p:cNvPr id="10" name="label-229"/>
          <p:cNvSpPr txBox="1"/>
          <p:nvPr/>
        </p:nvSpPr>
        <p:spPr>
          <a:xfrm>
            <a:off x="4353458" y="2304288"/>
            <a:ext cx="3484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直接提问；输入 @ 点名专家，或交给科研小队。</a:t>
            </a:r>
            <a:endParaRPr lang="en-US" sz="1200" dirty="0"/>
          </a:p>
        </p:txBody>
      </p:sp>
      <p:sp>
        <p:nvSpPr>
          <p:cNvPr id="11" name="badge-230"/>
          <p:cNvSpPr/>
          <p:nvPr/>
        </p:nvSpPr>
        <p:spPr>
          <a:xfrm>
            <a:off x="8158277" y="1901952"/>
            <a:ext cx="347472" cy="34747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2" name="label-231"/>
          <p:cNvSpPr txBox="1"/>
          <p:nvPr/>
        </p:nvSpPr>
        <p:spPr>
          <a:xfrm>
            <a:off x="8615477" y="1883664"/>
            <a:ext cx="30275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查看证据</a:t>
            </a:r>
            <a:endParaRPr lang="en-US" sz="1600" dirty="0"/>
          </a:p>
        </p:txBody>
      </p:sp>
      <p:sp>
        <p:nvSpPr>
          <p:cNvPr id="13" name="label-232"/>
          <p:cNvSpPr txBox="1"/>
          <p:nvPr/>
        </p:nvSpPr>
        <p:spPr>
          <a:xfrm>
            <a:off x="8158277" y="2304288"/>
            <a:ext cx="34847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查看每条证据的来源与状态（3.0 证据页）。</a:t>
            </a:r>
            <a:endParaRPr lang="en-US" sz="1200" dirty="0"/>
          </a:p>
        </p:txBody>
      </p:sp>
      <p:pic>
        <p:nvPicPr>
          <p:cNvPr id="14" name="screenshot-233" descr="自动检测到本机的 Claude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854" y="2880360"/>
            <a:ext cx="2726350" cy="2834640"/>
          </a:xfrm>
          <a:prstGeom prst="rect">
            <a:avLst/>
          </a:prstGeom>
        </p:spPr>
      </p:pic>
      <p:sp>
        <p:nvSpPr>
          <p:cNvPr id="15" name="frame-234"/>
          <p:cNvSpPr/>
          <p:nvPr/>
        </p:nvSpPr>
        <p:spPr>
          <a:xfrm>
            <a:off x="927854" y="2880360"/>
            <a:ext cx="2726350" cy="28346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6" name="label-235"/>
          <p:cNvSpPr txBox="1"/>
          <p:nvPr/>
        </p:nvSpPr>
        <p:spPr>
          <a:xfrm>
            <a:off x="927854" y="5788152"/>
            <a:ext cx="2726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自动检测到本机的 Claude Code</a:t>
            </a:r>
            <a:endParaRPr lang="en-US" sz="1100" dirty="0"/>
          </a:p>
        </p:txBody>
      </p:sp>
      <p:pic>
        <p:nvPicPr>
          <p:cNvPr id="17" name="screenshot-236" descr="usage-ask-men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458" y="2880360"/>
            <a:ext cx="3484778" cy="867323"/>
          </a:xfrm>
          <a:prstGeom prst="rect">
            <a:avLst/>
          </a:prstGeom>
        </p:spPr>
      </p:pic>
      <p:sp>
        <p:nvSpPr>
          <p:cNvPr id="18" name="frame-237"/>
          <p:cNvSpPr/>
          <p:nvPr/>
        </p:nvSpPr>
        <p:spPr>
          <a:xfrm>
            <a:off x="4353458" y="2880360"/>
            <a:ext cx="3484778" cy="867323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5DCE4"/>
            </a:solidFill>
            <a:prstDash val="solid"/>
          </a:ln>
        </p:spPr>
      </p:sp>
      <p:pic>
        <p:nvPicPr>
          <p:cNvPr id="19" name="screenshot-238" descr="@ 点名专家；工具调用逐步可查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3931920"/>
            <a:ext cx="3484778" cy="1184825"/>
          </a:xfrm>
          <a:prstGeom prst="rect">
            <a:avLst/>
          </a:prstGeom>
        </p:spPr>
      </p:pic>
      <p:sp>
        <p:nvSpPr>
          <p:cNvPr id="20" name="frame-239"/>
          <p:cNvSpPr/>
          <p:nvPr/>
        </p:nvSpPr>
        <p:spPr>
          <a:xfrm>
            <a:off x="4353458" y="3931920"/>
            <a:ext cx="3484778" cy="1184825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1" name="label-240"/>
          <p:cNvSpPr txBox="1"/>
          <p:nvPr/>
        </p:nvSpPr>
        <p:spPr>
          <a:xfrm>
            <a:off x="4353458" y="5189897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@ 点名专家；工具调用逐步可查</a:t>
            </a:r>
            <a:endParaRPr lang="en-US" sz="1100" dirty="0"/>
          </a:p>
        </p:txBody>
      </p:sp>
      <p:pic>
        <p:nvPicPr>
          <p:cNvPr id="22" name="screenshot-241" descr="3.0 证据页：来源、状态、历史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7" y="2880360"/>
            <a:ext cx="3484778" cy="2462577"/>
          </a:xfrm>
          <a:prstGeom prst="rect">
            <a:avLst/>
          </a:prstGeom>
        </p:spPr>
      </p:pic>
      <p:sp>
        <p:nvSpPr>
          <p:cNvPr id="23" name="frame-242"/>
          <p:cNvSpPr/>
          <p:nvPr/>
        </p:nvSpPr>
        <p:spPr>
          <a:xfrm>
            <a:off x="8158277" y="2880360"/>
            <a:ext cx="3484778" cy="246257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24" name="label-243"/>
          <p:cNvSpPr txBox="1"/>
          <p:nvPr/>
        </p:nvSpPr>
        <p:spPr>
          <a:xfrm>
            <a:off x="8158277" y="5416089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3.0 证据页：来源、状态、历史</a:t>
            </a:r>
            <a:endParaRPr lang="en-US" sz="1100" dirty="0"/>
          </a:p>
        </p:txBody>
      </p:sp>
      <p:sp>
        <p:nvSpPr>
          <p:cNvPr id="25" name="label-244"/>
          <p:cNvSpPr txBox="1"/>
          <p:nvPr/>
        </p:nvSpPr>
        <p:spPr>
          <a:xfrm>
            <a:off x="548640" y="61722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演示环境使用离线示例模型生成文字；文献为 PubMed 实时检索结果。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当前进展与下一步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B、C 两类设计已落地；A 类新方案已完成小规模实测，待接入系统。</a:t>
            </a:r>
            <a:endParaRPr lang="en-US" sz="1500" dirty="0"/>
          </a:p>
        </p:txBody>
      </p:sp>
      <p:sp>
        <p:nvSpPr>
          <p:cNvPr id="4" name="card-245"/>
          <p:cNvSpPr/>
          <p:nvPr/>
        </p:nvSpPr>
        <p:spPr>
          <a:xfrm>
            <a:off x="548640" y="164592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246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label-247"/>
          <p:cNvSpPr txBox="1"/>
          <p:nvPr/>
        </p:nvSpPr>
        <p:spPr>
          <a:xfrm>
            <a:off x="1325880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已完成</a:t>
            </a:r>
            <a:endParaRPr lang="en-US" sz="1800" dirty="0"/>
          </a:p>
        </p:txBody>
      </p:sp>
      <p:sp>
        <p:nvSpPr>
          <p:cNvPr id="7" name="bullets-248"/>
          <p:cNvSpPr txBox="1"/>
          <p:nvPr/>
        </p:nvSpPr>
        <p:spPr>
          <a:xfrm>
            <a:off x="822960" y="2514600"/>
            <a:ext cx="30123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v3.0.0 已发布：三平台安装包和本地 Web 版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多智能体协作、本地运行时已落地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实时状态核验原型已落地，两个真实案例写成自动化测试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实测：40% 的问题存在同源证据</a:t>
            </a:r>
            <a:endParaRPr lang="en-US" sz="1400" dirty="0"/>
          </a:p>
        </p:txBody>
      </p:sp>
      <p:sp>
        <p:nvSpPr>
          <p:cNvPr id="8" name="card-249"/>
          <p:cNvSpPr/>
          <p:nvPr/>
        </p:nvSpPr>
        <p:spPr>
          <a:xfrm>
            <a:off x="4338218" y="164592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50"/>
          <p:cNvSpPr/>
          <p:nvPr/>
        </p:nvSpPr>
        <p:spPr>
          <a:xfrm>
            <a:off x="4612538" y="1874520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label-251"/>
          <p:cNvSpPr txBox="1"/>
          <p:nvPr/>
        </p:nvSpPr>
        <p:spPr>
          <a:xfrm>
            <a:off x="5115458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尚待完成</a:t>
            </a:r>
            <a:endParaRPr lang="en-US" sz="1800" dirty="0"/>
          </a:p>
        </p:txBody>
      </p:sp>
      <p:sp>
        <p:nvSpPr>
          <p:cNvPr id="11" name="bullets-252"/>
          <p:cNvSpPr txBox="1"/>
          <p:nvPr/>
        </p:nvSpPr>
        <p:spPr>
          <a:xfrm>
            <a:off x="4612538" y="2514600"/>
            <a:ext cx="30123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即时溯源与独立证据线定级尚未接入系统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同源识别目前只覆盖试验编号，队列、数据集待扩展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部分本地命令行工具仅为通用接入，待逐一验证</a:t>
            </a:r>
            <a:endParaRPr lang="en-US" sz="1400" dirty="0"/>
          </a:p>
        </p:txBody>
      </p:sp>
      <p:sp>
        <p:nvSpPr>
          <p:cNvPr id="12" name="card-253"/>
          <p:cNvSpPr/>
          <p:nvPr/>
        </p:nvSpPr>
        <p:spPr>
          <a:xfrm>
            <a:off x="8127797" y="1645920"/>
            <a:ext cx="3515258" cy="393192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-254"/>
          <p:cNvSpPr/>
          <p:nvPr/>
        </p:nvSpPr>
        <p:spPr>
          <a:xfrm>
            <a:off x="8402117" y="187452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label-255"/>
          <p:cNvSpPr txBox="1"/>
          <p:nvPr/>
        </p:nvSpPr>
        <p:spPr>
          <a:xfrm>
            <a:off x="8905037" y="187452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下一步 · 需要的支持</a:t>
            </a:r>
            <a:endParaRPr lang="en-US" sz="1800" dirty="0"/>
          </a:p>
        </p:txBody>
      </p:sp>
      <p:sp>
        <p:nvSpPr>
          <p:cNvPr id="15" name="bullets-256"/>
          <p:cNvSpPr txBox="1"/>
          <p:nvPr/>
        </p:nvSpPr>
        <p:spPr>
          <a:xfrm>
            <a:off x="8402117" y="2514600"/>
            <a:ext cx="301233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把即时溯源、独立证据线定级、实时状态核验接入系统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无人工标注的回测：用公开结局比较“引用篇数”与“独立证据线”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扩展同源识别：队列、数据集、预印本、荟萃分析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结果稳定后发布正式版，并整理成论文</a:t>
            </a:r>
            <a:endParaRPr lang="en-US" sz="1400" dirty="0"/>
          </a:p>
        </p:txBody>
      </p:sp>
      <p:sp>
        <p:nvSpPr>
          <p:cNvPr id="16" name="ask-257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label-258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请审阅：是否支持将“独立证据线定级”接入系统并开展回测实验（下一步第 1、2 项）。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Science Report">
  <a:themeElements>
    <a:clrScheme name="MedScience Report">
      <a:dk1>
        <a:srgbClr val="1B2533"/>
      </a:dk1>
      <a:lt1>
        <a:srgbClr val="FFFFFF"/>
      </a:lt1>
      <a:dk2>
        <a:srgbClr val="0F2A44"/>
      </a:dk2>
      <a:lt2>
        <a:srgbClr val="F2F5F8"/>
      </a:lt2>
      <a:accent1>
        <a:srgbClr val="0E8A7E"/>
      </a:accent1>
      <a:accent2>
        <a:srgbClr val="1F5F99"/>
      </a:accent2>
      <a:accent3>
        <a:srgbClr val="C9792A"/>
      </a:accent3>
      <a:accent4>
        <a:srgbClr val="6B4FA0"/>
      </a:accent4>
      <a:accent5>
        <a:srgbClr val="B4233A"/>
      </a:accent5>
      <a:accent6>
        <a:srgbClr val="5B6B7C"/>
      </a:accent6>
      <a:hlink>
        <a:srgbClr val="1F5F99"/>
      </a:hlink>
      <a:folHlink>
        <a:srgbClr val="6B4FA0"/>
      </a:folHlink>
    </a:clrScheme>
    <a:fontScheme name="MedScience Repor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MedScience 3.0 设计汇报</dc:title>
  <dc:subject>可信科研智能体工作站：设计动机、架构与使用说明</dc:subject>
  <dc:creator>MedScience</dc:creator>
  <cp:lastModifiedBy>MedScience</cp:lastModifiedBy>
  <cp:revision>1</cp:revision>
  <dcterms:created xsi:type="dcterms:W3CDTF">2026-10-06T04:55:21Z</dcterms:created>
  <dcterms:modified xsi:type="dcterms:W3CDTF">2026-10-06T04:55:21Z</dcterms:modified>
</cp:coreProperties>
</file>